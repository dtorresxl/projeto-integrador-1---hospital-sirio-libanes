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6858000" cx="12191975"/>
  <p:notesSz cx="6858000" cy="9144000"/>
  <p:embeddedFontLst>
    <p:embeddedFont>
      <p:font typeface="Play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5" roundtripDataSignature="AMtx7mhZi8T+DYu1DHp6E9nfDleUih7e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B417A8-CA94-4935-B481-E1297C01E077}">
  <a:tblStyle styleId="{E3B417A8-CA94-4935-B481-E1297C01E0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483B05C-B98E-4DC0-95B8-918BD39A65E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Play-regular.fnt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font" Target="fonts/Play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8ad20cbe9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8ad20cbe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48a6dba71_1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e48a6dba71_1_6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8ad20cbe9_6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a8ad20cbe9_6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43f80a131_6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43f80a131_6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8ad20cbe9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8ad20cbe9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8ab10bf5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a8ab10bf5b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8ab10bf5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a8ab10bf5b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8ab10bf5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a8ab10bf5b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8ab10bf5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a8ab10bf5b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8ab10bf5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a8ab10bf5b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a8ad20cbe9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a8ad20cbe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a8ad20cbe9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a8ad20cbe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a8ad20cbe9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a8ad20cbe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a8ad20cbe9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a8ad20cbe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a8ad20cbe9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a8ad20cbe9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a8ad20cbe9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a8ad20cbe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8ad20cbe9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a8ad20cbe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a8ad20cbe9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a8ad20cbe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a8ad20cbe9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3a8ad20cbe9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a8ad20cbe9_3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a8ad20cbe9_3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a8ad20cbe9_3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3a8ad20cbe9_3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a8ad20cbe9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3a8ad20cbe9_1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a8ad20cbe9_3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3a8ad20cbe9_3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a8ad20cbe9_1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g3a8ad20cbe9_1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a8ad20cbe9_4_2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g3a8ad20cbe9_4_20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8ad20cbe9_4_2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g3a8ad20cbe9_4_20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a8ad20cbe9_4_2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g3a8ad20cbe9_4_20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e48a6dba71_65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g3e48a6dba71_65_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e48a6dba71_65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g3e48a6dba71_65_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e43f80a131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g3e43f80a131_1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1" Type="http://schemas.openxmlformats.org/officeDocument/2006/relationships/hyperlink" Target="https://hospitalsiriolibanes.org.br/relato-integrado-2025?utm_source=chatgpt.com" TargetMode="External"/><Relationship Id="rId10" Type="http://schemas.openxmlformats.org/officeDocument/2006/relationships/hyperlink" Target="https://hospitalsiriolibanes.org.br/para-empresas/saude-populacional" TargetMode="External"/><Relationship Id="rId13" Type="http://schemas.openxmlformats.org/officeDocument/2006/relationships/hyperlink" Target="https://www.infobip.com/pt/cliente/hospital-alemao-oswaldo-cruz" TargetMode="External"/><Relationship Id="rId12" Type="http://schemas.openxmlformats.org/officeDocument/2006/relationships/hyperlink" Target="https://hospitalsiriolibanes.org.br/relato-integrado-2025?utm_source=chatgpt.com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www.einstein.br/DocumentosAcessoLivre/Einstein_Relatorio_Sustentabilidade_2024_Digital_2.pdf" TargetMode="External"/><Relationship Id="rId4" Type="http://schemas.openxmlformats.org/officeDocument/2006/relationships/hyperlink" Target="https://www.einstein.br/DocumentosAcessoLivre/Einstein_Relatorio_Sustentabilidade_2024_Digital_2.pdf" TargetMode="External"/><Relationship Id="rId9" Type="http://schemas.openxmlformats.org/officeDocument/2006/relationships/hyperlink" Target="https://hospitalsiriolibanes.org.br/para-empresas/saude-populacional" TargetMode="External"/><Relationship Id="rId15" Type="http://schemas.openxmlformats.org/officeDocument/2006/relationships/hyperlink" Target="https://rankings.newsweek.com/worlds-best-hospitals-2026" TargetMode="External"/><Relationship Id="rId14" Type="http://schemas.openxmlformats.org/officeDocument/2006/relationships/hyperlink" Target="https://www.infobip.com/pt/cliente/hospital-alemao-oswaldo-cruz" TargetMode="External"/><Relationship Id="rId17" Type="http://schemas.openxmlformats.org/officeDocument/2006/relationships/image" Target="../media/image4.png"/><Relationship Id="rId16" Type="http://schemas.openxmlformats.org/officeDocument/2006/relationships/hyperlink" Target="https://rankings.newsweek.com/worlds-best-hospitals-2026" TargetMode="External"/><Relationship Id="rId5" Type="http://schemas.openxmlformats.org/officeDocument/2006/relationships/hyperlink" Target="https://hospitalsiriolibanes.org.br/quem-somos" TargetMode="External"/><Relationship Id="rId6" Type="http://schemas.openxmlformats.org/officeDocument/2006/relationships/hyperlink" Target="https://hospitalsiriolibanes.org.br/quem-somos" TargetMode="External"/><Relationship Id="rId18" Type="http://schemas.openxmlformats.org/officeDocument/2006/relationships/image" Target="../media/image2.png"/><Relationship Id="rId7" Type="http://schemas.openxmlformats.org/officeDocument/2006/relationships/hyperlink" Target="https://hospitalsiriolibanes.org.br/especialidades-medicas/sao-paulo/reproducao-assistida" TargetMode="External"/><Relationship Id="rId8" Type="http://schemas.openxmlformats.org/officeDocument/2006/relationships/hyperlink" Target="https://hospitalsiriolibanes.org.br/especialidades-medicas/sao-paulo/reproducao-assisti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9000" cy="164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6693245"/>
            <a:ext cx="12189000" cy="1647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86645" y="677525"/>
            <a:ext cx="27498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PROJETO INTEGRADOR I</a:t>
            </a:r>
            <a:endParaRPr>
              <a:solidFill>
                <a:srgbClr val="1E60A0"/>
              </a:solidFill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86650" y="1070400"/>
            <a:ext cx="62664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Hospital Sírio-Libanês</a:t>
            </a:r>
            <a:endParaRPr sz="2100"/>
          </a:p>
        </p:txBody>
      </p:sp>
      <p:sp>
        <p:nvSpPr>
          <p:cNvPr id="88" name="Google Shape;88;p1"/>
          <p:cNvSpPr txBox="1"/>
          <p:nvPr/>
        </p:nvSpPr>
        <p:spPr>
          <a:xfrm>
            <a:off x="486650" y="2134675"/>
            <a:ext cx="34923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Faculdade de Tecnologia de Votorantim</a:t>
            </a:r>
            <a:br>
              <a:rPr b="0" i="0" lang="en-US" sz="15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Curso de Ciência de Dados para Negócios</a:t>
            </a:r>
            <a:br>
              <a:rPr b="0" i="0" lang="en-US" sz="15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1º semestre/2026</a:t>
            </a:r>
            <a:endParaRPr sz="1600"/>
          </a:p>
        </p:txBody>
      </p:sp>
      <p:sp>
        <p:nvSpPr>
          <p:cNvPr id="89" name="Google Shape;89;p1"/>
          <p:cNvSpPr txBox="1"/>
          <p:nvPr/>
        </p:nvSpPr>
        <p:spPr>
          <a:xfrm>
            <a:off x="486650" y="4269213"/>
            <a:ext cx="2749800" cy="1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Equipe:</a:t>
            </a:r>
            <a:endParaRPr b="0" i="0" sz="13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Daniel Carvalho </a:t>
            </a:r>
            <a:endParaRPr b="0" i="0" sz="13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F2937"/>
                </a:solidFill>
              </a:rPr>
              <a:t>- </a:t>
            </a: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Danilo Willy Moreira Torres</a:t>
            </a:r>
            <a:endParaRPr b="0" i="0" sz="13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F2937"/>
                </a:solidFill>
              </a:rPr>
              <a:t>- </a:t>
            </a: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Douglas Rafael Assis Mendes</a:t>
            </a:r>
            <a:b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- Fabiane Raquel Motter </a:t>
            </a:r>
            <a:endParaRPr sz="1300">
              <a:solidFill>
                <a:srgbClr val="1F29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F2937"/>
                </a:solidFill>
              </a:rPr>
              <a:t>- </a:t>
            </a: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Felipe Duran Maciel</a:t>
            </a:r>
            <a:endParaRPr sz="1300"/>
          </a:p>
        </p:txBody>
      </p:sp>
      <p:pic>
        <p:nvPicPr>
          <p:cNvPr id="90" name="Google Shape;90;p1" title="hospital-sicc81rio-libanecc82s_1.jp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3042" y="2441400"/>
            <a:ext cx="4975257" cy="37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571500" y="428625"/>
            <a:ext cx="57150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Roteiro da apresentação</a:t>
            </a:r>
            <a:endParaRPr b="1" sz="2700">
              <a:solidFill>
                <a:srgbClr val="14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619125" y="1333500"/>
            <a:ext cx="5143500" cy="1143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885825" y="1695450"/>
            <a:ext cx="419100" cy="419100"/>
          </a:xfrm>
          <a:prstGeom prst="ellipse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885825" y="1799359"/>
            <a:ext cx="4191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476375" y="1571625"/>
            <a:ext cx="3810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Conhecendo o negócio</a:t>
            </a:r>
            <a:endParaRPr b="1" sz="1800">
              <a:solidFill>
                <a:srgbClr val="14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476375" y="1905000"/>
            <a:ext cx="3810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contexto, relevância institucional e dados gerais</a:t>
            </a:r>
            <a:endParaRPr b="0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19125" y="2667000"/>
            <a:ext cx="5143500" cy="1143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885825" y="3028950"/>
            <a:ext cx="419100" cy="419100"/>
          </a:xfrm>
          <a:prstGeom prst="ellipse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885825" y="3124200"/>
            <a:ext cx="4191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476375" y="2905125"/>
            <a:ext cx="3810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Identidade organizacional</a:t>
            </a:r>
            <a:endParaRPr b="1" sz="1800">
              <a:solidFill>
                <a:srgbClr val="14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476375" y="3238500"/>
            <a:ext cx="3810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missão, visão, valores e cultura</a:t>
            </a:r>
            <a:endParaRPr b="0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619125" y="4000500"/>
            <a:ext cx="5143500" cy="1143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85825" y="4362450"/>
            <a:ext cx="419100" cy="419100"/>
          </a:xfrm>
          <a:prstGeom prst="ellipse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885825" y="4462250"/>
            <a:ext cx="4191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1476375" y="4238625"/>
            <a:ext cx="3810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Estrutura e ambiente</a:t>
            </a:r>
            <a:endParaRPr b="1" sz="1800">
              <a:solidFill>
                <a:srgbClr val="14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476375" y="4572000"/>
            <a:ext cx="3810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governança, áreas funcionais, micro e macroambiente</a:t>
            </a:r>
            <a:endParaRPr b="0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429375" y="1333500"/>
            <a:ext cx="5143500" cy="1143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6696075" y="1695450"/>
            <a:ext cx="419100" cy="419100"/>
          </a:xfrm>
          <a:prstGeom prst="ellipse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6696075" y="1799359"/>
            <a:ext cx="4191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7286625" y="1571625"/>
            <a:ext cx="3810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Diagnóstico estratégico</a:t>
            </a:r>
            <a:endParaRPr b="1" sz="1800">
              <a:solidFill>
                <a:srgbClr val="14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7286625" y="1905000"/>
            <a:ext cx="3810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concorrentes, pontos fortes, pontos fracos e SWOT</a:t>
            </a:r>
            <a:endParaRPr b="0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6429375" y="2667000"/>
            <a:ext cx="5143500" cy="1143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6696075" y="3028950"/>
            <a:ext cx="419100" cy="419100"/>
          </a:xfrm>
          <a:prstGeom prst="ellipse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6696075" y="3130800"/>
            <a:ext cx="4191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7286625" y="2905125"/>
            <a:ext cx="3810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Plano estratégico</a:t>
            </a:r>
            <a:endParaRPr b="1" sz="1800">
              <a:solidFill>
                <a:srgbClr val="14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7286625" y="3238500"/>
            <a:ext cx="3810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BSC, objetivos, indicadores e 5W2H</a:t>
            </a:r>
            <a:endParaRPr b="0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6429375" y="4000500"/>
            <a:ext cx="5143500" cy="1143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6696075" y="4362450"/>
            <a:ext cx="419100" cy="419100"/>
          </a:xfrm>
          <a:prstGeom prst="ellipse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6696075" y="4462250"/>
            <a:ext cx="4191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7286625" y="4238625"/>
            <a:ext cx="3810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Síntese final</a:t>
            </a:r>
            <a:endParaRPr b="1" sz="1800">
              <a:solidFill>
                <a:srgbClr val="14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7286625" y="4572000"/>
            <a:ext cx="3810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aprendizados e recomendações</a:t>
            </a:r>
            <a:endParaRPr b="0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11430000" y="6477000"/>
            <a:ext cx="2859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11292840" y="64739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536440" y="1343274"/>
            <a:ext cx="3383400" cy="210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36450" y="1500475"/>
            <a:ext cx="73200" cy="17955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701032" y="1480434"/>
            <a:ext cx="31089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Referência assistencial</a:t>
            </a:r>
            <a:endParaRPr sz="2000"/>
          </a:p>
        </p:txBody>
      </p:sp>
      <p:sp>
        <p:nvSpPr>
          <p:cNvPr id="139" name="Google Shape;139;p4"/>
          <p:cNvSpPr txBox="1"/>
          <p:nvPr/>
        </p:nvSpPr>
        <p:spPr>
          <a:xfrm>
            <a:off x="691982" y="1931762"/>
            <a:ext cx="30633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Alta complexidade</a:t>
            </a:r>
            <a:endParaRPr sz="16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Reconhecimento nacional e internacional</a:t>
            </a:r>
            <a:endParaRPr sz="16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Atuação em São Paulo e Brasília</a:t>
            </a:r>
            <a:endParaRPr sz="1600"/>
          </a:p>
        </p:txBody>
      </p:sp>
      <p:sp>
        <p:nvSpPr>
          <p:cNvPr id="140" name="Google Shape;140;p4"/>
          <p:cNvSpPr/>
          <p:nvPr/>
        </p:nvSpPr>
        <p:spPr>
          <a:xfrm>
            <a:off x="4404290" y="2489549"/>
            <a:ext cx="3383400" cy="210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404300" y="2661750"/>
            <a:ext cx="73200" cy="17460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4623831" y="2626709"/>
            <a:ext cx="31089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Compromisso social</a:t>
            </a:r>
            <a:endParaRPr sz="2000"/>
          </a:p>
        </p:txBody>
      </p:sp>
      <p:sp>
        <p:nvSpPr>
          <p:cNvPr id="143" name="Google Shape;143;p4"/>
          <p:cNvSpPr txBox="1"/>
          <p:nvPr/>
        </p:nvSpPr>
        <p:spPr>
          <a:xfrm>
            <a:off x="4568950" y="3078038"/>
            <a:ext cx="3218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Projetos com o SUS via Proadi-SUS</a:t>
            </a:r>
            <a:endParaRPr sz="16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Filantropia e impacto social</a:t>
            </a:r>
            <a:endParaRPr sz="16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Apoio à qualificação da assistência pública</a:t>
            </a:r>
            <a:endParaRPr sz="1600"/>
          </a:p>
        </p:txBody>
      </p:sp>
      <p:sp>
        <p:nvSpPr>
          <p:cNvPr id="144" name="Google Shape;144;p4"/>
          <p:cNvSpPr/>
          <p:nvPr/>
        </p:nvSpPr>
        <p:spPr>
          <a:xfrm>
            <a:off x="8272115" y="4258924"/>
            <a:ext cx="3383400" cy="210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8272125" y="4439550"/>
            <a:ext cx="73200" cy="1697700"/>
          </a:xfrm>
          <a:prstGeom prst="rect">
            <a:avLst/>
          </a:prstGeom>
          <a:solidFill>
            <a:srgbClr val="3EAA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8436706" y="4396084"/>
            <a:ext cx="31089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EAA78"/>
                </a:solidFill>
                <a:latin typeface="Arial"/>
                <a:ea typeface="Arial"/>
                <a:cs typeface="Arial"/>
                <a:sym typeface="Arial"/>
              </a:rPr>
              <a:t>Ecossistema integrado</a:t>
            </a:r>
            <a:endParaRPr sz="2000"/>
          </a:p>
        </p:txBody>
      </p:sp>
      <p:sp>
        <p:nvSpPr>
          <p:cNvPr id="147" name="Google Shape;147;p4"/>
          <p:cNvSpPr txBox="1"/>
          <p:nvPr/>
        </p:nvSpPr>
        <p:spPr>
          <a:xfrm>
            <a:off x="8436706" y="4847412"/>
            <a:ext cx="30633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Assistência, diagnóstico e saúde populacional</a:t>
            </a:r>
            <a:endParaRPr sz="16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Ensino e pesquisa</a:t>
            </a:r>
            <a:endParaRPr sz="16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Inovação e tecnologia</a:t>
            </a:r>
            <a:endParaRPr sz="1600"/>
          </a:p>
        </p:txBody>
      </p:sp>
      <p:sp>
        <p:nvSpPr>
          <p:cNvPr id="148" name="Google Shape;148;p4"/>
          <p:cNvSpPr txBox="1"/>
          <p:nvPr/>
        </p:nvSpPr>
        <p:spPr>
          <a:xfrm>
            <a:off x="609650" y="326300"/>
            <a:ext cx="733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</a:rPr>
              <a:t>Hospital Sírio-Libanês</a:t>
            </a:r>
            <a:endParaRPr/>
          </a:p>
        </p:txBody>
      </p:sp>
      <p:pic>
        <p:nvPicPr>
          <p:cNvPr id="149" name="Google Shape;149;p4" title="sirio_libanes-removebg-preview.png"/>
          <p:cNvPicPr preferRelativeResize="0"/>
          <p:nvPr/>
        </p:nvPicPr>
        <p:blipFill rotWithShape="1">
          <a:blip r:embed="rId3">
            <a:alphaModFix/>
          </a:blip>
          <a:srcRect b="37940" l="36984" r="38151" t="24290"/>
          <a:stretch/>
        </p:blipFill>
        <p:spPr>
          <a:xfrm>
            <a:off x="4623825" y="275175"/>
            <a:ext cx="728675" cy="70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750" y="4959113"/>
            <a:ext cx="4451587" cy="169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11292840" y="64739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516638" y="1392112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608077" y="1757936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251A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2900">
              <a:solidFill>
                <a:srgbClr val="013E8E"/>
              </a:solidFill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626365" y="2689124"/>
            <a:ext cx="2295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937"/>
                </a:solidFill>
              </a:rPr>
              <a:t>U</a:t>
            </a: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nidades de saúde</a:t>
            </a:r>
            <a:endParaRPr sz="2000"/>
          </a:p>
        </p:txBody>
      </p:sp>
      <p:sp>
        <p:nvSpPr>
          <p:cNvPr id="162" name="Google Shape;162;p5"/>
          <p:cNvSpPr/>
          <p:nvPr/>
        </p:nvSpPr>
        <p:spPr>
          <a:xfrm>
            <a:off x="3396996" y="1392112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3488436" y="1757936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3A4EF"/>
                </a:solidFill>
                <a:latin typeface="Arial"/>
                <a:ea typeface="Arial"/>
                <a:cs typeface="Arial"/>
                <a:sym typeface="Arial"/>
              </a:rPr>
              <a:t>586</a:t>
            </a:r>
            <a:endParaRPr sz="4000">
              <a:solidFill>
                <a:srgbClr val="03A4EF"/>
              </a:solidFill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3506723" y="2689124"/>
            <a:ext cx="2295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937"/>
                </a:solidFill>
              </a:rPr>
              <a:t>L</a:t>
            </a: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eitos próprios</a:t>
            </a:r>
            <a:endParaRPr sz="2000"/>
          </a:p>
        </p:txBody>
      </p:sp>
      <p:sp>
        <p:nvSpPr>
          <p:cNvPr id="165" name="Google Shape;165;p5"/>
          <p:cNvSpPr/>
          <p:nvPr/>
        </p:nvSpPr>
        <p:spPr>
          <a:xfrm>
            <a:off x="6277354" y="1392112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6368793" y="1757936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13E8E"/>
                </a:solidFill>
              </a:rPr>
              <a:t>34</a:t>
            </a:r>
            <a:endParaRPr b="1" sz="4000">
              <a:solidFill>
                <a:srgbClr val="013E8E"/>
              </a:solidFill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6387082" y="2689124"/>
            <a:ext cx="2295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937"/>
                </a:solidFill>
              </a:rPr>
              <a:t>S</a:t>
            </a: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alas de cirurgia</a:t>
            </a:r>
            <a:endParaRPr sz="2000"/>
          </a:p>
        </p:txBody>
      </p:sp>
      <p:sp>
        <p:nvSpPr>
          <p:cNvPr id="168" name="Google Shape;168;p5"/>
          <p:cNvSpPr/>
          <p:nvPr/>
        </p:nvSpPr>
        <p:spPr>
          <a:xfrm>
            <a:off x="9157713" y="1392112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9249152" y="1757936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10.154</a:t>
            </a:r>
            <a:endParaRPr sz="4000"/>
          </a:p>
        </p:txBody>
      </p:sp>
      <p:sp>
        <p:nvSpPr>
          <p:cNvPr id="170" name="Google Shape;170;p5"/>
          <p:cNvSpPr txBox="1"/>
          <p:nvPr/>
        </p:nvSpPr>
        <p:spPr>
          <a:xfrm>
            <a:off x="9267440" y="2689124"/>
            <a:ext cx="2295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937"/>
                </a:solidFill>
              </a:rPr>
              <a:t>C</a:t>
            </a: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olaboradores</a:t>
            </a:r>
            <a:endParaRPr sz="2000"/>
          </a:p>
        </p:txBody>
      </p:sp>
      <p:sp>
        <p:nvSpPr>
          <p:cNvPr id="171" name="Google Shape;171;p5"/>
          <p:cNvSpPr/>
          <p:nvPr/>
        </p:nvSpPr>
        <p:spPr>
          <a:xfrm>
            <a:off x="516638" y="3969508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608077" y="4335332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5.300</a:t>
            </a:r>
            <a:endParaRPr sz="4000"/>
          </a:p>
        </p:txBody>
      </p:sp>
      <p:sp>
        <p:nvSpPr>
          <p:cNvPr id="173" name="Google Shape;173;p5"/>
          <p:cNvSpPr txBox="1"/>
          <p:nvPr/>
        </p:nvSpPr>
        <p:spPr>
          <a:xfrm>
            <a:off x="626525" y="5112625"/>
            <a:ext cx="229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937"/>
                </a:solidFill>
              </a:rPr>
              <a:t>M</a:t>
            </a: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édicos no corpo clínico</a:t>
            </a:r>
            <a:endParaRPr sz="2000"/>
          </a:p>
        </p:txBody>
      </p:sp>
      <p:sp>
        <p:nvSpPr>
          <p:cNvPr id="174" name="Google Shape;174;p5"/>
          <p:cNvSpPr/>
          <p:nvPr/>
        </p:nvSpPr>
        <p:spPr>
          <a:xfrm>
            <a:off x="3396996" y="3969508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3488436" y="4335332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38.684</a:t>
            </a:r>
            <a:endParaRPr sz="4000"/>
          </a:p>
        </p:txBody>
      </p:sp>
      <p:sp>
        <p:nvSpPr>
          <p:cNvPr id="176" name="Google Shape;176;p5"/>
          <p:cNvSpPr txBox="1"/>
          <p:nvPr/>
        </p:nvSpPr>
        <p:spPr>
          <a:xfrm>
            <a:off x="3506798" y="5112620"/>
            <a:ext cx="229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937"/>
                </a:solidFill>
              </a:rPr>
              <a:t>I</a:t>
            </a: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nternações em 2025</a:t>
            </a:r>
            <a:endParaRPr sz="2000"/>
          </a:p>
        </p:txBody>
      </p:sp>
      <p:sp>
        <p:nvSpPr>
          <p:cNvPr id="177" name="Google Shape;177;p5"/>
          <p:cNvSpPr/>
          <p:nvPr/>
        </p:nvSpPr>
        <p:spPr>
          <a:xfrm>
            <a:off x="6277354" y="3969508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6368793" y="4335332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76 mil</a:t>
            </a:r>
            <a:endParaRPr sz="4000"/>
          </a:p>
        </p:txBody>
      </p:sp>
      <p:sp>
        <p:nvSpPr>
          <p:cNvPr id="179" name="Google Shape;179;p5"/>
          <p:cNvSpPr txBox="1"/>
          <p:nvPr/>
        </p:nvSpPr>
        <p:spPr>
          <a:xfrm>
            <a:off x="6387157" y="5153495"/>
            <a:ext cx="2295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937"/>
                </a:solidFill>
              </a:rPr>
              <a:t>C</a:t>
            </a: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irurgias</a:t>
            </a:r>
            <a:endParaRPr sz="2000"/>
          </a:p>
        </p:txBody>
      </p:sp>
      <p:sp>
        <p:nvSpPr>
          <p:cNvPr id="180" name="Google Shape;180;p5"/>
          <p:cNvSpPr/>
          <p:nvPr/>
        </p:nvSpPr>
        <p:spPr>
          <a:xfrm>
            <a:off x="9157713" y="3969508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9249152" y="4335332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180.188</a:t>
            </a:r>
            <a:endParaRPr sz="4000"/>
          </a:p>
        </p:txBody>
      </p:sp>
      <p:sp>
        <p:nvSpPr>
          <p:cNvPr id="182" name="Google Shape;182;p5"/>
          <p:cNvSpPr txBox="1"/>
          <p:nvPr/>
        </p:nvSpPr>
        <p:spPr>
          <a:xfrm>
            <a:off x="9267490" y="5153495"/>
            <a:ext cx="2295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937"/>
                </a:solidFill>
              </a:rPr>
              <a:t>P</a:t>
            </a: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acientes-dia</a:t>
            </a:r>
            <a:endParaRPr sz="2000"/>
          </a:p>
        </p:txBody>
      </p:sp>
      <p:sp>
        <p:nvSpPr>
          <p:cNvPr id="183" name="Google Shape;183;p5"/>
          <p:cNvSpPr txBox="1"/>
          <p:nvPr/>
        </p:nvSpPr>
        <p:spPr>
          <a:xfrm>
            <a:off x="609650" y="326300"/>
            <a:ext cx="733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</a:rPr>
              <a:t>Hospital Sírio-Libanês</a:t>
            </a:r>
            <a:endParaRPr/>
          </a:p>
        </p:txBody>
      </p:sp>
      <p:pic>
        <p:nvPicPr>
          <p:cNvPr id="184" name="Google Shape;184;p5" title="sirio_libanes-removebg-preview.png"/>
          <p:cNvPicPr preferRelativeResize="0"/>
          <p:nvPr/>
        </p:nvPicPr>
        <p:blipFill rotWithShape="1">
          <a:blip r:embed="rId3">
            <a:alphaModFix/>
          </a:blip>
          <a:srcRect b="37940" l="36984" r="38151" t="24290"/>
          <a:stretch/>
        </p:blipFill>
        <p:spPr>
          <a:xfrm>
            <a:off x="4623825" y="275175"/>
            <a:ext cx="728675" cy="70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8ad20cbe9_2_0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g3a8ad20cbe9_2_0" title="ChatGPT Image 25 de mai. de 2026, 15_52_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35387"/>
            <a:ext cx="11887176" cy="3964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a8ad20cbe9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a8ad20cbe9_2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a8ad20cbe9_2_0"/>
          <p:cNvSpPr txBox="1"/>
          <p:nvPr/>
        </p:nvSpPr>
        <p:spPr>
          <a:xfrm>
            <a:off x="609650" y="326300"/>
            <a:ext cx="733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</a:rPr>
              <a:t>Hospital Sírio-Libanês</a:t>
            </a:r>
            <a:endParaRPr/>
          </a:p>
        </p:txBody>
      </p:sp>
      <p:pic>
        <p:nvPicPr>
          <p:cNvPr id="196" name="Google Shape;196;g3a8ad20cbe9_2_0" title="sirio_libanes-removebg-preview.png"/>
          <p:cNvPicPr preferRelativeResize="0"/>
          <p:nvPr/>
        </p:nvPicPr>
        <p:blipFill rotWithShape="1">
          <a:blip r:embed="rId6">
            <a:alphaModFix/>
          </a:blip>
          <a:srcRect b="37940" l="36984" r="38151" t="24290"/>
          <a:stretch/>
        </p:blipFill>
        <p:spPr>
          <a:xfrm>
            <a:off x="4623825" y="275175"/>
            <a:ext cx="728675" cy="70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594360" y="347472"/>
            <a:ext cx="8778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11292840" y="64739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822950" y="1508750"/>
            <a:ext cx="3429000" cy="3514500"/>
          </a:xfrm>
          <a:prstGeom prst="roundRect">
            <a:avLst>
              <a:gd fmla="val 16667" name="adj"/>
            </a:avLst>
          </a:prstGeom>
          <a:solidFill>
            <a:srgbClr val="EBF5FF"/>
          </a:solidFill>
          <a:ln cap="flat" cmpd="sng" w="10150">
            <a:solidFill>
              <a:srgbClr val="EBF5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987542" y="1710717"/>
            <a:ext cx="3154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3A4EF"/>
                </a:solidFill>
                <a:latin typeface="Arial"/>
                <a:ea typeface="Arial"/>
                <a:cs typeface="Arial"/>
                <a:sym typeface="Arial"/>
              </a:rPr>
              <a:t>Missão</a:t>
            </a:r>
            <a:endParaRPr sz="3300">
              <a:solidFill>
                <a:srgbClr val="03A4EF"/>
              </a:solidFill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987540" y="2649223"/>
            <a:ext cx="2679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Vida plena e digna</a:t>
            </a:r>
            <a:endParaRPr sz="2000"/>
          </a:p>
        </p:txBody>
      </p:sp>
      <p:sp>
        <p:nvSpPr>
          <p:cNvPr id="207" name="Google Shape;207;p7"/>
          <p:cNvSpPr/>
          <p:nvPr/>
        </p:nvSpPr>
        <p:spPr>
          <a:xfrm>
            <a:off x="4389125" y="1508750"/>
            <a:ext cx="3429000" cy="3514500"/>
          </a:xfrm>
          <a:prstGeom prst="roundRect">
            <a:avLst>
              <a:gd fmla="val 16667" name="adj"/>
            </a:avLst>
          </a:prstGeom>
          <a:solidFill>
            <a:srgbClr val="DCE8EE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377675" y="2283277"/>
            <a:ext cx="73200" cy="22851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4553698" y="1645925"/>
            <a:ext cx="11499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Visão</a:t>
            </a:r>
            <a:endParaRPr sz="2600"/>
          </a:p>
        </p:txBody>
      </p:sp>
      <p:sp>
        <p:nvSpPr>
          <p:cNvPr id="210" name="Google Shape;210;p7"/>
          <p:cNvSpPr txBox="1"/>
          <p:nvPr/>
        </p:nvSpPr>
        <p:spPr>
          <a:xfrm>
            <a:off x="4576624" y="2283275"/>
            <a:ext cx="32643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Excelência em filantropia e saúde de alta complexidade na América Latina</a:t>
            </a:r>
            <a:endParaRPr sz="2000"/>
          </a:p>
        </p:txBody>
      </p:sp>
      <p:sp>
        <p:nvSpPr>
          <p:cNvPr id="211" name="Google Shape;211;p7"/>
          <p:cNvSpPr/>
          <p:nvPr/>
        </p:nvSpPr>
        <p:spPr>
          <a:xfrm>
            <a:off x="7955275" y="1508750"/>
            <a:ext cx="3429000" cy="3514500"/>
          </a:xfrm>
          <a:prstGeom prst="roundRect">
            <a:avLst>
              <a:gd fmla="val 16667" name="adj"/>
            </a:avLst>
          </a:prstGeom>
          <a:solidFill>
            <a:srgbClr val="C8D7DC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8119871" y="1645919"/>
            <a:ext cx="3154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8115321" y="2283280"/>
            <a:ext cx="31089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</a:t>
            </a:r>
            <a:r>
              <a:rPr lang="en-US" sz="2000">
                <a:solidFill>
                  <a:srgbClr val="1F2937"/>
                </a:solidFill>
              </a:rPr>
              <a:t>R:</a:t>
            </a:r>
            <a:b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Solidariedade</a:t>
            </a:r>
            <a:b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Excelência</a:t>
            </a:r>
            <a:b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sz="1700"/>
          </a:p>
        </p:txBody>
      </p:sp>
      <p:sp>
        <p:nvSpPr>
          <p:cNvPr id="214" name="Google Shape;214;p7"/>
          <p:cNvSpPr txBox="1"/>
          <p:nvPr/>
        </p:nvSpPr>
        <p:spPr>
          <a:xfrm>
            <a:off x="868680" y="5394960"/>
            <a:ext cx="10241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</a:rPr>
              <a:t>Missão, Visão e Valores</a:t>
            </a: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800075" y="2283277"/>
            <a:ext cx="73200" cy="2285100"/>
          </a:xfrm>
          <a:prstGeom prst="rect">
            <a:avLst/>
          </a:prstGeom>
          <a:solidFill>
            <a:srgbClr val="03A4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941525" y="2283300"/>
            <a:ext cx="73200" cy="22851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291975" y="241688"/>
            <a:ext cx="9006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Ecossistema de saúde Sírio-Libanês</a:t>
            </a:r>
            <a:endParaRPr sz="2700"/>
          </a:p>
        </p:txBody>
      </p:sp>
      <p:grpSp>
        <p:nvGrpSpPr>
          <p:cNvPr id="226" name="Google Shape;226;p8"/>
          <p:cNvGrpSpPr/>
          <p:nvPr/>
        </p:nvGrpSpPr>
        <p:grpSpPr>
          <a:xfrm>
            <a:off x="494775" y="772563"/>
            <a:ext cx="11342288" cy="5859112"/>
            <a:chOff x="526850" y="826063"/>
            <a:chExt cx="11342288" cy="5859112"/>
          </a:xfrm>
        </p:grpSpPr>
        <p:pic>
          <p:nvPicPr>
            <p:cNvPr id="227" name="Google Shape;227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6850" y="826063"/>
              <a:ext cx="11342288" cy="58591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8"/>
            <p:cNvSpPr/>
            <p:nvPr/>
          </p:nvSpPr>
          <p:spPr>
            <a:xfrm>
              <a:off x="615525" y="4879375"/>
              <a:ext cx="3081300" cy="1733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9" name="Google Shape;22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48a6dba71_1_675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e48a6dba71_1_675"/>
          <p:cNvSpPr txBox="1"/>
          <p:nvPr/>
        </p:nvSpPr>
        <p:spPr>
          <a:xfrm>
            <a:off x="291975" y="241688"/>
            <a:ext cx="9006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</a:rPr>
              <a:t>Estrutura de </a:t>
            </a:r>
            <a:r>
              <a:rPr b="1" lang="en-US" sz="2700">
                <a:solidFill>
                  <a:srgbClr val="142C4A"/>
                </a:solidFill>
              </a:rPr>
              <a:t>governança</a:t>
            </a:r>
            <a:endParaRPr sz="2700"/>
          </a:p>
        </p:txBody>
      </p:sp>
      <p:pic>
        <p:nvPicPr>
          <p:cNvPr id="237" name="Google Shape;237;g3e48a6dba71_1_6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46503"/>
            <a:ext cx="11697850" cy="564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e48a6dba71_1_6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e48a6dba71_1_6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>
            <a:off x="594350" y="347475"/>
            <a:ext cx="5560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Concorrentes diretos</a:t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943425" y="1371600"/>
            <a:ext cx="3429000" cy="3501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943425" y="1668300"/>
            <a:ext cx="73200" cy="28464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1108027" y="1508750"/>
            <a:ext cx="2097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Albert Einstein</a:t>
            </a:r>
            <a:endParaRPr sz="2000"/>
          </a:p>
        </p:txBody>
      </p:sp>
      <p:sp>
        <p:nvSpPr>
          <p:cNvPr id="249" name="Google Shape;249;p10"/>
          <p:cNvSpPr txBox="1"/>
          <p:nvPr/>
        </p:nvSpPr>
        <p:spPr>
          <a:xfrm>
            <a:off x="1103467" y="2103538"/>
            <a:ext cx="31089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Referência internacional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Marca fortemente associada à inovação, saúde digital e tecnologia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Principal concorrente direto em excelência e reputação</a:t>
            </a:r>
            <a:endParaRPr sz="1800"/>
          </a:p>
        </p:txBody>
      </p:sp>
      <p:sp>
        <p:nvSpPr>
          <p:cNvPr id="250" name="Google Shape;250;p10"/>
          <p:cNvSpPr/>
          <p:nvPr/>
        </p:nvSpPr>
        <p:spPr>
          <a:xfrm>
            <a:off x="6869975" y="1371600"/>
            <a:ext cx="3429000" cy="3501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869975" y="1729050"/>
            <a:ext cx="73200" cy="2785800"/>
          </a:xfrm>
          <a:prstGeom prst="rect">
            <a:avLst/>
          </a:prstGeom>
          <a:solidFill>
            <a:srgbClr val="03A4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7034577" y="1508760"/>
            <a:ext cx="3154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3A4EF"/>
                </a:solidFill>
                <a:latin typeface="Arial"/>
                <a:ea typeface="Arial"/>
                <a:cs typeface="Arial"/>
                <a:sym typeface="Arial"/>
              </a:rPr>
              <a:t>Hospital Oswaldo Cruz</a:t>
            </a:r>
            <a:endParaRPr sz="2000">
              <a:solidFill>
                <a:srgbClr val="03A4EF"/>
              </a:solidFill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7030015" y="2103538"/>
            <a:ext cx="3108900" cy="2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Instituição filantrópica tradicional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Ênfase em experiência, automação e eficiência operacional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Concorrente relevante em alta complexidade</a:t>
            </a:r>
            <a:endParaRPr sz="1800"/>
          </a:p>
        </p:txBody>
      </p:sp>
      <p:pic>
        <p:nvPicPr>
          <p:cNvPr id="254" name="Google Shape;25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594360" y="34747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Critérios competitivos</a:t>
            </a:r>
            <a:endParaRPr/>
          </a:p>
        </p:txBody>
      </p:sp>
      <p:sp>
        <p:nvSpPr>
          <p:cNvPr id="262" name="Google Shape;262;p11"/>
          <p:cNvSpPr txBox="1"/>
          <p:nvPr/>
        </p:nvSpPr>
        <p:spPr>
          <a:xfrm>
            <a:off x="594342" y="931361"/>
            <a:ext cx="95097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Classificação comparativa dos principais atributos de mercado</a:t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10076688" y="448056"/>
            <a:ext cx="15544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6F69"/>
                </a:solidFill>
                <a:latin typeface="Arial"/>
                <a:ea typeface="Arial"/>
                <a:cs typeface="Arial"/>
                <a:sym typeface="Arial"/>
              </a:rPr>
              <a:t>BENCHMARK</a:t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11292840" y="64739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0" y="0"/>
            <a:ext cx="12192000" cy="141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11" title="imagem_melhorada_para_apresentaca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313" y="1304931"/>
            <a:ext cx="9839375" cy="541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8ad20cbe9_6_16"/>
          <p:cNvSpPr/>
          <p:nvPr/>
        </p:nvSpPr>
        <p:spPr>
          <a:xfrm>
            <a:off x="1063250" y="1134150"/>
            <a:ext cx="2498700" cy="22950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Estrela</a:t>
            </a:r>
            <a:endParaRPr sz="1800"/>
          </a:p>
        </p:txBody>
      </p:sp>
      <p:sp>
        <p:nvSpPr>
          <p:cNvPr id="274" name="Google Shape;274;g3a8ad20cbe9_6_16"/>
          <p:cNvSpPr/>
          <p:nvPr/>
        </p:nvSpPr>
        <p:spPr>
          <a:xfrm>
            <a:off x="3564700" y="1134150"/>
            <a:ext cx="2498700" cy="2295000"/>
          </a:xfrm>
          <a:prstGeom prst="rect">
            <a:avLst/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Vaca leiteira</a:t>
            </a:r>
            <a:endParaRPr sz="1800"/>
          </a:p>
        </p:txBody>
      </p:sp>
      <p:sp>
        <p:nvSpPr>
          <p:cNvPr id="275" name="Google Shape;275;g3a8ad20cbe9_6_16"/>
          <p:cNvSpPr/>
          <p:nvPr/>
        </p:nvSpPr>
        <p:spPr>
          <a:xfrm>
            <a:off x="1063250" y="3429000"/>
            <a:ext cx="2498700" cy="22950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Interrogação</a:t>
            </a:r>
            <a:endParaRPr sz="1800"/>
          </a:p>
        </p:txBody>
      </p:sp>
      <p:sp>
        <p:nvSpPr>
          <p:cNvPr id="276" name="Google Shape;276;g3a8ad20cbe9_6_16"/>
          <p:cNvSpPr/>
          <p:nvPr/>
        </p:nvSpPr>
        <p:spPr>
          <a:xfrm>
            <a:off x="3564700" y="3429000"/>
            <a:ext cx="2498700" cy="22950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Abacaxi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a8ad20cbe9_6_16"/>
          <p:cNvSpPr/>
          <p:nvPr/>
        </p:nvSpPr>
        <p:spPr>
          <a:xfrm>
            <a:off x="0" y="0"/>
            <a:ext cx="12192000" cy="141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g3a8ad20cbe9_6_16"/>
          <p:cNvCxnSpPr/>
          <p:nvPr/>
        </p:nvCxnSpPr>
        <p:spPr>
          <a:xfrm rot="10800000">
            <a:off x="886075" y="1104425"/>
            <a:ext cx="17700" cy="4584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g3a8ad20cbe9_6_16"/>
          <p:cNvCxnSpPr/>
          <p:nvPr/>
        </p:nvCxnSpPr>
        <p:spPr>
          <a:xfrm flipH="1" rot="10800000">
            <a:off x="1063250" y="5847925"/>
            <a:ext cx="4997400" cy="177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" name="Google Shape;280;g3a8ad20cbe9_6_16"/>
          <p:cNvSpPr/>
          <p:nvPr/>
        </p:nvSpPr>
        <p:spPr>
          <a:xfrm>
            <a:off x="7425050" y="2210850"/>
            <a:ext cx="478500" cy="14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a8ad20cbe9_6_16"/>
          <p:cNvSpPr/>
          <p:nvPr/>
        </p:nvSpPr>
        <p:spPr>
          <a:xfrm>
            <a:off x="7495950" y="4421700"/>
            <a:ext cx="478500" cy="14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a8ad20cbe9_6_16"/>
          <p:cNvSpPr txBox="1"/>
          <p:nvPr/>
        </p:nvSpPr>
        <p:spPr>
          <a:xfrm>
            <a:off x="8222500" y="1847550"/>
            <a:ext cx="34203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Participação Relativa de Mercado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3" name="Google Shape;283;g3a8ad20cbe9_6_16"/>
          <p:cNvSpPr txBox="1"/>
          <p:nvPr/>
        </p:nvSpPr>
        <p:spPr>
          <a:xfrm>
            <a:off x="8222500" y="4058400"/>
            <a:ext cx="34203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Taxa de Crescimento de mercado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84" name="Google Shape;284;g3a8ad20cbe9_6_16"/>
          <p:cNvSpPr txBox="1"/>
          <p:nvPr/>
        </p:nvSpPr>
        <p:spPr>
          <a:xfrm>
            <a:off x="594350" y="347475"/>
            <a:ext cx="5560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</a:rPr>
              <a:t>Matriz BCG</a:t>
            </a:r>
            <a:endParaRPr/>
          </a:p>
        </p:txBody>
      </p:sp>
      <p:pic>
        <p:nvPicPr>
          <p:cNvPr id="285" name="Google Shape;285;g3a8ad20cbe9_6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3a8ad20cbe9_6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43f80a131_6_29"/>
          <p:cNvSpPr/>
          <p:nvPr/>
        </p:nvSpPr>
        <p:spPr>
          <a:xfrm>
            <a:off x="2137100" y="1894225"/>
            <a:ext cx="3657600" cy="1976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Faculdade Sírio Libanês</a:t>
            </a:r>
            <a:endParaRPr sz="2000"/>
          </a:p>
        </p:txBody>
      </p:sp>
      <p:sp>
        <p:nvSpPr>
          <p:cNvPr id="292" name="Google Shape;292;g3e43f80a131_6_29"/>
          <p:cNvSpPr/>
          <p:nvPr/>
        </p:nvSpPr>
        <p:spPr>
          <a:xfrm>
            <a:off x="6323600" y="1894225"/>
            <a:ext cx="3657600" cy="1976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Oncologia</a:t>
            </a:r>
            <a:endParaRPr sz="2000"/>
          </a:p>
        </p:txBody>
      </p:sp>
      <p:sp>
        <p:nvSpPr>
          <p:cNvPr id="293" name="Google Shape;293;g3e43f80a131_6_29"/>
          <p:cNvSpPr txBox="1"/>
          <p:nvPr/>
        </p:nvSpPr>
        <p:spPr>
          <a:xfrm>
            <a:off x="6673200" y="1338425"/>
            <a:ext cx="30480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Estrela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294" name="Google Shape;294;g3e43f80a131_6_29"/>
          <p:cNvSpPr txBox="1"/>
          <p:nvPr/>
        </p:nvSpPr>
        <p:spPr>
          <a:xfrm>
            <a:off x="2441900" y="1338425"/>
            <a:ext cx="30480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Interrogação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295" name="Google Shape;295;g3e43f80a131_6_29"/>
          <p:cNvSpPr/>
          <p:nvPr/>
        </p:nvSpPr>
        <p:spPr>
          <a:xfrm>
            <a:off x="2047700" y="1894225"/>
            <a:ext cx="89400" cy="1976700"/>
          </a:xfrm>
          <a:prstGeom prst="rect">
            <a:avLst/>
          </a:prstGeom>
          <a:solidFill>
            <a:srgbClr val="15868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e43f80a131_6_29"/>
          <p:cNvSpPr/>
          <p:nvPr/>
        </p:nvSpPr>
        <p:spPr>
          <a:xfrm>
            <a:off x="6278650" y="1894225"/>
            <a:ext cx="89400" cy="1976700"/>
          </a:xfrm>
          <a:prstGeom prst="rect">
            <a:avLst/>
          </a:prstGeom>
          <a:solidFill>
            <a:srgbClr val="062F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e43f80a131_6_29"/>
          <p:cNvSpPr/>
          <p:nvPr/>
        </p:nvSpPr>
        <p:spPr>
          <a:xfrm>
            <a:off x="0" y="0"/>
            <a:ext cx="12192000" cy="141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e43f80a131_6_29"/>
          <p:cNvSpPr txBox="1"/>
          <p:nvPr/>
        </p:nvSpPr>
        <p:spPr>
          <a:xfrm>
            <a:off x="6278650" y="4325125"/>
            <a:ext cx="3657600" cy="24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Demanda crescente por tratamento especializado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Excelente estrutura técnica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Alto custo de manutenção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99" name="Google Shape;299;g3e43f80a131_6_29"/>
          <p:cNvSpPr txBox="1"/>
          <p:nvPr/>
        </p:nvSpPr>
        <p:spPr>
          <a:xfrm>
            <a:off x="2047700" y="4289675"/>
            <a:ext cx="3657600" cy="24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Recém-criada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Balança estável e </a:t>
            </a:r>
            <a:r>
              <a:rPr lang="en-US" sz="1900">
                <a:solidFill>
                  <a:schemeClr val="dk1"/>
                </a:solidFill>
              </a:rPr>
              <a:t>potencial</a:t>
            </a:r>
            <a:r>
              <a:rPr lang="en-US" sz="1900">
                <a:solidFill>
                  <a:schemeClr val="dk1"/>
                </a:solidFill>
              </a:rPr>
              <a:t> de crescimento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Forte concorrência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300" name="Google Shape;300;g3e43f80a131_6_29"/>
          <p:cNvSpPr txBox="1"/>
          <p:nvPr/>
        </p:nvSpPr>
        <p:spPr>
          <a:xfrm>
            <a:off x="594350" y="347475"/>
            <a:ext cx="5560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</a:rPr>
              <a:t>Matriz BCG</a:t>
            </a:r>
            <a:endParaRPr/>
          </a:p>
        </p:txBody>
      </p:sp>
      <p:pic>
        <p:nvPicPr>
          <p:cNvPr id="301" name="Google Shape;301;g3e43f80a131_6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g3e43f80a131_6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ad20cbe9_6_0"/>
          <p:cNvSpPr/>
          <p:nvPr/>
        </p:nvSpPr>
        <p:spPr>
          <a:xfrm>
            <a:off x="6874228" y="2132175"/>
            <a:ext cx="3657600" cy="19767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Consulta especializada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presencial</a:t>
            </a:r>
            <a:endParaRPr sz="2000"/>
          </a:p>
        </p:txBody>
      </p:sp>
      <p:sp>
        <p:nvSpPr>
          <p:cNvPr id="308" name="Google Shape;308;g3a8ad20cbe9_6_0"/>
          <p:cNvSpPr/>
          <p:nvPr/>
        </p:nvSpPr>
        <p:spPr>
          <a:xfrm>
            <a:off x="2171103" y="2132175"/>
            <a:ext cx="3657600" cy="19767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Cardiologia 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vasculhar</a:t>
            </a:r>
            <a:endParaRPr sz="2000"/>
          </a:p>
        </p:txBody>
      </p:sp>
      <p:sp>
        <p:nvSpPr>
          <p:cNvPr id="309" name="Google Shape;309;g3a8ad20cbe9_6_0"/>
          <p:cNvSpPr txBox="1"/>
          <p:nvPr/>
        </p:nvSpPr>
        <p:spPr>
          <a:xfrm>
            <a:off x="2475903" y="1576275"/>
            <a:ext cx="30480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Vaca leiteira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310" name="Google Shape;310;g3a8ad20cbe9_6_0"/>
          <p:cNvSpPr txBox="1"/>
          <p:nvPr/>
        </p:nvSpPr>
        <p:spPr>
          <a:xfrm>
            <a:off x="7179028" y="1576275"/>
            <a:ext cx="30480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Abacaxi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311" name="Google Shape;311;g3a8ad20cbe9_6_0"/>
          <p:cNvSpPr/>
          <p:nvPr/>
        </p:nvSpPr>
        <p:spPr>
          <a:xfrm>
            <a:off x="6784828" y="2132175"/>
            <a:ext cx="89400" cy="1976700"/>
          </a:xfrm>
          <a:prstGeom prst="rect">
            <a:avLst/>
          </a:prstGeom>
          <a:solidFill>
            <a:srgbClr val="062F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a8ad20cbe9_6_0"/>
          <p:cNvSpPr/>
          <p:nvPr/>
        </p:nvSpPr>
        <p:spPr>
          <a:xfrm>
            <a:off x="2156900" y="2132175"/>
            <a:ext cx="89400" cy="1976700"/>
          </a:xfrm>
          <a:prstGeom prst="rect">
            <a:avLst/>
          </a:prstGeom>
          <a:solidFill>
            <a:srgbClr val="15868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a8ad20cbe9_6_0"/>
          <p:cNvSpPr txBox="1"/>
          <p:nvPr/>
        </p:nvSpPr>
        <p:spPr>
          <a:xfrm>
            <a:off x="2081703" y="4545350"/>
            <a:ext cx="3761100" cy="26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Renome nacional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Baixa competitividade nesse setor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314" name="Google Shape;314;g3a8ad20cbe9_6_0"/>
          <p:cNvSpPr txBox="1"/>
          <p:nvPr/>
        </p:nvSpPr>
        <p:spPr>
          <a:xfrm>
            <a:off x="6874303" y="4545450"/>
            <a:ext cx="3657600" cy="26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Custos inflacionados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Baixa satisfação dos clientes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Transição para a telemedicina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315" name="Google Shape;315;g3a8ad20cbe9_6_0"/>
          <p:cNvSpPr/>
          <p:nvPr/>
        </p:nvSpPr>
        <p:spPr>
          <a:xfrm>
            <a:off x="0" y="0"/>
            <a:ext cx="12192000" cy="141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a8ad20cbe9_6_0"/>
          <p:cNvSpPr txBox="1"/>
          <p:nvPr/>
        </p:nvSpPr>
        <p:spPr>
          <a:xfrm>
            <a:off x="594350" y="347475"/>
            <a:ext cx="5560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</a:rPr>
              <a:t>Matriz BCG</a:t>
            </a:r>
            <a:endParaRPr/>
          </a:p>
        </p:txBody>
      </p:sp>
      <p:pic>
        <p:nvPicPr>
          <p:cNvPr id="317" name="Google Shape;317;g3a8ad20cbe9_6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a8ad20cbe9_6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0000">
              <a:srgbClr val="F5F7FA"/>
            </a:gs>
            <a:gs pos="75000">
              <a:srgbClr val="90E0F7"/>
            </a:gs>
            <a:gs pos="100000">
              <a:srgbClr val="737373"/>
            </a:gs>
          </a:gsLst>
          <a:lin ang="0" scaled="0"/>
        </a:gra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/>
          <p:nvPr/>
        </p:nvSpPr>
        <p:spPr>
          <a:xfrm>
            <a:off x="762000" y="1047750"/>
            <a:ext cx="5334000" cy="49530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90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9964" rotWithShape="0" dir="5400000" dist="28729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12" title="mulher vitro.png"/>
          <p:cNvPicPr preferRelativeResize="0"/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127125" y="0"/>
            <a:ext cx="4064849" cy="68579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25" name="Google Shape;325;p12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006F6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 txBox="1"/>
          <p:nvPr/>
        </p:nvSpPr>
        <p:spPr>
          <a:xfrm>
            <a:off x="773439" y="421222"/>
            <a:ext cx="87783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Pontos fortes</a:t>
            </a:r>
            <a:endParaRPr b="1" sz="3000">
              <a:solidFill>
                <a:srgbClr val="14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2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50">
                <a:solidFill>
                  <a:srgbClr val="667085"/>
                </a:solidFill>
              </a:rPr>
              <a:t>3</a:t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714375" y="1047750"/>
            <a:ext cx="122100" cy="49530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 txBox="1"/>
          <p:nvPr/>
        </p:nvSpPr>
        <p:spPr>
          <a:xfrm>
            <a:off x="1111034" y="1143000"/>
            <a:ext cx="38100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476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Reprodução Assistida</a:t>
            </a:r>
            <a:endParaRPr b="1" sz="2400">
              <a:solidFill>
                <a:srgbClr val="0096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2"/>
          <p:cNvSpPr txBox="1"/>
          <p:nvPr/>
        </p:nvSpPr>
        <p:spPr>
          <a:xfrm>
            <a:off x="1032834" y="1714500"/>
            <a:ext cx="4953000" cy="427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14287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Hospital Especializado.</a:t>
            </a:r>
            <a:endParaRPr b="1" sz="22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Inovação.</a:t>
            </a:r>
            <a:endParaRPr b="1" sz="22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63847"/>
                </a:solidFill>
                <a:latin typeface="Arial"/>
                <a:ea typeface="Arial"/>
                <a:cs typeface="Arial"/>
                <a:sym typeface="Arial"/>
              </a:rPr>
              <a:t>• Variedade de procedimentos:</a:t>
            </a:r>
            <a:endParaRPr b="1" sz="2200">
              <a:solidFill>
                <a:srgbClr val="0638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Relação sexual programada.</a:t>
            </a:r>
            <a:endParaRPr b="0" sz="18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5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Inseminação intra uterina.</a:t>
            </a:r>
            <a:endParaRPr b="0" sz="18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5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Fertilização in vitro.</a:t>
            </a:r>
            <a:endParaRPr b="0" sz="18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5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Fiv clássica ou ICSI.</a:t>
            </a:r>
            <a:endParaRPr b="0" sz="18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5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Doação de óvulos.</a:t>
            </a:r>
            <a:endParaRPr b="0" sz="18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5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Barriga solidária.</a:t>
            </a:r>
            <a:endParaRPr b="0" sz="18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5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Sêmen do doador.</a:t>
            </a:r>
            <a:endParaRPr b="0" sz="18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5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Coleta alternativa de espermatozoides.</a:t>
            </a:r>
            <a:endParaRPr b="0" sz="18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5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Biópsia de embriões.</a:t>
            </a:r>
            <a:endParaRPr b="0" sz="18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0000">
              <a:srgbClr val="F5F7FA"/>
            </a:gs>
            <a:gs pos="63000">
              <a:srgbClr val="E8F8F3"/>
            </a:gs>
            <a:gs pos="75000">
              <a:srgbClr val="2AC5D4"/>
            </a:gs>
            <a:gs pos="88000">
              <a:srgbClr val="154570"/>
            </a:gs>
            <a:gs pos="100000">
              <a:srgbClr val="737373"/>
            </a:gs>
          </a:gsLst>
          <a:lin ang="0" scaled="0"/>
        </a:gra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8ab10bf5b_0_4"/>
          <p:cNvSpPr/>
          <p:nvPr/>
        </p:nvSpPr>
        <p:spPr>
          <a:xfrm>
            <a:off x="836682" y="1045732"/>
            <a:ext cx="5199600" cy="494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675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9964" rotWithShape="0" dir="5400000" dist="28729">
              <a:srgbClr val="000000">
                <a:alpha val="34900"/>
              </a:srgbClr>
            </a:outerShdw>
          </a:effectLst>
        </p:spPr>
        <p:txBody>
          <a:bodyPr anchorCtr="0" anchor="ctr" bIns="57100" lIns="114200" spcFirstLastPara="1" rIns="114200" wrap="square" tIns="57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8" u="none" cap="none" strike="noStrike">
              <a:solidFill>
                <a:schemeClr val="dk1"/>
              </a:solidFill>
              <a:highlight>
                <a:srgbClr val="15868A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g3a8ab10bf5b_0_4" title="ChatGPT Image 23 de mai. de 2026, 20_31_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6950" y="109800"/>
            <a:ext cx="3972050" cy="6748200"/>
          </a:xfrm>
          <a:prstGeom prst="rect">
            <a:avLst/>
          </a:prstGeom>
          <a:noFill/>
          <a:ln cap="flat" cmpd="sng" w="9525">
            <a:solidFill>
              <a:srgbClr val="2AC5D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7" name="Google Shape;337;g3a8ab10bf5b_0_4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a8ab10bf5b_0_4"/>
          <p:cNvSpPr txBox="1"/>
          <p:nvPr/>
        </p:nvSpPr>
        <p:spPr>
          <a:xfrm>
            <a:off x="777240" y="420624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</a:rPr>
              <a:t>P</a:t>
            </a: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ontos fortes</a:t>
            </a:r>
            <a:endParaRPr/>
          </a:p>
        </p:txBody>
      </p:sp>
      <p:sp>
        <p:nvSpPr>
          <p:cNvPr id="339" name="Google Shape;339;g3a8ab10bf5b_0_4"/>
          <p:cNvSpPr txBox="1"/>
          <p:nvPr/>
        </p:nvSpPr>
        <p:spPr>
          <a:xfrm>
            <a:off x="11292840" y="6473952"/>
            <a:ext cx="274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50">
                <a:solidFill>
                  <a:srgbClr val="667085"/>
                </a:solidFill>
              </a:rPr>
              <a:t>4</a:t>
            </a:r>
            <a:endParaRPr sz="850">
              <a:solidFill>
                <a:srgbClr val="667085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667085"/>
              </a:solidFill>
            </a:endParaRPr>
          </a:p>
        </p:txBody>
      </p:sp>
      <p:sp>
        <p:nvSpPr>
          <p:cNvPr id="340" name="Google Shape;340;g3a8ab10bf5b_0_4"/>
          <p:cNvSpPr/>
          <p:nvPr/>
        </p:nvSpPr>
        <p:spPr>
          <a:xfrm>
            <a:off x="714589" y="1134882"/>
            <a:ext cx="122100" cy="4859400"/>
          </a:xfrm>
          <a:prstGeom prst="rect">
            <a:avLst/>
          </a:prstGeom>
          <a:solidFill>
            <a:srgbClr val="15457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a8ab10bf5b_0_4"/>
          <p:cNvSpPr txBox="1"/>
          <p:nvPr/>
        </p:nvSpPr>
        <p:spPr>
          <a:xfrm>
            <a:off x="1111038" y="1247671"/>
            <a:ext cx="31089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54570"/>
                </a:solidFill>
                <a:latin typeface="Arial"/>
                <a:ea typeface="Arial"/>
                <a:cs typeface="Arial"/>
                <a:sym typeface="Arial"/>
              </a:rPr>
              <a:t>Pediatria</a:t>
            </a:r>
            <a:endParaRPr sz="2200">
              <a:solidFill>
                <a:srgbClr val="154570"/>
              </a:solidFill>
            </a:endParaRPr>
          </a:p>
        </p:txBody>
      </p:sp>
      <p:sp>
        <p:nvSpPr>
          <p:cNvPr id="342" name="Google Shape;342;g3a8ab10bf5b_0_4"/>
          <p:cNvSpPr txBox="1"/>
          <p:nvPr/>
        </p:nvSpPr>
        <p:spPr>
          <a:xfrm>
            <a:off x="1032824" y="1782725"/>
            <a:ext cx="5003400" cy="400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i="0" lang="en-US" sz="2000">
                <a:solidFill>
                  <a:srgbClr val="1F2937"/>
                </a:solidFill>
              </a:rPr>
              <a:t> </a:t>
            </a:r>
            <a:r>
              <a:rPr b="1" i="0" lang="en-US" sz="2200">
                <a:solidFill>
                  <a:srgbClr val="1F2937"/>
                </a:solidFill>
              </a:rPr>
              <a:t>2ª posição na América Latina</a:t>
            </a:r>
            <a:endParaRPr b="1" i="0" sz="2200">
              <a:solidFill>
                <a:srgbClr val="1F2937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Acompanhamento preventivo (puericultura)</a:t>
            </a:r>
            <a:endParaRPr b="0" i="0" sz="22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Hospital Municipal Infantil Menino Jesus</a:t>
            </a:r>
            <a:endParaRPr b="0" i="0" sz="22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• Processou 13.580 exames</a:t>
            </a:r>
            <a:endParaRPr b="0" i="0" sz="21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Projeto Agel</a:t>
            </a:r>
            <a:endParaRPr b="0" i="0" sz="22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• HQ para crianças com TEA</a:t>
            </a:r>
            <a:endParaRPr b="0" i="0" sz="21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Parceria ADD</a:t>
            </a:r>
            <a:endParaRPr b="0" i="0" sz="22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1.828 ações (até 12 anos) e 722 ações (13 a 17 anos</a:t>
            </a:r>
            <a:r>
              <a:rPr b="0" i="0" lang="en-US" sz="15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0000">
              <a:srgbClr val="F5F7FA"/>
            </a:gs>
            <a:gs pos="63000">
              <a:srgbClr val="E8F8F3"/>
            </a:gs>
            <a:gs pos="75000">
              <a:srgbClr val="2AC5D4"/>
            </a:gs>
            <a:gs pos="88000">
              <a:srgbClr val="154570"/>
            </a:gs>
            <a:gs pos="100000">
              <a:srgbClr val="737373"/>
            </a:gs>
          </a:gsLst>
          <a:lin ang="0" scaled="0"/>
        </a:gra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8ab10bf5b_0_60"/>
          <p:cNvSpPr/>
          <p:nvPr/>
        </p:nvSpPr>
        <p:spPr>
          <a:xfrm>
            <a:off x="762000" y="1047750"/>
            <a:ext cx="5334000" cy="49530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90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g3a8ab10bf5b_0_60" title="ChatGPT Image 23 de mai. de 2026, 20_31_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6950" y="109800"/>
            <a:ext cx="3972050" cy="6748200"/>
          </a:xfrm>
          <a:prstGeom prst="rect">
            <a:avLst/>
          </a:prstGeom>
          <a:noFill/>
          <a:ln cap="flat" cmpd="sng" w="9525">
            <a:solidFill>
              <a:srgbClr val="2AC5D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9" name="Google Shape;349;g3a8ab10bf5b_0_60"/>
          <p:cNvSpPr/>
          <p:nvPr/>
        </p:nvSpPr>
        <p:spPr>
          <a:xfrm>
            <a:off x="714375" y="1047750"/>
            <a:ext cx="114300" cy="4953000"/>
          </a:xfrm>
          <a:prstGeom prst="rect">
            <a:avLst/>
          </a:prstGeom>
          <a:solidFill>
            <a:srgbClr val="2AC5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a8ab10bf5b_0_60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a8ab10bf5b_0_60"/>
          <p:cNvSpPr txBox="1"/>
          <p:nvPr/>
        </p:nvSpPr>
        <p:spPr>
          <a:xfrm>
            <a:off x="777240" y="420624"/>
            <a:ext cx="8778300" cy="42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Pontos fortes</a:t>
            </a:r>
            <a:endParaRPr b="1" sz="2775">
              <a:solidFill>
                <a:srgbClr val="14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a8ab10bf5b_0_60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50">
                <a:solidFill>
                  <a:srgbClr val="667085"/>
                </a:solidFill>
              </a:rPr>
              <a:t>5</a:t>
            </a:r>
            <a:endParaRPr sz="850">
              <a:solidFill>
                <a:srgbClr val="667085"/>
              </a:solidFill>
            </a:endParaRPr>
          </a:p>
        </p:txBody>
      </p:sp>
      <p:sp>
        <p:nvSpPr>
          <p:cNvPr id="353" name="Google Shape;353;g3a8ab10bf5b_0_60"/>
          <p:cNvSpPr txBox="1"/>
          <p:nvPr/>
        </p:nvSpPr>
        <p:spPr>
          <a:xfrm>
            <a:off x="1111034" y="1190625"/>
            <a:ext cx="38100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476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AC5D4"/>
                </a:solidFill>
                <a:latin typeface="Arial"/>
                <a:ea typeface="Arial"/>
                <a:cs typeface="Arial"/>
                <a:sym typeface="Arial"/>
              </a:rPr>
              <a:t>Urologia</a:t>
            </a:r>
            <a:endParaRPr b="1" sz="2400">
              <a:solidFill>
                <a:srgbClr val="2AC5D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a8ab10bf5b_0_60"/>
          <p:cNvSpPr txBox="1"/>
          <p:nvPr/>
        </p:nvSpPr>
        <p:spPr>
          <a:xfrm>
            <a:off x="1095375" y="1714500"/>
            <a:ext cx="4762500" cy="227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2937"/>
                </a:solidFill>
              </a:rPr>
              <a:t>• Líder na América Latina </a:t>
            </a:r>
            <a:endParaRPr b="1" sz="2200">
              <a:solidFill>
                <a:srgbClr val="1F2937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Destaque em cirurgia robótica.</a:t>
            </a:r>
            <a:endParaRPr b="0" sz="22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Permanência média de 1,9 dias.</a:t>
            </a:r>
            <a:endParaRPr b="0" sz="22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b="0"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84% dos pacientes recuperaram a continência urinária total.</a:t>
            </a:r>
            <a:endParaRPr b="0" sz="22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0000">
              <a:srgbClr val="F5F7FA"/>
            </a:gs>
            <a:gs pos="75000">
              <a:srgbClr val="154570"/>
            </a:gs>
            <a:gs pos="100000">
              <a:srgbClr val="737373"/>
            </a:gs>
          </a:gsLst>
          <a:lin ang="0" scaled="0"/>
        </a:gra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a8ab10bf5b_0_73"/>
          <p:cNvSpPr/>
          <p:nvPr/>
        </p:nvSpPr>
        <p:spPr>
          <a:xfrm>
            <a:off x="836682" y="1045732"/>
            <a:ext cx="5199600" cy="494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675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9964" rotWithShape="0" dir="5400000" dist="28729">
              <a:srgbClr val="000000">
                <a:alpha val="34900"/>
              </a:srgbClr>
            </a:outerShdw>
          </a:effectLst>
        </p:spPr>
        <p:txBody>
          <a:bodyPr anchorCtr="0" anchor="ctr" bIns="57100" lIns="114200" spcFirstLastPara="1" rIns="114200" wrap="square" tIns="57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8" u="none" cap="none" strike="noStrike">
              <a:solidFill>
                <a:schemeClr val="dk1"/>
              </a:solidFill>
              <a:highlight>
                <a:srgbClr val="15868A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g3a8ab10bf5b_0_73" title="inovacao apre.png"/>
          <p:cNvPicPr preferRelativeResize="0"/>
          <p:nvPr/>
        </p:nvPicPr>
        <p:blipFill rotWithShape="1">
          <a:blip r:embed="rId3">
            <a:alphaModFix amt="70000"/>
          </a:blip>
          <a:srcRect b="0" l="1143" r="1143" t="0"/>
          <a:stretch/>
        </p:blipFill>
        <p:spPr>
          <a:xfrm>
            <a:off x="8216950" y="109800"/>
            <a:ext cx="3972050" cy="6748199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a8ab10bf5b_0_73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a8ab10bf5b_0_73"/>
          <p:cNvSpPr txBox="1"/>
          <p:nvPr/>
        </p:nvSpPr>
        <p:spPr>
          <a:xfrm>
            <a:off x="777240" y="420624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700">
                <a:solidFill>
                  <a:srgbClr val="142C4A"/>
                </a:solidFill>
              </a:rPr>
              <a:t>Pontos fracos</a:t>
            </a:r>
            <a:endParaRPr/>
          </a:p>
        </p:txBody>
      </p:sp>
      <p:sp>
        <p:nvSpPr>
          <p:cNvPr id="363" name="Google Shape;363;g3a8ab10bf5b_0_73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50">
                <a:solidFill>
                  <a:srgbClr val="667085"/>
                </a:solidFill>
              </a:rPr>
              <a:t>6</a:t>
            </a:r>
            <a:endParaRPr/>
          </a:p>
        </p:txBody>
      </p:sp>
      <p:sp>
        <p:nvSpPr>
          <p:cNvPr id="364" name="Google Shape;364;g3a8ab10bf5b_0_73"/>
          <p:cNvSpPr/>
          <p:nvPr/>
        </p:nvSpPr>
        <p:spPr>
          <a:xfrm>
            <a:off x="714589" y="1134882"/>
            <a:ext cx="122100" cy="48594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a8ab10bf5b_0_73"/>
          <p:cNvSpPr txBox="1"/>
          <p:nvPr/>
        </p:nvSpPr>
        <p:spPr>
          <a:xfrm>
            <a:off x="1111038" y="1247671"/>
            <a:ext cx="31089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E60A0"/>
                </a:solidFill>
              </a:rPr>
              <a:t>Inovação</a:t>
            </a:r>
            <a:endParaRPr sz="2200">
              <a:solidFill>
                <a:srgbClr val="154570"/>
              </a:solidFill>
            </a:endParaRPr>
          </a:p>
        </p:txBody>
      </p:sp>
      <p:sp>
        <p:nvSpPr>
          <p:cNvPr id="366" name="Google Shape;366;g3a8ab10bf5b_0_73"/>
          <p:cNvSpPr txBox="1"/>
          <p:nvPr/>
        </p:nvSpPr>
        <p:spPr>
          <a:xfrm>
            <a:off x="1032832" y="1782732"/>
            <a:ext cx="4550400" cy="3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0">
                <a:solidFill>
                  <a:srgbClr val="1F2937"/>
                </a:solidFill>
              </a:rPr>
              <a:t>• O Einstein possui maior associação simbólica com inovação digital.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30">
                <a:solidFill>
                  <a:srgbClr val="1F2937"/>
                </a:solidFill>
              </a:rPr>
              <a:t>• Necessidade de escalar e comunicar soluções próprias de IA e saúde digital.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30">
                <a:solidFill>
                  <a:srgbClr val="1F2937"/>
                </a:solidFill>
              </a:rPr>
              <a:t>• Governança digital deve acompanhar implantação tecnológica.</a:t>
            </a:r>
            <a:endParaRPr sz="260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50">
                <a:solidFill>
                  <a:srgbClr val="667085"/>
                </a:solidFill>
              </a:rPr>
              <a:t>7</a:t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711380" y="1378553"/>
            <a:ext cx="512070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14" title="nps upscale.png"/>
          <p:cNvPicPr preferRelativeResize="0"/>
          <p:nvPr/>
        </p:nvPicPr>
        <p:blipFill rotWithShape="1">
          <a:blip r:embed="rId3">
            <a:alphaModFix/>
          </a:blip>
          <a:srcRect b="0" l="1532" r="1532" t="0"/>
          <a:stretch/>
        </p:blipFill>
        <p:spPr>
          <a:xfrm>
            <a:off x="983486" y="1540434"/>
            <a:ext cx="4503491" cy="222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4"/>
          <p:cNvSpPr/>
          <p:nvPr/>
        </p:nvSpPr>
        <p:spPr>
          <a:xfrm>
            <a:off x="942468" y="4777801"/>
            <a:ext cx="7345800" cy="14445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869371" y="4777801"/>
            <a:ext cx="73200" cy="1444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 txBox="1"/>
          <p:nvPr/>
        </p:nvSpPr>
        <p:spPr>
          <a:xfrm>
            <a:off x="1111334" y="4970086"/>
            <a:ext cx="46635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C5555"/>
                </a:solidFill>
                <a:latin typeface="Arial"/>
                <a:ea typeface="Arial"/>
                <a:cs typeface="Arial"/>
                <a:sym typeface="Arial"/>
              </a:rPr>
              <a:t>Pontos de atrito</a:t>
            </a:r>
            <a:endParaRPr sz="2300">
              <a:solidFill>
                <a:srgbClr val="DC5555"/>
              </a:solidFill>
            </a:endParaRPr>
          </a:p>
        </p:txBody>
      </p:sp>
      <p:sp>
        <p:nvSpPr>
          <p:cNvPr id="378" name="Google Shape;378;p14"/>
          <p:cNvSpPr txBox="1"/>
          <p:nvPr/>
        </p:nvSpPr>
        <p:spPr>
          <a:xfrm>
            <a:off x="1112123" y="5410476"/>
            <a:ext cx="70065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Financeiro, recepção, tempo de espera, agendamento, autorizações e comunicação administrativa.</a:t>
            </a:r>
            <a:endParaRPr sz="2000"/>
          </a:p>
        </p:txBody>
      </p:sp>
      <p:sp>
        <p:nvSpPr>
          <p:cNvPr id="379" name="Google Shape;379;p14"/>
          <p:cNvSpPr txBox="1"/>
          <p:nvPr/>
        </p:nvSpPr>
        <p:spPr>
          <a:xfrm>
            <a:off x="777240" y="420624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700">
                <a:solidFill>
                  <a:srgbClr val="142C4A"/>
                </a:solidFill>
              </a:rPr>
              <a:t>Pontos fracos</a:t>
            </a:r>
            <a:endParaRPr/>
          </a:p>
        </p:txBody>
      </p:sp>
      <p:pic>
        <p:nvPicPr>
          <p:cNvPr id="380" name="Google Shape;3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42483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200832"/>
            <a:ext cx="882200" cy="496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1549" y="1378538"/>
            <a:ext cx="4721300" cy="198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45751" y="2441263"/>
            <a:ext cx="4721300" cy="190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61251" y="963052"/>
            <a:ext cx="2201027" cy="4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8ab10bf5b_0_84"/>
          <p:cNvSpPr/>
          <p:nvPr/>
        </p:nvSpPr>
        <p:spPr>
          <a:xfrm>
            <a:off x="836682" y="1045732"/>
            <a:ext cx="5199600" cy="494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675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9964" rotWithShape="0" dir="5400000" dist="28729">
              <a:srgbClr val="000000">
                <a:alpha val="34900"/>
              </a:srgbClr>
            </a:outerShdw>
          </a:effectLst>
        </p:spPr>
        <p:txBody>
          <a:bodyPr anchorCtr="0" anchor="ctr" bIns="57100" lIns="114200" spcFirstLastPara="1" rIns="114200" wrap="square" tIns="57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8" u="none" cap="none" strike="noStrike">
              <a:solidFill>
                <a:schemeClr val="dk1"/>
              </a:solidFill>
              <a:highlight>
                <a:srgbClr val="15868A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a8ab10bf5b_0_84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a8ab10bf5b_0_84"/>
          <p:cNvSpPr txBox="1"/>
          <p:nvPr/>
        </p:nvSpPr>
        <p:spPr>
          <a:xfrm>
            <a:off x="777240" y="420624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</a:rPr>
              <a:t>Pontos fracos</a:t>
            </a:r>
            <a:endParaRPr/>
          </a:p>
        </p:txBody>
      </p:sp>
      <p:sp>
        <p:nvSpPr>
          <p:cNvPr id="392" name="Google Shape;392;g3a8ab10bf5b_0_84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50">
                <a:solidFill>
                  <a:srgbClr val="667085"/>
                </a:solidFill>
              </a:rPr>
              <a:t>8</a:t>
            </a:r>
            <a:endParaRPr/>
          </a:p>
        </p:txBody>
      </p:sp>
      <p:sp>
        <p:nvSpPr>
          <p:cNvPr id="393" name="Google Shape;393;g3a8ab10bf5b_0_84"/>
          <p:cNvSpPr/>
          <p:nvPr/>
        </p:nvSpPr>
        <p:spPr>
          <a:xfrm>
            <a:off x="714589" y="1134882"/>
            <a:ext cx="122100" cy="48594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a8ab10bf5b_0_84"/>
          <p:cNvSpPr txBox="1"/>
          <p:nvPr/>
        </p:nvSpPr>
        <p:spPr>
          <a:xfrm>
            <a:off x="1111038" y="1247671"/>
            <a:ext cx="31089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2"/>
                </a:solidFill>
              </a:rPr>
              <a:t>Marca e reputação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395" name="Google Shape;395;g3a8ab10bf5b_0_84"/>
          <p:cNvSpPr txBox="1"/>
          <p:nvPr/>
        </p:nvSpPr>
        <p:spPr>
          <a:xfrm>
            <a:off x="1032832" y="1782732"/>
            <a:ext cx="4550400" cy="3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0">
                <a:solidFill>
                  <a:srgbClr val="1F2937"/>
                </a:solidFill>
              </a:rPr>
              <a:t>• Reputação forte, mas concorrentes comunicam inovação com mais intensidade.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30">
                <a:solidFill>
                  <a:srgbClr val="1F2937"/>
                </a:solidFill>
              </a:rPr>
              <a:t>• Necessidade de reforçar presença digital e conexão com clientes.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30">
                <a:solidFill>
                  <a:srgbClr val="1F2937"/>
                </a:solidFill>
              </a:rPr>
              <a:t>• Oportunidade de reposicionamento em saúde inteligente.</a:t>
            </a:r>
            <a:endParaRPr sz="2730">
              <a:solidFill>
                <a:srgbClr val="1F2937"/>
              </a:solidFill>
            </a:endParaRPr>
          </a:p>
        </p:txBody>
      </p:sp>
      <p:pic>
        <p:nvPicPr>
          <p:cNvPr id="396" name="Google Shape;396;g3a8ab10bf5b_0_84" title="Einstein RA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0607" y="643812"/>
            <a:ext cx="5196453" cy="5296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g3a8ab10bf5b_0_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2563" y="5444657"/>
            <a:ext cx="115252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 txBox="1"/>
          <p:nvPr/>
        </p:nvSpPr>
        <p:spPr>
          <a:xfrm>
            <a:off x="594360" y="34747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Microambiente</a:t>
            </a:r>
            <a:endParaRPr/>
          </a:p>
        </p:txBody>
      </p:sp>
      <p:sp>
        <p:nvSpPr>
          <p:cNvPr id="404" name="Google Shape;404;p15"/>
          <p:cNvSpPr txBox="1"/>
          <p:nvPr/>
        </p:nvSpPr>
        <p:spPr>
          <a:xfrm>
            <a:off x="621792" y="841248"/>
            <a:ext cx="950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Atores diretamente relacionados à operação e à competitividade</a:t>
            </a:r>
            <a:endParaRPr/>
          </a:p>
        </p:txBody>
      </p:sp>
      <p:sp>
        <p:nvSpPr>
          <p:cNvPr id="405" name="Google Shape;405;p15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50">
                <a:solidFill>
                  <a:srgbClr val="667085"/>
                </a:solidFill>
              </a:rPr>
              <a:t>9</a:t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777240" y="1280160"/>
            <a:ext cx="342900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777240" y="1280160"/>
            <a:ext cx="73152" cy="420624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 txBox="1"/>
          <p:nvPr/>
        </p:nvSpPr>
        <p:spPr>
          <a:xfrm>
            <a:off x="941832" y="1417319"/>
            <a:ext cx="3154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sz="2200"/>
          </a:p>
        </p:txBody>
      </p:sp>
      <p:sp>
        <p:nvSpPr>
          <p:cNvPr id="409" name="Google Shape;409;p15"/>
          <p:cNvSpPr txBox="1"/>
          <p:nvPr/>
        </p:nvSpPr>
        <p:spPr>
          <a:xfrm>
            <a:off x="941832" y="1776717"/>
            <a:ext cx="3108900" cy="3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B2B: empresas, operadoras e organizações</a:t>
            </a:r>
            <a:r>
              <a:rPr lang="en-US" sz="2000">
                <a:solidFill>
                  <a:srgbClr val="1F2937"/>
                </a:solidFill>
              </a:rPr>
              <a:t>:</a:t>
            </a:r>
            <a:endParaRPr b="0" i="0" sz="20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937"/>
                </a:solidFill>
              </a:rPr>
              <a:t>	• </a:t>
            </a:r>
            <a:r>
              <a:rPr lang="en-US" sz="1600">
                <a:solidFill>
                  <a:srgbClr val="1F2937"/>
                </a:solidFill>
              </a:rPr>
              <a:t>Amil One, Bradesco Saúde,SulAmérica,Porto Seguro Saúde, Seguros Unimed.</a:t>
            </a:r>
            <a:endParaRPr sz="1600">
              <a:solidFill>
                <a:srgbClr val="1F2937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B2C: pacientes individuais e familiares</a:t>
            </a:r>
            <a:endParaRPr sz="20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Expectativas elevadas por qualidade, agilidade e acolhimento</a:t>
            </a:r>
            <a:endParaRPr sz="2000"/>
          </a:p>
        </p:txBody>
      </p:sp>
      <p:sp>
        <p:nvSpPr>
          <p:cNvPr id="410" name="Google Shape;410;p15"/>
          <p:cNvSpPr/>
          <p:nvPr/>
        </p:nvSpPr>
        <p:spPr>
          <a:xfrm>
            <a:off x="4389120" y="1280160"/>
            <a:ext cx="342900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4389120" y="1280160"/>
            <a:ext cx="73152" cy="420624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 txBox="1"/>
          <p:nvPr/>
        </p:nvSpPr>
        <p:spPr>
          <a:xfrm>
            <a:off x="4553712" y="1417319"/>
            <a:ext cx="3154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Fornecedores</a:t>
            </a:r>
            <a:endParaRPr sz="2200"/>
          </a:p>
        </p:txBody>
      </p:sp>
      <p:sp>
        <p:nvSpPr>
          <p:cNvPr id="413" name="Google Shape;413;p15"/>
          <p:cNvSpPr txBox="1"/>
          <p:nvPr/>
        </p:nvSpPr>
        <p:spPr>
          <a:xfrm>
            <a:off x="4553700" y="1776725"/>
            <a:ext cx="3108900" cy="3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Tecnologia, saúde e inovação.</a:t>
            </a:r>
            <a:endParaRPr sz="2200">
              <a:solidFill>
                <a:srgbClr val="1F29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Serviços financeiros e terceirizados.</a:t>
            </a:r>
            <a:endParaRPr sz="22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Alimentação, </a:t>
            </a:r>
            <a:r>
              <a:rPr lang="en-US" sz="2200">
                <a:solidFill>
                  <a:srgbClr val="1F2937"/>
                </a:solidFill>
              </a:rPr>
              <a:t>c</a:t>
            </a: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onveniência</a:t>
            </a:r>
            <a:r>
              <a:rPr lang="en-US" sz="2200">
                <a:solidFill>
                  <a:srgbClr val="1F2937"/>
                </a:solidFill>
              </a:rPr>
              <a:t>.</a:t>
            </a: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2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2937"/>
                </a:solidFill>
              </a:rPr>
              <a:t>• S</a:t>
            </a: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ustentabilidade.</a:t>
            </a:r>
            <a:endParaRPr sz="22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Comitê de gestão de risco de terceiros.</a:t>
            </a:r>
            <a:endParaRPr sz="2200"/>
          </a:p>
        </p:txBody>
      </p:sp>
      <p:sp>
        <p:nvSpPr>
          <p:cNvPr id="414" name="Google Shape;414;p15"/>
          <p:cNvSpPr/>
          <p:nvPr/>
        </p:nvSpPr>
        <p:spPr>
          <a:xfrm>
            <a:off x="8001000" y="1280160"/>
            <a:ext cx="342900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8001000" y="1280160"/>
            <a:ext cx="73152" cy="42062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 txBox="1"/>
          <p:nvPr/>
        </p:nvSpPr>
        <p:spPr>
          <a:xfrm>
            <a:off x="8165592" y="1417319"/>
            <a:ext cx="3154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EAA78"/>
                </a:solidFill>
                <a:latin typeface="Arial"/>
                <a:ea typeface="Arial"/>
                <a:cs typeface="Arial"/>
                <a:sym typeface="Arial"/>
              </a:rPr>
              <a:t>Concorrentes</a:t>
            </a:r>
            <a:endParaRPr sz="2200"/>
          </a:p>
        </p:txBody>
      </p:sp>
      <p:sp>
        <p:nvSpPr>
          <p:cNvPr id="417" name="Google Shape;417;p15"/>
          <p:cNvSpPr txBox="1"/>
          <p:nvPr/>
        </p:nvSpPr>
        <p:spPr>
          <a:xfrm>
            <a:off x="8165592" y="1776717"/>
            <a:ext cx="3108900" cy="24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Disputa por pacientes, talentos e contratos.</a:t>
            </a:r>
            <a:endParaRPr sz="22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Competição por inovação, marca e experiência.</a:t>
            </a:r>
            <a:endParaRPr sz="22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Pressão por eficiência e reputação digital.</a:t>
            </a:r>
            <a:endParaRPr sz="2200"/>
          </a:p>
        </p:txBody>
      </p:sp>
      <p:pic>
        <p:nvPicPr>
          <p:cNvPr id="418" name="Google Shape;4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31666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90015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 txBox="1"/>
          <p:nvPr/>
        </p:nvSpPr>
        <p:spPr>
          <a:xfrm>
            <a:off x="594360" y="34747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Macroambiente</a:t>
            </a:r>
            <a:endParaRPr/>
          </a:p>
        </p:txBody>
      </p:sp>
      <p:sp>
        <p:nvSpPr>
          <p:cNvPr id="426" name="Google Shape;426;p16"/>
          <p:cNvSpPr txBox="1"/>
          <p:nvPr/>
        </p:nvSpPr>
        <p:spPr>
          <a:xfrm>
            <a:off x="621792" y="841248"/>
            <a:ext cx="9509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Fatores externos que moldam oportunidades e ameaças</a:t>
            </a:r>
            <a:endParaRPr/>
          </a:p>
        </p:txBody>
      </p:sp>
      <p:sp>
        <p:nvSpPr>
          <p:cNvPr id="427" name="Google Shape;427;p16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67085"/>
                </a:solidFill>
              </a:rPr>
              <a:t>20</a:t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808844" y="1371389"/>
            <a:ext cx="3429000" cy="443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808844" y="1371389"/>
            <a:ext cx="73200" cy="4434900"/>
          </a:xfrm>
          <a:prstGeom prst="rect">
            <a:avLst/>
          </a:prstGeom>
          <a:solidFill>
            <a:srgbClr val="013E8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 txBox="1"/>
          <p:nvPr/>
        </p:nvSpPr>
        <p:spPr>
          <a:xfrm>
            <a:off x="973436" y="1508549"/>
            <a:ext cx="3154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13E8E"/>
                </a:solidFill>
                <a:latin typeface="Arial"/>
                <a:ea typeface="Arial"/>
                <a:cs typeface="Arial"/>
                <a:sym typeface="Arial"/>
              </a:rPr>
              <a:t>Economia</a:t>
            </a:r>
            <a:endParaRPr sz="2200">
              <a:solidFill>
                <a:srgbClr val="013E8E"/>
              </a:solidFill>
            </a:endParaRPr>
          </a:p>
        </p:txBody>
      </p:sp>
      <p:sp>
        <p:nvSpPr>
          <p:cNvPr id="431" name="Google Shape;431;p16"/>
          <p:cNvSpPr txBox="1"/>
          <p:nvPr/>
        </p:nvSpPr>
        <p:spPr>
          <a:xfrm>
            <a:off x="973436" y="2026400"/>
            <a:ext cx="3108900" cy="24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Crescimento da demanda por cuidado crônico e especializado.</a:t>
            </a:r>
            <a:endParaRPr sz="22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Pressão por sustentabilidade financeira e eficiência.</a:t>
            </a:r>
            <a:endParaRPr b="0" i="0" sz="22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rgbClr val="1F2937"/>
                </a:solidFill>
              </a:rPr>
              <a:t>• Endividamento.</a:t>
            </a:r>
            <a:endParaRPr sz="2200">
              <a:solidFill>
                <a:srgbClr val="1F2937"/>
              </a:solidFill>
            </a:endParaRPr>
          </a:p>
        </p:txBody>
      </p:sp>
      <p:pic>
        <p:nvPicPr>
          <p:cNvPr id="432" name="Google Shape;432;p16" title="ChatGPT Image 23 de mai. de 2026, 21_48_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536" y="841250"/>
            <a:ext cx="4321825" cy="589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6"/>
          <p:cNvSpPr/>
          <p:nvPr/>
        </p:nvSpPr>
        <p:spPr>
          <a:xfrm>
            <a:off x="5562250" y="5941500"/>
            <a:ext cx="4298100" cy="579300"/>
          </a:xfrm>
          <a:prstGeom prst="rect">
            <a:avLst/>
          </a:prstGeom>
          <a:solidFill>
            <a:srgbClr val="062F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5804550" y="3055025"/>
            <a:ext cx="3265800" cy="375600"/>
          </a:xfrm>
          <a:prstGeom prst="rect">
            <a:avLst/>
          </a:prstGeom>
          <a:solidFill>
            <a:srgbClr val="EDEEF1"/>
          </a:solidFill>
          <a:ln cap="flat" cmpd="sng" w="9525">
            <a:solidFill>
              <a:srgbClr val="EDE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5" name="Google Shape;43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8ab10bf5b_0_97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a8ab10bf5b_0_97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Macroambiente</a:t>
            </a:r>
            <a:endParaRPr/>
          </a:p>
        </p:txBody>
      </p:sp>
      <p:sp>
        <p:nvSpPr>
          <p:cNvPr id="443" name="Google Shape;443;g3a8ab10bf5b_0_97"/>
          <p:cNvSpPr txBox="1"/>
          <p:nvPr/>
        </p:nvSpPr>
        <p:spPr>
          <a:xfrm>
            <a:off x="621792" y="820276"/>
            <a:ext cx="95097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Fatores externos que moldam oportunidades e ameaças</a:t>
            </a:r>
            <a:endParaRPr/>
          </a:p>
        </p:txBody>
      </p:sp>
      <p:sp>
        <p:nvSpPr>
          <p:cNvPr id="444" name="Google Shape;444;g3a8ab10bf5b_0_97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67085"/>
                </a:solidFill>
              </a:rPr>
              <a:t>21</a:t>
            </a:r>
            <a:endParaRPr/>
          </a:p>
        </p:txBody>
      </p:sp>
      <p:sp>
        <p:nvSpPr>
          <p:cNvPr id="445" name="Google Shape;445;g3a8ab10bf5b_0_97"/>
          <p:cNvSpPr/>
          <p:nvPr/>
        </p:nvSpPr>
        <p:spPr>
          <a:xfrm>
            <a:off x="594345" y="1160690"/>
            <a:ext cx="3429000" cy="443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a8ab10bf5b_0_97"/>
          <p:cNvSpPr/>
          <p:nvPr/>
        </p:nvSpPr>
        <p:spPr>
          <a:xfrm>
            <a:off x="594345" y="1160690"/>
            <a:ext cx="73200" cy="4434900"/>
          </a:xfrm>
          <a:prstGeom prst="rect">
            <a:avLst/>
          </a:prstGeom>
          <a:solidFill>
            <a:srgbClr val="013E8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EAA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a8ab10bf5b_0_97"/>
          <p:cNvSpPr txBox="1"/>
          <p:nvPr/>
        </p:nvSpPr>
        <p:spPr>
          <a:xfrm>
            <a:off x="696004" y="1297850"/>
            <a:ext cx="41277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13E8E"/>
                </a:solidFill>
                <a:latin typeface="Arial"/>
                <a:ea typeface="Arial"/>
                <a:cs typeface="Arial"/>
                <a:sym typeface="Arial"/>
              </a:rPr>
              <a:t>Aspectos socioculturais</a:t>
            </a:r>
            <a:endParaRPr sz="2200">
              <a:solidFill>
                <a:srgbClr val="013E8E"/>
              </a:solidFill>
            </a:endParaRPr>
          </a:p>
        </p:txBody>
      </p:sp>
      <p:sp>
        <p:nvSpPr>
          <p:cNvPr id="448" name="Google Shape;448;g3a8ab10bf5b_0_97"/>
          <p:cNvSpPr txBox="1"/>
          <p:nvPr/>
        </p:nvSpPr>
        <p:spPr>
          <a:xfrm>
            <a:off x="758937" y="1806036"/>
            <a:ext cx="3108900" cy="3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Valorização da experiência do paciente.</a:t>
            </a:r>
            <a:endParaRPr sz="22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Maior exigência por qualidade mensurável.</a:t>
            </a:r>
            <a:endParaRPr sz="22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Cobrança por transparência, inclusão e impacto social.</a:t>
            </a:r>
            <a:endParaRPr b="0" i="0" sz="22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2937"/>
                </a:solidFill>
              </a:rPr>
              <a:t>• Envelhecimento populacional.</a:t>
            </a:r>
            <a:endParaRPr sz="2200">
              <a:solidFill>
                <a:srgbClr val="1F2937"/>
              </a:solidFill>
            </a:endParaRPr>
          </a:p>
        </p:txBody>
      </p:sp>
      <p:sp>
        <p:nvSpPr>
          <p:cNvPr id="449" name="Google Shape;449;g3a8ab10bf5b_0_97"/>
          <p:cNvSpPr/>
          <p:nvPr/>
        </p:nvSpPr>
        <p:spPr>
          <a:xfrm>
            <a:off x="4564400" y="1160690"/>
            <a:ext cx="3429000" cy="443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a8ab10bf5b_0_97"/>
          <p:cNvSpPr/>
          <p:nvPr/>
        </p:nvSpPr>
        <p:spPr>
          <a:xfrm>
            <a:off x="4564400" y="1160690"/>
            <a:ext cx="73200" cy="4434900"/>
          </a:xfrm>
          <a:prstGeom prst="rect">
            <a:avLst/>
          </a:prstGeom>
          <a:solidFill>
            <a:srgbClr val="0251A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a8ab10bf5b_0_97"/>
          <p:cNvSpPr txBox="1"/>
          <p:nvPr/>
        </p:nvSpPr>
        <p:spPr>
          <a:xfrm>
            <a:off x="4728992" y="1329454"/>
            <a:ext cx="3154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251A5"/>
                </a:solidFill>
                <a:latin typeface="Arial"/>
                <a:ea typeface="Arial"/>
                <a:cs typeface="Arial"/>
                <a:sym typeface="Arial"/>
              </a:rPr>
              <a:t>Tecnologia e regulação</a:t>
            </a:r>
            <a:endParaRPr sz="2200">
              <a:solidFill>
                <a:srgbClr val="0251A5"/>
              </a:solidFill>
            </a:endParaRPr>
          </a:p>
        </p:txBody>
      </p:sp>
      <p:sp>
        <p:nvSpPr>
          <p:cNvPr id="452" name="Google Shape;452;g3a8ab10bf5b_0_97"/>
          <p:cNvSpPr txBox="1"/>
          <p:nvPr/>
        </p:nvSpPr>
        <p:spPr>
          <a:xfrm>
            <a:off x="4728992" y="1805601"/>
            <a:ext cx="3108900" cy="20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Telessaúde, interoperabilidade e IA.</a:t>
            </a:r>
            <a:endParaRPr sz="22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Necessidade de governança, proteção de dados e cibersegurança.</a:t>
            </a:r>
            <a:endParaRPr sz="2200"/>
          </a:p>
        </p:txBody>
      </p:sp>
      <p:pic>
        <p:nvPicPr>
          <p:cNvPr id="453" name="Google Shape;453;g3a8ab10bf5b_0_97" title="upscalemedia-transform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4926" y="136487"/>
            <a:ext cx="6447576" cy="63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7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Matriz SWOT</a:t>
            </a:r>
            <a:endParaRPr/>
          </a:p>
        </p:txBody>
      </p:sp>
      <p:sp>
        <p:nvSpPr>
          <p:cNvPr id="460" name="Google Shape;460;p17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67085"/>
                </a:solidFill>
              </a:rPr>
              <a:t>22</a:t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365330" y="1184103"/>
            <a:ext cx="4983600" cy="1920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365330" y="1184103"/>
            <a:ext cx="73200" cy="19203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 txBox="1"/>
          <p:nvPr/>
        </p:nvSpPr>
        <p:spPr>
          <a:xfrm>
            <a:off x="529921" y="1321263"/>
            <a:ext cx="47091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Forças</a:t>
            </a:r>
            <a:endParaRPr sz="2200"/>
          </a:p>
        </p:txBody>
      </p:sp>
      <p:sp>
        <p:nvSpPr>
          <p:cNvPr id="464" name="Google Shape;464;p17"/>
          <p:cNvSpPr txBox="1"/>
          <p:nvPr/>
        </p:nvSpPr>
        <p:spPr>
          <a:xfrm>
            <a:off x="529921" y="1659590"/>
            <a:ext cx="46635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200">
                <a:solidFill>
                  <a:srgbClr val="1F2937"/>
                </a:solidFill>
              </a:rPr>
              <a:t>Representa as vantagens internas e competências exclusivas que a empresa possui e controla. </a:t>
            </a:r>
            <a:endParaRPr sz="2200">
              <a:solidFill>
                <a:srgbClr val="1F29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465" name="Google Shape;465;p17"/>
          <p:cNvSpPr/>
          <p:nvPr/>
        </p:nvSpPr>
        <p:spPr>
          <a:xfrm>
            <a:off x="7002226" y="1163130"/>
            <a:ext cx="4983600" cy="1920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7002226" y="1163130"/>
            <a:ext cx="73200" cy="1920300"/>
          </a:xfrm>
          <a:prstGeom prst="rect">
            <a:avLst/>
          </a:prstGeom>
          <a:solidFill>
            <a:srgbClr val="F59C4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 txBox="1"/>
          <p:nvPr/>
        </p:nvSpPr>
        <p:spPr>
          <a:xfrm>
            <a:off x="7166817" y="1300290"/>
            <a:ext cx="47091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9C4C"/>
                </a:solidFill>
                <a:latin typeface="Arial"/>
                <a:ea typeface="Arial"/>
                <a:cs typeface="Arial"/>
                <a:sym typeface="Arial"/>
              </a:rPr>
              <a:t>Fraquezas</a:t>
            </a:r>
            <a:endParaRPr sz="2200"/>
          </a:p>
        </p:txBody>
      </p:sp>
      <p:sp>
        <p:nvSpPr>
          <p:cNvPr id="468" name="Google Shape;468;p17"/>
          <p:cNvSpPr txBox="1"/>
          <p:nvPr/>
        </p:nvSpPr>
        <p:spPr>
          <a:xfrm>
            <a:off x="7166817" y="1638618"/>
            <a:ext cx="46635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200">
                <a:solidFill>
                  <a:srgbClr val="1F2937"/>
                </a:solidFill>
              </a:rPr>
              <a:t>Indica os fatores internos que prejudicam ou limitam o desempenho e o crescimento do negócio.</a:t>
            </a:r>
            <a:endParaRPr sz="2200"/>
          </a:p>
        </p:txBody>
      </p:sp>
      <p:sp>
        <p:nvSpPr>
          <p:cNvPr id="469" name="Google Shape;469;p17"/>
          <p:cNvSpPr/>
          <p:nvPr/>
        </p:nvSpPr>
        <p:spPr>
          <a:xfrm>
            <a:off x="365330" y="3703320"/>
            <a:ext cx="4983600" cy="1920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365330" y="3703320"/>
            <a:ext cx="73200" cy="19203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 txBox="1"/>
          <p:nvPr/>
        </p:nvSpPr>
        <p:spPr>
          <a:xfrm>
            <a:off x="529921" y="3840480"/>
            <a:ext cx="47091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Oportunidades</a:t>
            </a:r>
            <a:endParaRPr sz="2200"/>
          </a:p>
        </p:txBody>
      </p:sp>
      <p:sp>
        <p:nvSpPr>
          <p:cNvPr id="472" name="Google Shape;472;p17"/>
          <p:cNvSpPr txBox="1"/>
          <p:nvPr/>
        </p:nvSpPr>
        <p:spPr>
          <a:xfrm>
            <a:off x="529921" y="4210412"/>
            <a:ext cx="46635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200">
                <a:solidFill>
                  <a:srgbClr val="1F2937"/>
                </a:solidFill>
              </a:rPr>
              <a:t>Refere-se aos fatores externos e tendências de mercado que a empresa não controla, mas pode aproveitar. </a:t>
            </a:r>
            <a:endParaRPr sz="2200"/>
          </a:p>
        </p:txBody>
      </p:sp>
      <p:sp>
        <p:nvSpPr>
          <p:cNvPr id="473" name="Google Shape;473;p17"/>
          <p:cNvSpPr/>
          <p:nvPr/>
        </p:nvSpPr>
        <p:spPr>
          <a:xfrm>
            <a:off x="7042316" y="3734779"/>
            <a:ext cx="4983600" cy="1920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7042316" y="3734779"/>
            <a:ext cx="73200" cy="1920300"/>
          </a:xfrm>
          <a:prstGeom prst="rect">
            <a:avLst/>
          </a:prstGeom>
          <a:solidFill>
            <a:srgbClr val="DC555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 txBox="1"/>
          <p:nvPr/>
        </p:nvSpPr>
        <p:spPr>
          <a:xfrm>
            <a:off x="7206908" y="3871939"/>
            <a:ext cx="47091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C5555"/>
                </a:solidFill>
                <a:latin typeface="Arial"/>
                <a:ea typeface="Arial"/>
                <a:cs typeface="Arial"/>
                <a:sym typeface="Arial"/>
              </a:rPr>
              <a:t>Ameaças</a:t>
            </a:r>
            <a:endParaRPr sz="2200"/>
          </a:p>
        </p:txBody>
      </p:sp>
      <p:sp>
        <p:nvSpPr>
          <p:cNvPr id="476" name="Google Shape;476;p17"/>
          <p:cNvSpPr txBox="1"/>
          <p:nvPr/>
        </p:nvSpPr>
        <p:spPr>
          <a:xfrm>
            <a:off x="7206908" y="4210267"/>
            <a:ext cx="46635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200">
                <a:solidFill>
                  <a:srgbClr val="1F2937"/>
                </a:solidFill>
              </a:rPr>
              <a:t>Compreende os eventos ou forças externas que fogem ao controle da organização e colocam o negócio em risco. </a:t>
            </a:r>
            <a:endParaRPr sz="2200"/>
          </a:p>
        </p:txBody>
      </p:sp>
      <p:sp>
        <p:nvSpPr>
          <p:cNvPr id="477" name="Google Shape;477;p17"/>
          <p:cNvSpPr/>
          <p:nvPr/>
        </p:nvSpPr>
        <p:spPr>
          <a:xfrm>
            <a:off x="5193430" y="2935175"/>
            <a:ext cx="1737300" cy="914400"/>
          </a:xfrm>
          <a:prstGeom prst="ellipse">
            <a:avLst/>
          </a:prstGeom>
          <a:solidFill>
            <a:srgbClr val="142C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 txBox="1"/>
          <p:nvPr/>
        </p:nvSpPr>
        <p:spPr>
          <a:xfrm>
            <a:off x="5185380" y="3223156"/>
            <a:ext cx="17373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SWOT</a:t>
            </a:r>
            <a:endParaRPr/>
          </a:p>
        </p:txBody>
      </p:sp>
      <p:pic>
        <p:nvPicPr>
          <p:cNvPr id="479" name="Google Shape;4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5" name="Google Shape;485;g3a8ad20cbe9_0_43"/>
          <p:cNvGraphicFramePr/>
          <p:nvPr/>
        </p:nvGraphicFramePr>
        <p:xfrm>
          <a:off x="847600" y="153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{E3B417A8-CA94-4935-B481-E1297C01E077}</a:tableStyleId>
              </a:tblPr>
              <a:tblGrid>
                <a:gridCol w="2967600"/>
                <a:gridCol w="3890400"/>
                <a:gridCol w="3429000"/>
              </a:tblGrid>
              <a:tr h="57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3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Reprodução Assistida</a:t>
                      </a:r>
                      <a:endParaRPr sz="2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99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600">
                          <a:solidFill>
                            <a:srgbClr val="1F2937"/>
                          </a:solidFill>
                        </a:rPr>
                        <a:t>Dados publicados pela Veja Saúde, em janeiro de 2026, indicam que a infertilidade afeta cerca de 15% dos casais brasileiros em idade reprodutiva, ampliando a procura por tratamentos especializados.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937"/>
                          </a:solidFill>
                        </a:rPr>
                        <a:t>Investir em tecnologias, infraestrutura e profissionais especializados, estruturando uma linha integrada de medicina reprodutiva de alta complexidade, com ginecologia, urologia, genética, endocrinologia, psicologia, nutrição, medicina fetal e suporte emocional.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86" name="Google Shape;486;g3a8ad20cbe9_0_43"/>
          <p:cNvGrpSpPr/>
          <p:nvPr/>
        </p:nvGrpSpPr>
        <p:grpSpPr>
          <a:xfrm>
            <a:off x="4760742" y="1645023"/>
            <a:ext cx="2138027" cy="340850"/>
            <a:chOff x="5435759" y="2256220"/>
            <a:chExt cx="1600200" cy="292500"/>
          </a:xfrm>
        </p:grpSpPr>
        <p:sp>
          <p:nvSpPr>
            <p:cNvPr id="487" name="Google Shape;487;g3a8ad20cbe9_0_43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rgbClr val="1E60A0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g3a8ad20cbe9_0_43"/>
            <p:cNvSpPr txBox="1"/>
            <p:nvPr/>
          </p:nvSpPr>
          <p:spPr>
            <a:xfrm>
              <a:off x="5508962" y="2294881"/>
              <a:ext cx="1453800" cy="23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38">
                  <a:solidFill>
                    <a:srgbClr val="FFFFFF"/>
                  </a:solidFill>
                </a:rPr>
                <a:t>Oportunidade</a:t>
              </a:r>
              <a:endParaRPr b="1" sz="1538">
                <a:solidFill>
                  <a:srgbClr val="FFFFFF"/>
                </a:solidFill>
              </a:endParaRPr>
            </a:p>
          </p:txBody>
        </p:sp>
      </p:grpSp>
      <p:grpSp>
        <p:nvGrpSpPr>
          <p:cNvPr id="489" name="Google Shape;489;g3a8ad20cbe9_0_43"/>
          <p:cNvGrpSpPr/>
          <p:nvPr/>
        </p:nvGrpSpPr>
        <p:grpSpPr>
          <a:xfrm>
            <a:off x="8331659" y="1634536"/>
            <a:ext cx="2138027" cy="340850"/>
            <a:chOff x="5435759" y="2256220"/>
            <a:chExt cx="1600200" cy="292500"/>
          </a:xfrm>
        </p:grpSpPr>
        <p:sp>
          <p:nvSpPr>
            <p:cNvPr id="490" name="Google Shape;490;g3a8ad20cbe9_0_43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rgbClr val="1E60A0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g3a8ad20cbe9_0_43"/>
            <p:cNvSpPr txBox="1"/>
            <p:nvPr/>
          </p:nvSpPr>
          <p:spPr>
            <a:xfrm>
              <a:off x="5508962" y="2294881"/>
              <a:ext cx="1453800" cy="23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38">
                  <a:solidFill>
                    <a:srgbClr val="FFFFFF"/>
                  </a:solidFill>
                </a:rPr>
                <a:t>Crescimento</a:t>
              </a:r>
              <a:endParaRPr b="1" sz="1538">
                <a:solidFill>
                  <a:srgbClr val="FFFFFF"/>
                </a:solidFill>
              </a:endParaRPr>
            </a:p>
          </p:txBody>
        </p:sp>
      </p:grpSp>
      <p:grpSp>
        <p:nvGrpSpPr>
          <p:cNvPr id="492" name="Google Shape;492;g3a8ad20cbe9_0_43"/>
          <p:cNvGrpSpPr/>
          <p:nvPr/>
        </p:nvGrpSpPr>
        <p:grpSpPr>
          <a:xfrm>
            <a:off x="1379292" y="1655509"/>
            <a:ext cx="2138027" cy="340850"/>
            <a:chOff x="5435759" y="2256220"/>
            <a:chExt cx="1600200" cy="292500"/>
          </a:xfrm>
        </p:grpSpPr>
        <p:sp>
          <p:nvSpPr>
            <p:cNvPr id="493" name="Google Shape;493;g3a8ad20cbe9_0_43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rgbClr val="1E60A0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g3a8ad20cbe9_0_43"/>
            <p:cNvSpPr txBox="1"/>
            <p:nvPr/>
          </p:nvSpPr>
          <p:spPr>
            <a:xfrm>
              <a:off x="5508962" y="2294881"/>
              <a:ext cx="1453800" cy="23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38">
                  <a:solidFill>
                    <a:srgbClr val="FFFFFF"/>
                  </a:solidFill>
                </a:rPr>
                <a:t>Força</a:t>
              </a:r>
              <a:endParaRPr b="1" sz="1538">
                <a:solidFill>
                  <a:srgbClr val="FFFFFF"/>
                </a:solidFill>
              </a:endParaRPr>
            </a:p>
          </p:txBody>
        </p:sp>
      </p:grpSp>
      <p:sp>
        <p:nvSpPr>
          <p:cNvPr id="495" name="Google Shape;495;g3a8ad20cbe9_0_43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Estratégias derivadas da SWOT</a:t>
            </a:r>
            <a:endParaRPr/>
          </a:p>
        </p:txBody>
      </p:sp>
      <p:sp>
        <p:nvSpPr>
          <p:cNvPr id="496" name="Google Shape;496;g3a8ad20cbe9_0_43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67085"/>
                </a:solidFill>
              </a:rPr>
              <a:t>23</a:t>
            </a:r>
            <a:endParaRPr/>
          </a:p>
        </p:txBody>
      </p:sp>
      <p:pic>
        <p:nvPicPr>
          <p:cNvPr id="497" name="Google Shape;497;g3a8ad20cbe9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3a8ad20cbe9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g3a8ad20cbe9_0_43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a8ad20cbe9_0_68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Estratégias derivadas da SWOT</a:t>
            </a:r>
            <a:endParaRPr/>
          </a:p>
        </p:txBody>
      </p:sp>
      <p:graphicFrame>
        <p:nvGraphicFramePr>
          <p:cNvPr id="505" name="Google Shape;505;g3a8ad20cbe9_0_68"/>
          <p:cNvGraphicFramePr/>
          <p:nvPr/>
        </p:nvGraphicFramePr>
        <p:xfrm>
          <a:off x="686949" y="9629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{F483B05C-B98E-4DC0-95B8-918BD39A65EE}</a:tableStyleId>
              </a:tblPr>
              <a:tblGrid>
                <a:gridCol w="1153725"/>
                <a:gridCol w="3606100"/>
                <a:gridCol w="3188250"/>
                <a:gridCol w="2148750"/>
              </a:tblGrid>
              <a:tr h="43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PONTOS FORTES</a:t>
                      </a:r>
                      <a:endParaRPr b="1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OPORTUNIDADES</a:t>
                      </a:r>
                      <a:endParaRPr b="1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ESTRATÉGIA DE CRESCIMENTO</a:t>
                      </a:r>
                      <a:endParaRPr b="1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OBJETIVO</a:t>
                      </a:r>
                      <a:endParaRPr b="1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F11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1491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CENTRO DE REPRODUÇÃO ASSISTIDA</a:t>
                      </a:r>
                      <a:endParaRPr b="1" sz="10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 aumento da infertilidade no Brasil representa uma oportunidade de expansão para serviços especializados. Dados publicados pela </a:t>
                      </a:r>
                      <a:r>
                        <a:rPr i="1" lang="en-US" sz="1100"/>
                        <a:t>Veja Saúde</a:t>
                      </a:r>
                      <a:r>
                        <a:rPr lang="en-US" sz="1100"/>
                        <a:t>, em janeiro de 2026, indicam que a infertilidade afeta cerca de 15% dos casais brasileiros em idade reprodutiva, ampliando a procura por tratamentos especializados (VEJA SAÚDE, 2026). </a:t>
                      </a:r>
                      <a:endParaRPr sz="11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Investir em tecnologias, infraestrutura e profissionais especializados, estruturando uma linha integrada de medicina reprodutiva de alta complexidade, com ginecologia, urologia, genética, endocrinologia, psicologia, nutrição, medicina fetal e suporte emocional. </a:t>
                      </a:r>
                      <a:endParaRPr sz="11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F11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0F1115"/>
                          </a:solidFill>
                        </a:rPr>
                        <a:t>Aumentar os atendimentos em Reprodução Assistida em até 10% ao longo de um ano.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F11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F11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F11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91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PEDIATRIA</a:t>
                      </a:r>
                      <a:endParaRPr b="1" sz="10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 crescimento da obesidade infantil representa uma demanda relevante para os serviços de saúde. Levantamento nacional baseado no Sistema de Vigilância Alimentar e Nutricional indicou que, em dez anos, o excesso de peso entre jovens de 10 a 19 anos aumentou quase 9%, atingindo cerca de 2,6 milhões de adolescentes no Brasil (G1, 2025). </a:t>
                      </a:r>
                      <a:endParaRPr sz="11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Posicionar o hospital como referência no cuidado pediátrico integral, com foco em prevenção, saúde metabólica infantil, obesidade, nutrição, atividade física, saúde mental, sono, acompanhamento familiar e coordenação longitudinal do cuidado. </a:t>
                      </a:r>
                      <a:endParaRPr sz="11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F11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Elevar os atendimentos pediátricos em até 10% no período de um semestre.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F11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F11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F11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91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UROLOGIA</a:t>
                      </a:r>
                      <a:endParaRPr b="1" sz="10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 publicação da EAU em abril de 2026 e os resultados de estudos como o PRIMARY2 provaram que a tecnologia de imagem avançada pode reduzir biópsias desnecessárias e guiar cirurgias robóticas de forma muito mais precisa, preservando melhor os nervos da ereção e a musculatura da continência urinária (EUROPEAN ASSOCIATION OF UROLOGY, 2026). .</a:t>
                      </a:r>
                      <a:endParaRPr sz="11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Posicionar o hospital como referência em Urologia Individualizada, integrando diagnóstico de precisão, decisão compartilhada, imagem avançada, cirurgia minimamente invasiva, cirurgia robótica, reabilitação funcional e monitoramento de desfechos reportados pelo paciente.</a:t>
                      </a:r>
                      <a:endParaRPr sz="11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F11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0F1115"/>
                          </a:solidFill>
                        </a:rPr>
                        <a:t>Aumentar em 8% o número de tratamentos até o fim de 2026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F11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F11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6" name="Google Shape;506;g3a8ad20cbe9_0_68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67085"/>
                </a:solidFill>
              </a:rPr>
              <a:t>24</a:t>
            </a:r>
            <a:endParaRPr/>
          </a:p>
        </p:txBody>
      </p:sp>
      <p:pic>
        <p:nvPicPr>
          <p:cNvPr id="507" name="Google Shape;507;g3a8ad20cbe9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g3a8ad20cbe9_0_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3a8ad20cbe9_0_68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4" name="Google Shape;514;g3a8ad20cbe9_0_91"/>
          <p:cNvGraphicFramePr/>
          <p:nvPr/>
        </p:nvGraphicFramePr>
        <p:xfrm>
          <a:off x="847600" y="153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{E3B417A8-CA94-4935-B481-E1297C01E077}</a:tableStyleId>
              </a:tblPr>
              <a:tblGrid>
                <a:gridCol w="2967600"/>
                <a:gridCol w="3890400"/>
                <a:gridCol w="3429000"/>
              </a:tblGrid>
              <a:tr h="57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3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Reprodução Assistida</a:t>
                      </a:r>
                      <a:endParaRPr sz="2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9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937"/>
                          </a:solidFill>
                        </a:rPr>
                        <a:t>Roberto Antunes, presidente da Sociedade Brasileira de Reprodução Assistida (SBRA), explica que o setor no país é quase totalmente voltado ao mercado particular, que conta com cerca de 200 clínicas especializadas.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937"/>
                          </a:solidFill>
                        </a:rPr>
                        <a:t>Reforçar a jornada do paciente em Reprodução Assistida, com acolhimento, transparência de resultados, comunicação digital e integração com outras especialidades.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15" name="Google Shape;515;g3a8ad20cbe9_0_91"/>
          <p:cNvGrpSpPr/>
          <p:nvPr/>
        </p:nvGrpSpPr>
        <p:grpSpPr>
          <a:xfrm>
            <a:off x="4760742" y="1645023"/>
            <a:ext cx="2138027" cy="340850"/>
            <a:chOff x="5435759" y="2256220"/>
            <a:chExt cx="1600200" cy="292500"/>
          </a:xfrm>
        </p:grpSpPr>
        <p:sp>
          <p:nvSpPr>
            <p:cNvPr id="516" name="Google Shape;516;g3a8ad20cbe9_0_91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rgbClr val="1E60A0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g3a8ad20cbe9_0_91"/>
            <p:cNvSpPr txBox="1"/>
            <p:nvPr/>
          </p:nvSpPr>
          <p:spPr>
            <a:xfrm>
              <a:off x="5508962" y="2294881"/>
              <a:ext cx="1453800" cy="23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b="1" lang="en-US" sz="1538">
                  <a:solidFill>
                    <a:srgbClr val="FFFFFF"/>
                  </a:solidFill>
                </a:rPr>
                <a:t>Ameaças</a:t>
              </a:r>
              <a:endParaRPr b="1" sz="1538">
                <a:solidFill>
                  <a:srgbClr val="FFFFFF"/>
                </a:solidFill>
              </a:endParaRPr>
            </a:p>
          </p:txBody>
        </p:sp>
      </p:grpSp>
      <p:grpSp>
        <p:nvGrpSpPr>
          <p:cNvPr id="518" name="Google Shape;518;g3a8ad20cbe9_0_91"/>
          <p:cNvGrpSpPr/>
          <p:nvPr/>
        </p:nvGrpSpPr>
        <p:grpSpPr>
          <a:xfrm>
            <a:off x="8331659" y="1634536"/>
            <a:ext cx="2138027" cy="340850"/>
            <a:chOff x="5435759" y="2256220"/>
            <a:chExt cx="1600200" cy="292500"/>
          </a:xfrm>
        </p:grpSpPr>
        <p:sp>
          <p:nvSpPr>
            <p:cNvPr id="519" name="Google Shape;519;g3a8ad20cbe9_0_91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rgbClr val="1E60A0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g3a8ad20cbe9_0_91"/>
            <p:cNvSpPr txBox="1"/>
            <p:nvPr/>
          </p:nvSpPr>
          <p:spPr>
            <a:xfrm>
              <a:off x="5508962" y="2294881"/>
              <a:ext cx="1453800" cy="23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38">
                  <a:solidFill>
                    <a:srgbClr val="FFFFFF"/>
                  </a:solidFill>
                </a:rPr>
                <a:t>Enfrentamento</a:t>
              </a:r>
              <a:endParaRPr b="1" sz="1538">
                <a:solidFill>
                  <a:srgbClr val="FFFFFF"/>
                </a:solidFill>
              </a:endParaRPr>
            </a:p>
          </p:txBody>
        </p:sp>
      </p:grpSp>
      <p:grpSp>
        <p:nvGrpSpPr>
          <p:cNvPr id="521" name="Google Shape;521;g3a8ad20cbe9_0_91"/>
          <p:cNvGrpSpPr/>
          <p:nvPr/>
        </p:nvGrpSpPr>
        <p:grpSpPr>
          <a:xfrm>
            <a:off x="1379292" y="1655509"/>
            <a:ext cx="2138027" cy="340850"/>
            <a:chOff x="5435759" y="2256220"/>
            <a:chExt cx="1600200" cy="292500"/>
          </a:xfrm>
        </p:grpSpPr>
        <p:sp>
          <p:nvSpPr>
            <p:cNvPr id="522" name="Google Shape;522;g3a8ad20cbe9_0_91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rgbClr val="1E60A0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g3a8ad20cbe9_0_91"/>
            <p:cNvSpPr txBox="1"/>
            <p:nvPr/>
          </p:nvSpPr>
          <p:spPr>
            <a:xfrm>
              <a:off x="5508962" y="2294881"/>
              <a:ext cx="1453800" cy="23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38">
                  <a:solidFill>
                    <a:srgbClr val="FFFFFF"/>
                  </a:solidFill>
                </a:rPr>
                <a:t>Força</a:t>
              </a:r>
              <a:endParaRPr b="1" sz="1538">
                <a:solidFill>
                  <a:srgbClr val="FFFFFF"/>
                </a:solidFill>
              </a:endParaRPr>
            </a:p>
          </p:txBody>
        </p:sp>
      </p:grpSp>
      <p:sp>
        <p:nvSpPr>
          <p:cNvPr id="524" name="Google Shape;524;g3a8ad20cbe9_0_91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Estratégias derivadas da SWOT</a:t>
            </a:r>
            <a:endParaRPr/>
          </a:p>
        </p:txBody>
      </p:sp>
      <p:sp>
        <p:nvSpPr>
          <p:cNvPr id="525" name="Google Shape;525;g3a8ad20cbe9_0_91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67085"/>
                </a:solidFill>
              </a:rPr>
              <a:t>25</a:t>
            </a:r>
            <a:endParaRPr/>
          </a:p>
        </p:txBody>
      </p:sp>
      <p:pic>
        <p:nvPicPr>
          <p:cNvPr id="526" name="Google Shape;526;g3a8ad20cbe9_0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g3a8ad20cbe9_0_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g3a8ad20cbe9_0_91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a8ad20cbe9_0_108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Estratégias derivadas da SWOT</a:t>
            </a:r>
            <a:endParaRPr/>
          </a:p>
        </p:txBody>
      </p:sp>
      <p:graphicFrame>
        <p:nvGraphicFramePr>
          <p:cNvPr id="534" name="Google Shape;534;g3a8ad20cbe9_0_108"/>
          <p:cNvGraphicFramePr/>
          <p:nvPr/>
        </p:nvGraphicFramePr>
        <p:xfrm>
          <a:off x="561999" y="960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{F483B05C-B98E-4DC0-95B8-918BD39A65EE}</a:tableStyleId>
              </a:tblPr>
              <a:tblGrid>
                <a:gridCol w="1177150"/>
                <a:gridCol w="3679300"/>
                <a:gridCol w="3252975"/>
                <a:gridCol w="2958550"/>
              </a:tblGrid>
              <a:tr h="43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PONTOS FORTES</a:t>
                      </a:r>
                      <a:endParaRPr b="1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Ameaças</a:t>
                      </a:r>
                      <a:endParaRPr b="1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ESTRATÉGIAS DE ENFRENTAMENTO</a:t>
                      </a:r>
                      <a:endParaRPr b="1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OBJETIVO</a:t>
                      </a:r>
                      <a:endParaRPr b="1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1302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CENTRO DE REPRODUÇÃO ASSISTIDA</a:t>
                      </a:r>
                      <a:endParaRPr b="1" sz="10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Na Reprodução Assistida, clínicas especializadas competem com jornadas mais simples, forte presença digital, divulgação de taxas de sucesso, capilaridade de unidades e maior transparência de custos. 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Reforçar a jornada do paciente em Reprodução Assistida, com acolhimento, transparência de resultados, comunicação digital e integração com outras especialidades.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Aumentar em 15%  o volume de atendimentos na reprodução assistida e manter um NPS acima de 80 até dezembro 2027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91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PEDIATRIA</a:t>
                      </a:r>
                      <a:endParaRPr b="1" sz="10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Na Pediatria, hospitais exclusivamente pediátricos, como o Sabará, fortalecem sua reputação em alta complexidade infantil e podem ser percebidos pelas famílias como centros mais especializados para o cuidado de crianças (SABARÁ HOSPITAL INFANTIL, 2026). 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Desenvolver propostas de valor para operadoras e pacientes, com foco em segurança, qualidade, previsibilidade e resolutividade.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Aumentar em 5% o NPS da especialidade de Pediatria até dezembro de 2027, por meio da qualificação da jornada do paciente e da família, com foco em acolhimento, comunicação, segurança assistencial, previsibilidade do cuidado e resolutividade.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UROLOGIA</a:t>
                      </a:r>
                      <a:endParaRPr b="1" sz="10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 cirurgia robótica urológica, que pode ser um diferencial do Sírio-Libanês, já é oferecida por outros players relevantes. A Rede D’Or divulga cirurgia robótica urológica para câncer de próstata, rim e bexiga, com visão tridimensional ampliada e alta precisão. O ICESP também incorporou equipamento Da Vinci X para cirurgias robóticas, mostrando que a tecnologia está se disseminando para além dos hospitais privados premium (REDE D’OR, 2026; ICESP, 2026).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Diferenciar a Urologia por desfechos clínicos, experiência médica, cuidado integrado e não apenas por tecnologia robótica.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Atingir um NPS de  95% na especialidade de Urologia até dezembro de 2027,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5" name="Google Shape;535;g3a8ad20cbe9_0_108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67085"/>
                </a:solidFill>
              </a:rPr>
              <a:t>26</a:t>
            </a:r>
            <a:endParaRPr/>
          </a:p>
        </p:txBody>
      </p:sp>
      <p:pic>
        <p:nvPicPr>
          <p:cNvPr id="536" name="Google Shape;536;g3a8ad20cbe9_0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g3a8ad20cbe9_0_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g3a8ad20cbe9_0_108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3" name="Google Shape;543;g3a8ad20cbe9_0_116"/>
          <p:cNvGraphicFramePr/>
          <p:nvPr/>
        </p:nvGraphicFramePr>
        <p:xfrm>
          <a:off x="847600" y="153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{E3B417A8-CA94-4935-B481-E1297C01E077}</a:tableStyleId>
              </a:tblPr>
              <a:tblGrid>
                <a:gridCol w="2967600"/>
                <a:gridCol w="3890400"/>
                <a:gridCol w="3429000"/>
              </a:tblGrid>
              <a:tr h="57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3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Inovação</a:t>
                      </a:r>
                      <a:endParaRPr sz="2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9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937"/>
                          </a:solidFill>
                        </a:rPr>
                        <a:t>A Resolução CFM nº 2.454/2026 estabelece diretrizes para o uso de inteligência artificial na medicina, incluindo requisitos de governança, segurança, transparência, supervisão médica e proteção de dados sensíveis (CONSELHO FEDERAL DE MEDICINA, 2026).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937"/>
                          </a:solidFill>
                        </a:rPr>
                        <a:t>Estabelecer diretrizes institucionais de governança digital para integração da inteligência artificial e da telemedicina, assegurando critérios éticos, segurança da informação, proteção de dados e rastreabilidade nas etapas da assistência presencial e remota.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44" name="Google Shape;544;g3a8ad20cbe9_0_116"/>
          <p:cNvGrpSpPr/>
          <p:nvPr/>
        </p:nvGrpSpPr>
        <p:grpSpPr>
          <a:xfrm>
            <a:off x="4760742" y="1645023"/>
            <a:ext cx="2138027" cy="340850"/>
            <a:chOff x="5435759" y="2256220"/>
            <a:chExt cx="1600200" cy="292500"/>
          </a:xfrm>
        </p:grpSpPr>
        <p:sp>
          <p:nvSpPr>
            <p:cNvPr id="545" name="Google Shape;545;g3a8ad20cbe9_0_116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g3a8ad20cbe9_0_116"/>
            <p:cNvSpPr txBox="1"/>
            <p:nvPr/>
          </p:nvSpPr>
          <p:spPr>
            <a:xfrm>
              <a:off x="5508962" y="2294881"/>
              <a:ext cx="1453800" cy="234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38">
                  <a:solidFill>
                    <a:srgbClr val="FFFFFF"/>
                  </a:solidFill>
                </a:rPr>
                <a:t>Oportunidade</a:t>
              </a:r>
              <a:endParaRPr b="1" sz="1538">
                <a:solidFill>
                  <a:srgbClr val="FFFFFF"/>
                </a:solidFill>
              </a:endParaRPr>
            </a:p>
          </p:txBody>
        </p:sp>
      </p:grpSp>
      <p:grpSp>
        <p:nvGrpSpPr>
          <p:cNvPr id="547" name="Google Shape;547;g3a8ad20cbe9_0_116"/>
          <p:cNvGrpSpPr/>
          <p:nvPr/>
        </p:nvGrpSpPr>
        <p:grpSpPr>
          <a:xfrm>
            <a:off x="8331659" y="1634536"/>
            <a:ext cx="2138027" cy="340850"/>
            <a:chOff x="5435759" y="2256220"/>
            <a:chExt cx="1600200" cy="292500"/>
          </a:xfrm>
        </p:grpSpPr>
        <p:sp>
          <p:nvSpPr>
            <p:cNvPr id="548" name="Google Shape;548;g3a8ad20cbe9_0_116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g3a8ad20cbe9_0_116"/>
            <p:cNvSpPr txBox="1"/>
            <p:nvPr/>
          </p:nvSpPr>
          <p:spPr>
            <a:xfrm>
              <a:off x="5508962" y="2294881"/>
              <a:ext cx="1453800" cy="234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38">
                  <a:solidFill>
                    <a:srgbClr val="FFFFFF"/>
                  </a:solidFill>
                </a:rPr>
                <a:t>Melhoria</a:t>
              </a:r>
              <a:endParaRPr b="1" sz="1538">
                <a:solidFill>
                  <a:srgbClr val="FFFFFF"/>
                </a:solidFill>
              </a:endParaRPr>
            </a:p>
          </p:txBody>
        </p:sp>
      </p:grpSp>
      <p:grpSp>
        <p:nvGrpSpPr>
          <p:cNvPr id="550" name="Google Shape;550;g3a8ad20cbe9_0_116"/>
          <p:cNvGrpSpPr/>
          <p:nvPr/>
        </p:nvGrpSpPr>
        <p:grpSpPr>
          <a:xfrm>
            <a:off x="1379292" y="1655509"/>
            <a:ext cx="2138027" cy="340850"/>
            <a:chOff x="5435759" y="2256220"/>
            <a:chExt cx="1600200" cy="292500"/>
          </a:xfrm>
        </p:grpSpPr>
        <p:sp>
          <p:nvSpPr>
            <p:cNvPr id="551" name="Google Shape;551;g3a8ad20cbe9_0_116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g3a8ad20cbe9_0_116"/>
            <p:cNvSpPr txBox="1"/>
            <p:nvPr/>
          </p:nvSpPr>
          <p:spPr>
            <a:xfrm>
              <a:off x="5508962" y="2294881"/>
              <a:ext cx="1453800" cy="234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38">
                  <a:solidFill>
                    <a:srgbClr val="FFFFFF"/>
                  </a:solidFill>
                </a:rPr>
                <a:t>Fraqueza</a:t>
              </a:r>
              <a:endParaRPr b="1" sz="1538">
                <a:solidFill>
                  <a:srgbClr val="FFFFFF"/>
                </a:solidFill>
              </a:endParaRPr>
            </a:p>
          </p:txBody>
        </p:sp>
      </p:grpSp>
      <p:sp>
        <p:nvSpPr>
          <p:cNvPr id="553" name="Google Shape;553;g3a8ad20cbe9_0_116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Estratégias derivadas da SWOT</a:t>
            </a:r>
            <a:endParaRPr/>
          </a:p>
        </p:txBody>
      </p:sp>
      <p:sp>
        <p:nvSpPr>
          <p:cNvPr id="554" name="Google Shape;554;g3a8ad20cbe9_0_116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67085"/>
                </a:solidFill>
              </a:rPr>
              <a:t>27</a:t>
            </a:r>
            <a:endParaRPr/>
          </a:p>
        </p:txBody>
      </p:sp>
      <p:pic>
        <p:nvPicPr>
          <p:cNvPr id="555" name="Google Shape;555;g3a8ad20cbe9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g3a8ad20cbe9_0_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a8ad20cbe9_0_116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a8ad20cbe9_0_130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Estratégias derivadas da SWOT</a:t>
            </a:r>
            <a:endParaRPr/>
          </a:p>
        </p:txBody>
      </p:sp>
      <p:graphicFrame>
        <p:nvGraphicFramePr>
          <p:cNvPr id="563" name="Google Shape;563;g3a8ad20cbe9_0_130"/>
          <p:cNvGraphicFramePr/>
          <p:nvPr/>
        </p:nvGraphicFramePr>
        <p:xfrm>
          <a:off x="352274" y="8537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{F483B05C-B98E-4DC0-95B8-918BD39A65EE}</a:tableStyleId>
              </a:tblPr>
              <a:tblGrid>
                <a:gridCol w="1052700"/>
                <a:gridCol w="3960175"/>
                <a:gridCol w="3357775"/>
                <a:gridCol w="3053850"/>
              </a:tblGrid>
              <a:tr h="679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PONTOS FRACOS</a:t>
                      </a:r>
                      <a:endParaRPr b="1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Ameaças</a:t>
                      </a:r>
                      <a:endParaRPr b="1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ESTRATÉGIA DE MELHORIA</a:t>
                      </a:r>
                      <a:endParaRPr b="1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OBJETIVO</a:t>
                      </a:r>
                      <a:endParaRPr b="1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1365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INOVAÇÃO</a:t>
                      </a:r>
                      <a:endParaRPr b="1" sz="10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 Resolução CFM nº 2.454/2026 estabelece diretrizes para o uso de inteligência artificial na medicina, incluindo requisitos de governança, segurança, transparência, supervisão médica e proteção de dados sensíveis (CONSELHO FEDERAL DE MEDICINA, 2026).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Estabelecer diretrizes institucionais de governança digital para integração da inteligência artificial e da telemedicina, assegurando critérios éticos, segurança da informação, proteção de dados e rastreabilidade nas etapas da assistência presencial e remota.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Desenvolver sistemas próprios de IA, criar uma comissão específica sob coordenação médica e subordinada à diretoria técnica, visando garantir o uso ético, seguro e monitorado dessas tecnologias até 2028, com expectativa de retorno de 5%.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8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ATENDIMENTO (NPS)</a:t>
                      </a:r>
                      <a:endParaRPr b="1" sz="10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 Relatório de Sustentabilidade 2024 do Einstein demonstra a relevância do monitoramento contínuo da experiência dos pacientes e demais públicos por meio do Net Promoter Score. No período </a:t>
                      </a:r>
                      <a:r>
                        <a:rPr lang="en-US" sz="1100"/>
                        <a:t>analisado</a:t>
                      </a:r>
                      <a:r>
                        <a:rPr lang="en-US" sz="1100"/>
                        <a:t>, a instituição registrou variação negativa no indicador, passando de 80,2 para 78,3 pontos, o que reforça a necessidade de estratégias permanentes de qualificação da experiência (EINSTEIN, 2025).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Promover o aculturamento e o desenvolvimento contínuo dos colaboradores em todos os níveis hierárquicos, disseminando diretrizes de atendimento, comunicação clara, acolhimento, resolutividade e excelência na experiência do cliente.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Consolidar a jornada de experiência do cliente para atingir 84 pontos no NPS, assegurando crescimento sustentável da percepção de valor da marca até o encerramento de 2027.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8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MARCA</a:t>
                      </a:r>
                      <a:endParaRPr b="1" sz="10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 judicialização envolvendo o descredenciamento do Hospital Israelita Albert Einstein por operadora de saúde evidenciou a importância da reputação, da confiança e da percepção de valor dos hospitais de excelência. Decisão judicial determinou a manutenção do hospital na rede credenciada, destacando o impacto do descredenciamento sobre a continuidade do cuidado e a confiança dos beneficiários (MIGALHAS, 2026).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Fortalecer o posicionamento estratégico da marca no mercado, elevando a percepção de valor por meio de comunicação assertiva, produção de conteúdo qualificado, experiências exclusivas e maior proximidade com pacientes, familiares, médicos, operadoras e sociedade.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Ampliar o alcance institucional nas plataformas sociais para atingir um incremento de 20% nos seguidores, priorizando táticas de conteúdo que estimulem o diálogo e a conexão profunda com os clientes até junho de 2027.</a:t>
                      </a:r>
                      <a:endParaRPr sz="110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4" name="Google Shape;564;g3a8ad20cbe9_0_130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67085"/>
                </a:solidFill>
              </a:rPr>
              <a:t>28</a:t>
            </a:r>
            <a:endParaRPr/>
          </a:p>
        </p:txBody>
      </p:sp>
      <p:pic>
        <p:nvPicPr>
          <p:cNvPr id="565" name="Google Shape;565;g3a8ad20cbe9_0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g3a8ad20cbe9_0_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g3a8ad20cbe9_0_130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2" name="Google Shape;572;g3a8ad20cbe9_0_135"/>
          <p:cNvGraphicFramePr/>
          <p:nvPr/>
        </p:nvGraphicFramePr>
        <p:xfrm>
          <a:off x="847600" y="153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{E3B417A8-CA94-4935-B481-E1297C01E077}</a:tableStyleId>
              </a:tblPr>
              <a:tblGrid>
                <a:gridCol w="2967600"/>
                <a:gridCol w="3890400"/>
                <a:gridCol w="3429000"/>
              </a:tblGrid>
              <a:tr h="57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3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Inovação</a:t>
                      </a:r>
                      <a:endParaRPr sz="2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9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937"/>
                          </a:solidFill>
                        </a:rPr>
                        <a:t>Em 2026 o </a:t>
                      </a:r>
                      <a:r>
                        <a:rPr lang="en-US" sz="1600">
                          <a:solidFill>
                            <a:srgbClr val="1F2937"/>
                          </a:solidFill>
                        </a:rPr>
                        <a:t>Hospital Israelita Albert Einstein</a:t>
                      </a:r>
                      <a:r>
                        <a:rPr lang="en-US" sz="1600">
                          <a:solidFill>
                            <a:srgbClr val="1F2937"/>
                          </a:solidFill>
                        </a:rPr>
                        <a:t>, iniciou a implantação de uma ferramenta de IA capaz de transcrever consultas em tempo real nas unidades de pronto atendimento, processando e estruturando os dados da interação entre médico e paciente (SAÚDE DIGITAL NEWS, 2026)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937"/>
                          </a:solidFill>
                        </a:rPr>
                        <a:t>Fortalecer a agenda de inovação aplicada, conectando investimentos em infraestrutura, novas unidades, automação, IA e jornada digital do paciente. A estratégia deve priorizar soluções que simplifiquem a experiência, como agendamento digital, chat remoto com IA, automação de autorizações.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73" name="Google Shape;573;g3a8ad20cbe9_0_135"/>
          <p:cNvGrpSpPr/>
          <p:nvPr/>
        </p:nvGrpSpPr>
        <p:grpSpPr>
          <a:xfrm>
            <a:off x="4760742" y="1645023"/>
            <a:ext cx="2138027" cy="340850"/>
            <a:chOff x="5435759" y="2256220"/>
            <a:chExt cx="1600200" cy="292500"/>
          </a:xfrm>
        </p:grpSpPr>
        <p:sp>
          <p:nvSpPr>
            <p:cNvPr id="574" name="Google Shape;574;g3a8ad20cbe9_0_135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g3a8ad20cbe9_0_135"/>
            <p:cNvSpPr txBox="1"/>
            <p:nvPr/>
          </p:nvSpPr>
          <p:spPr>
            <a:xfrm>
              <a:off x="5508962" y="2294881"/>
              <a:ext cx="1453800" cy="234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38">
                  <a:solidFill>
                    <a:srgbClr val="FFFFFF"/>
                  </a:solidFill>
                </a:rPr>
                <a:t>Ameaças</a:t>
              </a:r>
              <a:endParaRPr b="1" sz="1538">
                <a:solidFill>
                  <a:srgbClr val="FFFFFF"/>
                </a:solidFill>
              </a:endParaRPr>
            </a:p>
          </p:txBody>
        </p:sp>
      </p:grpSp>
      <p:grpSp>
        <p:nvGrpSpPr>
          <p:cNvPr id="576" name="Google Shape;576;g3a8ad20cbe9_0_135"/>
          <p:cNvGrpSpPr/>
          <p:nvPr/>
        </p:nvGrpSpPr>
        <p:grpSpPr>
          <a:xfrm>
            <a:off x="8331659" y="1634536"/>
            <a:ext cx="2138027" cy="340850"/>
            <a:chOff x="5435759" y="2256220"/>
            <a:chExt cx="1600200" cy="292500"/>
          </a:xfrm>
        </p:grpSpPr>
        <p:sp>
          <p:nvSpPr>
            <p:cNvPr id="577" name="Google Shape;577;g3a8ad20cbe9_0_135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g3a8ad20cbe9_0_135"/>
            <p:cNvSpPr txBox="1"/>
            <p:nvPr/>
          </p:nvSpPr>
          <p:spPr>
            <a:xfrm>
              <a:off x="5508962" y="2294881"/>
              <a:ext cx="1453800" cy="234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38">
                  <a:solidFill>
                    <a:srgbClr val="FFFFFF"/>
                  </a:solidFill>
                </a:rPr>
                <a:t>Defesa</a:t>
              </a:r>
              <a:endParaRPr b="1" sz="1538">
                <a:solidFill>
                  <a:srgbClr val="FFFFFF"/>
                </a:solidFill>
              </a:endParaRPr>
            </a:p>
          </p:txBody>
        </p:sp>
      </p:grpSp>
      <p:grpSp>
        <p:nvGrpSpPr>
          <p:cNvPr id="579" name="Google Shape;579;g3a8ad20cbe9_0_135"/>
          <p:cNvGrpSpPr/>
          <p:nvPr/>
        </p:nvGrpSpPr>
        <p:grpSpPr>
          <a:xfrm>
            <a:off x="1379292" y="1655509"/>
            <a:ext cx="2138027" cy="340850"/>
            <a:chOff x="5435759" y="2256220"/>
            <a:chExt cx="1600200" cy="292500"/>
          </a:xfrm>
        </p:grpSpPr>
        <p:sp>
          <p:nvSpPr>
            <p:cNvPr id="580" name="Google Shape;580;g3a8ad20cbe9_0_135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g3a8ad20cbe9_0_135"/>
            <p:cNvSpPr txBox="1"/>
            <p:nvPr/>
          </p:nvSpPr>
          <p:spPr>
            <a:xfrm>
              <a:off x="5508962" y="2294881"/>
              <a:ext cx="1453800" cy="234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38">
                  <a:solidFill>
                    <a:srgbClr val="FFFFFF"/>
                  </a:solidFill>
                </a:rPr>
                <a:t>Fraqueza</a:t>
              </a:r>
              <a:endParaRPr b="1" sz="1538">
                <a:solidFill>
                  <a:srgbClr val="FFFFFF"/>
                </a:solidFill>
              </a:endParaRPr>
            </a:p>
          </p:txBody>
        </p:sp>
      </p:grpSp>
      <p:sp>
        <p:nvSpPr>
          <p:cNvPr id="582" name="Google Shape;582;g3a8ad20cbe9_0_135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Estratégias derivadas da SWOT</a:t>
            </a:r>
            <a:endParaRPr/>
          </a:p>
        </p:txBody>
      </p:sp>
      <p:sp>
        <p:nvSpPr>
          <p:cNvPr id="583" name="Google Shape;583;g3a8ad20cbe9_0_135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67085"/>
                </a:solidFill>
              </a:rPr>
              <a:t>29</a:t>
            </a:r>
            <a:endParaRPr/>
          </a:p>
        </p:txBody>
      </p:sp>
      <p:pic>
        <p:nvPicPr>
          <p:cNvPr id="584" name="Google Shape;584;g3a8ad20cbe9_0_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g3a8ad20cbe9_0_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g3a8ad20cbe9_0_135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1" name="Google Shape;591;g3a8ad20cbe9_0_149"/>
          <p:cNvGraphicFramePr/>
          <p:nvPr/>
        </p:nvGraphicFramePr>
        <p:xfrm>
          <a:off x="383724" y="7069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{F483B05C-B98E-4DC0-95B8-918BD39A65EE}</a:tableStyleId>
              </a:tblPr>
              <a:tblGrid>
                <a:gridCol w="1060350"/>
                <a:gridCol w="3988925"/>
                <a:gridCol w="3382125"/>
                <a:gridCol w="3213325"/>
              </a:tblGrid>
              <a:tr h="451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PONTOS FRACOS</a:t>
                      </a:r>
                      <a:endParaRPr b="1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Ameaças</a:t>
                      </a:r>
                      <a:endParaRPr b="1" sz="12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ESTRATÉGIA DE DEFESA</a:t>
                      </a:r>
                      <a:endParaRPr b="1" sz="12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OBJETIVO</a:t>
                      </a:r>
                      <a:endParaRPr b="1" sz="12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165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INOVAÇÃO</a:t>
                      </a:r>
                      <a:endParaRPr b="1" sz="10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Em 2026 o Hospital Israelita Albert Einstein, iniciou a implantação de uma ferramenta de IA capaz de transcrever consultas em tempo real nas unidades de pronto atendimento, processando e estruturando os dados da interação entre médico e paciente (SAÚDE DIGITAL NEWS, 2026)</a:t>
                      </a:r>
                      <a:endParaRPr sz="105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Fortalecer a inovação aplicada unindo infraestrutura, automação, IA e jornada digital. A estratégia deve priorizar soluções que simplifiquem a experiência do paciente, como agendamento digital, chat com IA, automação de autorizações, apoio ao tratamento e prevenção.</a:t>
                      </a:r>
                      <a:endParaRPr sz="105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Implantar uma solução de chat com IA até 2028 para reduzir custos em 5%, otimizar processos, melhorar a adesão ao tratamento e aumentar a eficiência operacional</a:t>
                      </a:r>
                      <a:endParaRPr sz="105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62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ATENDIMENTO (NPS)</a:t>
                      </a:r>
                      <a:endParaRPr b="1" sz="10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O Hospital Alemão Oswaldo Cruz reduziu o tempo de espera do paciente em 63,3% (de 1 minuto para 22 segundos) </a:t>
                      </a: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(INFOBIP, 2026)</a:t>
                      </a:r>
                      <a:r>
                        <a:rPr lang="en-US" sz="1050"/>
                        <a:t> integrando chatbots, WhatsApp e CRM. Além disso, a automação na farmácia reduziu em 90% o tempo de separação de medicamentos e aumentou a capacidade de processamento diário em até 75%.(HOSPITAL ALEMÃO OSWALDO CRUZ, 2025).</a:t>
                      </a:r>
                      <a:endParaRPr sz="105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Utilizar automação, análise de dados e integração digital para reduzir tempo de espera, otimizar agendamentos, autorizações e comunicação, tornando o atendimento mais ágil e resolutivo.</a:t>
                      </a:r>
                      <a:endParaRPr sz="1050"/>
                    </a:p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Superar 84 pontos no NPS até 2027, utilizando automação para agilizar filas de espera, qualificar o atendimento geral, ampliar a resolução no primeiro contato e reduzir pontos de atrito na jornada assistencial e administrativa.</a:t>
                      </a:r>
                      <a:endParaRPr sz="105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7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MARCA</a:t>
                      </a:r>
                      <a:endParaRPr b="1" sz="1000"/>
                    </a:p>
                  </a:txBody>
                  <a:tcPr marT="0" marB="0" marR="25400" marL="254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Enquanto o Einstein é associado à inovação e cuidado humanizado, o Oswaldo Cruz fortalece sua marca com eficiência operacional — como a automação que reduziu em 90% o tempo de separação de medicamentos. Já o Sírio-Libanês foca em expansão, investindo R$ 150 milhões em uma nova unidade no Morumbi.</a:t>
                      </a:r>
                      <a:r>
                        <a:rPr lang="en-US" sz="1050"/>
                        <a:t>(MEDICINA S/A, 2024).</a:t>
                      </a:r>
                      <a:endParaRPr sz="105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Modernizar o posicionamento da marca, destacando tradição, inovação digital, segurança assistencial e experiência do paciente, mostrando que os investimentos geram mais tecnologia, acesso, conforto e valor.</a:t>
                      </a:r>
                      <a:endParaRPr sz="105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Reposicionar o Sírio-Libanês como referência em saúde inteligente e de alta complexidade, comunicando seus investimentos e soluções digitais. O objetivo é aumentar em 15% a percepção de modernidade da marca e proteger o mercado de alta renda até o final de 2027.</a:t>
                      </a:r>
                      <a:endParaRPr sz="1050"/>
                    </a:p>
                  </a:txBody>
                  <a:tcPr marT="0" marB="0" marR="25400" marL="254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2" name="Google Shape;592;g3a8ad20cbe9_0_149"/>
          <p:cNvSpPr txBox="1"/>
          <p:nvPr/>
        </p:nvSpPr>
        <p:spPr>
          <a:xfrm>
            <a:off x="594360" y="190178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Estratégias derivadas da SWOT</a:t>
            </a:r>
            <a:endParaRPr/>
          </a:p>
        </p:txBody>
      </p:sp>
      <p:sp>
        <p:nvSpPr>
          <p:cNvPr id="593" name="Google Shape;593;g3a8ad20cbe9_0_149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67085"/>
                </a:solidFill>
              </a:rPr>
              <a:t>30</a:t>
            </a:r>
            <a:endParaRPr sz="850">
              <a:solidFill>
                <a:srgbClr val="667085"/>
              </a:solidFill>
            </a:endParaRPr>
          </a:p>
        </p:txBody>
      </p:sp>
      <p:sp>
        <p:nvSpPr>
          <p:cNvPr id="594" name="Google Shape;594;g3a8ad20cbe9_0_149"/>
          <p:cNvSpPr txBox="1"/>
          <p:nvPr/>
        </p:nvSpPr>
        <p:spPr>
          <a:xfrm>
            <a:off x="0" y="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Balanced </a:t>
            </a:r>
            <a:endParaRPr/>
          </a:p>
        </p:txBody>
      </p:sp>
      <p:pic>
        <p:nvPicPr>
          <p:cNvPr id="595" name="Google Shape;595;g3a8ad20cbe9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g3a8ad20cbe9_0_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g3a8ad20cbe9_0_149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a8ad20cbe9_4_0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g3a8ad20cbe9_4_0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Balance Scorecard</a:t>
            </a:r>
            <a:endParaRPr b="1" i="0" sz="2700">
              <a:solidFill>
                <a:srgbClr val="14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3a8ad20cbe9_4_0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grpSp>
        <p:nvGrpSpPr>
          <p:cNvPr id="605" name="Google Shape;605;g3a8ad20cbe9_4_0"/>
          <p:cNvGrpSpPr/>
          <p:nvPr/>
        </p:nvGrpSpPr>
        <p:grpSpPr>
          <a:xfrm>
            <a:off x="590538" y="1428750"/>
            <a:ext cx="11010900" cy="4000500"/>
            <a:chOff x="590550" y="1428750"/>
            <a:chExt cx="11010900" cy="4000500"/>
          </a:xfrm>
        </p:grpSpPr>
        <p:grpSp>
          <p:nvGrpSpPr>
            <p:cNvPr id="606" name="Google Shape;606;g3a8ad20cbe9_4_0"/>
            <p:cNvGrpSpPr/>
            <p:nvPr/>
          </p:nvGrpSpPr>
          <p:grpSpPr>
            <a:xfrm>
              <a:off x="590550" y="1428750"/>
              <a:ext cx="5334000" cy="4000500"/>
              <a:chOff x="590550" y="1428750"/>
              <a:chExt cx="5334000" cy="4000500"/>
            </a:xfrm>
          </p:grpSpPr>
          <p:sp>
            <p:nvSpPr>
              <p:cNvPr id="607" name="Google Shape;607;g3a8ad20cbe9_4_0"/>
              <p:cNvSpPr/>
              <p:nvPr/>
            </p:nvSpPr>
            <p:spPr>
              <a:xfrm>
                <a:off x="590550" y="1428750"/>
                <a:ext cx="5334000" cy="4000500"/>
              </a:xfrm>
              <a:prstGeom prst="roundRect">
                <a:avLst>
                  <a:gd fmla="val 476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3E8E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08" name="Google Shape;608;g3a8ad20cbe9_4_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90550" y="1428750"/>
                <a:ext cx="76200" cy="3714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9" name="Google Shape;609;g3a8ad20cbe9_4_0"/>
              <p:cNvSpPr txBox="1"/>
              <p:nvPr/>
            </p:nvSpPr>
            <p:spPr>
              <a:xfrm>
                <a:off x="857250" y="1619250"/>
                <a:ext cx="476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600">
                    <a:solidFill>
                      <a:srgbClr val="1E60A0"/>
                    </a:solidFill>
                    <a:latin typeface="Arial"/>
                    <a:ea typeface="Arial"/>
                    <a:cs typeface="Arial"/>
                    <a:sym typeface="Arial"/>
                  </a:rPr>
                  <a:t>OE 1: REPRODUÇÃO ASSISTIDA</a:t>
                </a:r>
                <a:endParaRPr b="1" i="0" sz="1600">
                  <a:solidFill>
                    <a:srgbClr val="1E60A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g3a8ad20cbe9_4_0"/>
              <p:cNvSpPr txBox="1"/>
              <p:nvPr/>
            </p:nvSpPr>
            <p:spPr>
              <a:xfrm>
                <a:off x="857250" y="2095500"/>
                <a:ext cx="4762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US" sz="1800">
                    <a:solidFill>
                      <a:srgbClr val="1A1A1A"/>
                    </a:solidFill>
                    <a:latin typeface="Arial"/>
                    <a:ea typeface="Arial"/>
                    <a:cs typeface="Arial"/>
                    <a:sym typeface="Arial"/>
                  </a:rPr>
                  <a:t>Aumentar em 15% o volume de atendimentos em Reprodução Assistida, mantendo NPS acima de 80 pontos, até dezembro de 2027.</a:t>
                </a:r>
                <a:endParaRPr b="0" i="1" sz="18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1" name="Google Shape;611;g3a8ad20cbe9_4_0"/>
              <p:cNvGrpSpPr/>
              <p:nvPr/>
            </p:nvGrpSpPr>
            <p:grpSpPr>
              <a:xfrm>
                <a:off x="857250" y="4000500"/>
                <a:ext cx="4381503" cy="1143000"/>
                <a:chOff x="0" y="0"/>
                <a:chExt cx="4381503" cy="1143000"/>
              </a:xfrm>
            </p:grpSpPr>
            <p:sp>
              <p:nvSpPr>
                <p:cNvPr id="612" name="Google Shape;612;g3a8ad20cbe9_4_0"/>
                <p:cNvSpPr/>
                <p:nvPr/>
              </p:nvSpPr>
              <p:spPr>
                <a:xfrm>
                  <a:off x="0" y="0"/>
                  <a:ext cx="2095500" cy="11430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EBF3F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3" name="Google Shape;613;g3a8ad20cbe9_4_0"/>
                <p:cNvSpPr txBox="1"/>
                <p:nvPr/>
              </p:nvSpPr>
              <p:spPr>
                <a:xfrm>
                  <a:off x="0" y="0"/>
                  <a:ext cx="2095500" cy="11430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2800">
                      <a:solidFill>
                        <a:srgbClr val="1E60A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+15%</a:t>
                  </a:r>
                  <a:endParaRPr b="1" i="0" sz="2800">
                    <a:solidFill>
                      <a:srgbClr val="1E60A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200">
                      <a:solidFill>
                        <a:srgbClr val="5A687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atendimentos</a:t>
                  </a:r>
                  <a:endParaRPr b="0" i="0" sz="1200">
                    <a:solidFill>
                      <a:srgbClr val="5A687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4" name="Google Shape;614;g3a8ad20cbe9_4_0"/>
                <p:cNvSpPr/>
                <p:nvPr/>
              </p:nvSpPr>
              <p:spPr>
                <a:xfrm>
                  <a:off x="2286003" y="0"/>
                  <a:ext cx="2095500" cy="11430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EBF3F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5" name="Google Shape;615;g3a8ad20cbe9_4_0"/>
                <p:cNvSpPr txBox="1"/>
                <p:nvPr/>
              </p:nvSpPr>
              <p:spPr>
                <a:xfrm>
                  <a:off x="2286003" y="0"/>
                  <a:ext cx="2095500" cy="11430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2800">
                      <a:solidFill>
                        <a:srgbClr val="1E60A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NPS &gt; 80</a:t>
                  </a:r>
                  <a:endParaRPr b="1" i="0" sz="2800">
                    <a:solidFill>
                      <a:srgbClr val="1E60A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200">
                      <a:solidFill>
                        <a:srgbClr val="5A687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pontos</a:t>
                  </a:r>
                  <a:endParaRPr b="0" i="0" sz="1200">
                    <a:solidFill>
                      <a:srgbClr val="5A687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16" name="Google Shape;616;g3a8ad20cbe9_4_0"/>
            <p:cNvGrpSpPr/>
            <p:nvPr/>
          </p:nvGrpSpPr>
          <p:grpSpPr>
            <a:xfrm>
              <a:off x="6267450" y="1428750"/>
              <a:ext cx="5334000" cy="4000500"/>
              <a:chOff x="6267450" y="1428750"/>
              <a:chExt cx="5334000" cy="4000500"/>
            </a:xfrm>
          </p:grpSpPr>
          <p:sp>
            <p:nvSpPr>
              <p:cNvPr id="617" name="Google Shape;617;g3a8ad20cbe9_4_0"/>
              <p:cNvSpPr/>
              <p:nvPr/>
            </p:nvSpPr>
            <p:spPr>
              <a:xfrm>
                <a:off x="6267450" y="1428750"/>
                <a:ext cx="5334000" cy="4000500"/>
              </a:xfrm>
              <a:prstGeom prst="roundRect">
                <a:avLst>
                  <a:gd fmla="val 476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3E8E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18" name="Google Shape;618;g3a8ad20cbe9_4_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267450" y="1428750"/>
                <a:ext cx="76200" cy="3714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9" name="Google Shape;619;g3a8ad20cbe9_4_0"/>
              <p:cNvSpPr txBox="1"/>
              <p:nvPr/>
            </p:nvSpPr>
            <p:spPr>
              <a:xfrm>
                <a:off x="6534153" y="1619250"/>
                <a:ext cx="476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600">
                    <a:solidFill>
                      <a:srgbClr val="1E60A0"/>
                    </a:solidFill>
                    <a:latin typeface="Arial"/>
                    <a:ea typeface="Arial"/>
                    <a:cs typeface="Arial"/>
                    <a:sym typeface="Arial"/>
                  </a:rPr>
                  <a:t>OE 2: NPS </a:t>
                </a:r>
                <a:endParaRPr b="1" i="0" sz="1600">
                  <a:solidFill>
                    <a:srgbClr val="1E60A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g3a8ad20cbe9_4_0"/>
              <p:cNvSpPr txBox="1"/>
              <p:nvPr/>
            </p:nvSpPr>
            <p:spPr>
              <a:xfrm>
                <a:off x="6534150" y="2095500"/>
                <a:ext cx="4762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US" sz="1800">
                    <a:solidFill>
                      <a:srgbClr val="1A1A1A"/>
                    </a:solidFill>
                    <a:latin typeface="Arial"/>
                    <a:ea typeface="Arial"/>
                    <a:cs typeface="Arial"/>
                    <a:sym typeface="Arial"/>
                  </a:rPr>
                  <a:t>Superar a barreira dos 84 pontos no NPS até 2027, com automação para agilizar a fila de agendamentos e qualificar o atendimento.</a:t>
                </a:r>
                <a:endParaRPr b="0" i="1" sz="18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21" name="Google Shape;621;g3a8ad20cbe9_4_0"/>
              <p:cNvGrpSpPr/>
              <p:nvPr/>
            </p:nvGrpSpPr>
            <p:grpSpPr>
              <a:xfrm>
                <a:off x="6534153" y="4000500"/>
                <a:ext cx="4381500" cy="1143000"/>
                <a:chOff x="3" y="0"/>
                <a:chExt cx="4381500" cy="1143000"/>
              </a:xfrm>
            </p:grpSpPr>
            <p:sp>
              <p:nvSpPr>
                <p:cNvPr id="622" name="Google Shape;622;g3a8ad20cbe9_4_0"/>
                <p:cNvSpPr/>
                <p:nvPr/>
              </p:nvSpPr>
              <p:spPr>
                <a:xfrm>
                  <a:off x="3" y="0"/>
                  <a:ext cx="2095500" cy="11430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EBF3F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3" name="Google Shape;623;g3a8ad20cbe9_4_0"/>
                <p:cNvSpPr txBox="1"/>
                <p:nvPr/>
              </p:nvSpPr>
              <p:spPr>
                <a:xfrm>
                  <a:off x="3" y="0"/>
                  <a:ext cx="2095500" cy="11430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2800">
                      <a:solidFill>
                        <a:srgbClr val="1E60A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84</a:t>
                  </a:r>
                  <a:endParaRPr b="1" i="0" sz="2800">
                    <a:solidFill>
                      <a:srgbClr val="1E60A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200">
                      <a:solidFill>
                        <a:srgbClr val="5A687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NPS pontos</a:t>
                  </a:r>
                  <a:endParaRPr b="0" i="0" sz="1200">
                    <a:solidFill>
                      <a:srgbClr val="5A687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4" name="Google Shape;624;g3a8ad20cbe9_4_0"/>
                <p:cNvSpPr/>
                <p:nvPr/>
              </p:nvSpPr>
              <p:spPr>
                <a:xfrm>
                  <a:off x="2286003" y="0"/>
                  <a:ext cx="2095500" cy="11430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EBF3F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5" name="Google Shape;625;g3a8ad20cbe9_4_0"/>
                <p:cNvSpPr txBox="1"/>
                <p:nvPr/>
              </p:nvSpPr>
              <p:spPr>
                <a:xfrm>
                  <a:off x="2286003" y="0"/>
                  <a:ext cx="2095500" cy="11430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2800">
                      <a:solidFill>
                        <a:srgbClr val="1E60A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-10%</a:t>
                  </a:r>
                  <a:endParaRPr b="1" i="0" sz="2800">
                    <a:solidFill>
                      <a:srgbClr val="1E60A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200">
                      <a:solidFill>
                        <a:srgbClr val="5A687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reclamações</a:t>
                  </a:r>
                  <a:endParaRPr b="0" i="0" sz="1200">
                    <a:solidFill>
                      <a:srgbClr val="5A6878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pic>
        <p:nvPicPr>
          <p:cNvPr id="626" name="Google Shape;626;g3a8ad20cbe9_4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g3a8ad20cbe9_4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a8ad20cbe9_3_106"/>
          <p:cNvSpPr/>
          <p:nvPr/>
        </p:nvSpPr>
        <p:spPr>
          <a:xfrm>
            <a:off x="619125" y="4000500"/>
            <a:ext cx="2476500" cy="2190900"/>
          </a:xfrm>
          <a:prstGeom prst="roundRect">
            <a:avLst>
              <a:gd fmla="val 8695" name="adj"/>
            </a:avLst>
          </a:prstGeom>
          <a:solidFill>
            <a:srgbClr val="E6F4F1"/>
          </a:solidFill>
          <a:ln cap="flat" cmpd="sng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a8ad20cbe9_3_106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a8ad20cbe9_3_106"/>
          <p:cNvSpPr txBox="1"/>
          <p:nvPr/>
        </p:nvSpPr>
        <p:spPr>
          <a:xfrm>
            <a:off x="594360" y="347472"/>
            <a:ext cx="8778300" cy="45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Objetivo Estratégico 1: Financeiro</a:t>
            </a:r>
            <a:endParaRPr b="1" sz="2700">
              <a:solidFill>
                <a:srgbClr val="14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a8ad20cbe9_3_106"/>
          <p:cNvSpPr txBox="1"/>
          <p:nvPr/>
        </p:nvSpPr>
        <p:spPr>
          <a:xfrm>
            <a:off x="621792" y="904875"/>
            <a:ext cx="9509700" cy="22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3">
                <a:solidFill>
                  <a:srgbClr val="64748B"/>
                </a:solidFill>
              </a:rPr>
              <a:t>Aumentar atendimentos em Reprodução Assistida em 15% até dezembro de 2027</a:t>
            </a:r>
            <a:endParaRPr b="0" sz="119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g3a8ad20cbe9_3_106"/>
          <p:cNvSpPr/>
          <p:nvPr/>
        </p:nvSpPr>
        <p:spPr>
          <a:xfrm>
            <a:off x="619125" y="1333500"/>
            <a:ext cx="10953900" cy="11430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a8ad20cbe9_3_106"/>
          <p:cNvSpPr txBox="1"/>
          <p:nvPr/>
        </p:nvSpPr>
        <p:spPr>
          <a:xfrm>
            <a:off x="809625" y="1476375"/>
            <a:ext cx="952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1" sz="1200">
              <a:solidFill>
                <a:srgbClr val="0096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3a8ad20cbe9_3_106"/>
          <p:cNvSpPr txBox="1"/>
          <p:nvPr/>
        </p:nvSpPr>
        <p:spPr>
          <a:xfrm>
            <a:off x="809625" y="1762125"/>
            <a:ext cx="95250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Aumentar em 15% a receita do hospital em relação à reprodução assistida</a:t>
            </a:r>
            <a:r>
              <a:rPr lang="en-US" sz="2000">
                <a:solidFill>
                  <a:srgbClr val="1E293B"/>
                </a:solidFill>
              </a:rPr>
              <a:t> até dezembro de 2027.</a:t>
            </a:r>
            <a:endParaRPr b="0" sz="20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g3a8ad20cbe9_3_106"/>
          <p:cNvSpPr/>
          <p:nvPr/>
        </p:nvSpPr>
        <p:spPr>
          <a:xfrm>
            <a:off x="619125" y="2667000"/>
            <a:ext cx="10953900" cy="11430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a8ad20cbe9_3_106"/>
          <p:cNvSpPr txBox="1"/>
          <p:nvPr/>
        </p:nvSpPr>
        <p:spPr>
          <a:xfrm>
            <a:off x="809625" y="2809875"/>
            <a:ext cx="952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Indicador</a:t>
            </a:r>
            <a:endParaRPr b="1" sz="1200">
              <a:solidFill>
                <a:srgbClr val="0096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3a8ad20cbe9_3_106"/>
          <p:cNvSpPr txBox="1"/>
          <p:nvPr/>
        </p:nvSpPr>
        <p:spPr>
          <a:xfrm>
            <a:off x="809625" y="3095625"/>
            <a:ext cx="9525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% da receita anual em relação à linha de base 2025</a:t>
            </a:r>
            <a:endParaRPr b="0" sz="20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a8ad20cbe9_3_106"/>
          <p:cNvSpPr/>
          <p:nvPr/>
        </p:nvSpPr>
        <p:spPr>
          <a:xfrm>
            <a:off x="809625" y="4238625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+5%</a:t>
            </a:r>
            <a:endParaRPr b="1" sz="3600">
              <a:solidFill>
                <a:srgbClr val="0079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a8ad20cbe9_3_106"/>
          <p:cNvSpPr/>
          <p:nvPr/>
        </p:nvSpPr>
        <p:spPr>
          <a:xfrm>
            <a:off x="809625" y="4857750"/>
            <a:ext cx="2095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da receita até dezembro de 2026</a:t>
            </a:r>
            <a:endParaRPr b="0"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a8ad20cbe9_3_106"/>
          <p:cNvSpPr/>
          <p:nvPr/>
        </p:nvSpPr>
        <p:spPr>
          <a:xfrm>
            <a:off x="3286125" y="4000500"/>
            <a:ext cx="2476500" cy="2190900"/>
          </a:xfrm>
          <a:prstGeom prst="roundRect">
            <a:avLst>
              <a:gd fmla="val 8695" name="adj"/>
            </a:avLst>
          </a:prstGeom>
          <a:solidFill>
            <a:srgbClr val="E6F4F1"/>
          </a:solidFill>
          <a:ln cap="flat" cmpd="sng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g3a8ad20cbe9_3_106"/>
          <p:cNvSpPr/>
          <p:nvPr/>
        </p:nvSpPr>
        <p:spPr>
          <a:xfrm>
            <a:off x="3476625" y="4238625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+15%</a:t>
            </a:r>
            <a:endParaRPr b="1" sz="3600">
              <a:solidFill>
                <a:srgbClr val="0079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a8ad20cbe9_3_106"/>
          <p:cNvSpPr/>
          <p:nvPr/>
        </p:nvSpPr>
        <p:spPr>
          <a:xfrm>
            <a:off x="3476625" y="4857750"/>
            <a:ext cx="2095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da receita até dezembro de 2027</a:t>
            </a:r>
            <a:endParaRPr b="0"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3a8ad20cbe9_3_106"/>
          <p:cNvSpPr/>
          <p:nvPr/>
        </p:nvSpPr>
        <p:spPr>
          <a:xfrm>
            <a:off x="5953125" y="4000500"/>
            <a:ext cx="5572200" cy="2190900"/>
          </a:xfrm>
          <a:prstGeom prst="roundRect">
            <a:avLst>
              <a:gd fmla="val 869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a8ad20cbe9_3_106"/>
          <p:cNvSpPr txBox="1"/>
          <p:nvPr/>
        </p:nvSpPr>
        <p:spPr>
          <a:xfrm>
            <a:off x="6238875" y="4238625"/>
            <a:ext cx="4762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Iniciativas</a:t>
            </a:r>
            <a:endParaRPr b="1" sz="1200">
              <a:solidFill>
                <a:srgbClr val="0096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a8ad20cbe9_3_106"/>
          <p:cNvSpPr/>
          <p:nvPr/>
        </p:nvSpPr>
        <p:spPr>
          <a:xfrm>
            <a:off x="6238875" y="4619625"/>
            <a:ext cx="50484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Char char="●"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Calcular o preço por procedimento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Char char="●"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Revisar pacotes assistenciais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Char char="●"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Analisar margem por procedimento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a8ad20cbe9_3_106"/>
          <p:cNvSpPr txBox="1"/>
          <p:nvPr/>
        </p:nvSpPr>
        <p:spPr>
          <a:xfrm>
            <a:off x="10953750" y="647700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10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1" name="Google Shape;651;g3a8ad20cbe9_3_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g3a8ad20cbe9_3_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a8ad20cbe9_3_82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3a8ad20cbe9_3_82"/>
          <p:cNvSpPr txBox="1"/>
          <p:nvPr/>
        </p:nvSpPr>
        <p:spPr>
          <a:xfrm>
            <a:off x="594360" y="347472"/>
            <a:ext cx="8778300" cy="45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Objetivo estratégico 1 - Processos Internos</a:t>
            </a:r>
            <a:endParaRPr b="1" sz="2700">
              <a:solidFill>
                <a:srgbClr val="14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a8ad20cbe9_3_82"/>
          <p:cNvSpPr txBox="1"/>
          <p:nvPr/>
        </p:nvSpPr>
        <p:spPr>
          <a:xfrm>
            <a:off x="621792" y="841248"/>
            <a:ext cx="9509700" cy="22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3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Aumentar atendimentos em Reprodução Assistida em 15% até dezembro de 2027</a:t>
            </a:r>
            <a:endParaRPr b="0" sz="1203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a8ad20cbe9_3_82"/>
          <p:cNvSpPr/>
          <p:nvPr/>
        </p:nvSpPr>
        <p:spPr>
          <a:xfrm>
            <a:off x="619125" y="1285875"/>
            <a:ext cx="10953900" cy="10479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a8ad20cbe9_3_82"/>
          <p:cNvSpPr txBox="1"/>
          <p:nvPr/>
        </p:nvSpPr>
        <p:spPr>
          <a:xfrm>
            <a:off x="857250" y="1428750"/>
            <a:ext cx="48006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1" sz="1100">
              <a:solidFill>
                <a:srgbClr val="1E6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g3a8ad20cbe9_3_82"/>
          <p:cNvSpPr txBox="1"/>
          <p:nvPr/>
        </p:nvSpPr>
        <p:spPr>
          <a:xfrm>
            <a:off x="857250" y="1714500"/>
            <a:ext cx="10001400" cy="65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Manter o padrão de excelência de atendimento na Reprodução Assistida com taxas de sucesso de fer</a:t>
            </a:r>
            <a:r>
              <a:rPr lang="en-US" sz="2000">
                <a:solidFill>
                  <a:srgbClr val="1E293B"/>
                </a:solidFill>
              </a:rPr>
              <a:t>t</a:t>
            </a:r>
            <a:r>
              <a:rPr b="0" lang="en-US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ilidade acima de 2</a:t>
            </a:r>
            <a:r>
              <a:rPr lang="en-US" sz="2000">
                <a:solidFill>
                  <a:srgbClr val="1E293B"/>
                </a:solidFill>
              </a:rPr>
              <a:t>5</a:t>
            </a:r>
            <a:r>
              <a:rPr b="0" lang="en-US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% até dezembro de 2027.</a:t>
            </a:r>
            <a:endParaRPr b="0" sz="20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a8ad20cbe9_3_82"/>
          <p:cNvSpPr/>
          <p:nvPr/>
        </p:nvSpPr>
        <p:spPr>
          <a:xfrm>
            <a:off x="619125" y="2476500"/>
            <a:ext cx="10953900" cy="10479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g3a8ad20cbe9_3_82"/>
          <p:cNvSpPr txBox="1"/>
          <p:nvPr/>
        </p:nvSpPr>
        <p:spPr>
          <a:xfrm>
            <a:off x="857250" y="2619375"/>
            <a:ext cx="48006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Indicador</a:t>
            </a:r>
            <a:endParaRPr b="1" sz="1100">
              <a:solidFill>
                <a:srgbClr val="1E6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a8ad20cbe9_3_82"/>
          <p:cNvSpPr txBox="1"/>
          <p:nvPr/>
        </p:nvSpPr>
        <p:spPr>
          <a:xfrm>
            <a:off x="953833" y="2926650"/>
            <a:ext cx="4800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666" name="Google Shape;666;g3a8ad20cbe9_3_82"/>
          <p:cNvSpPr txBox="1"/>
          <p:nvPr/>
        </p:nvSpPr>
        <p:spPr>
          <a:xfrm>
            <a:off x="857250" y="2905125"/>
            <a:ext cx="10001400" cy="346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Taxa de sucesso ao longo da jornada (referência: SisEmbrio/Anvisa).</a:t>
            </a:r>
            <a:endParaRPr b="0" sz="20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g3a8ad20cbe9_3_82"/>
          <p:cNvSpPr/>
          <p:nvPr/>
        </p:nvSpPr>
        <p:spPr>
          <a:xfrm>
            <a:off x="619125" y="3714750"/>
            <a:ext cx="2476500" cy="2286000"/>
          </a:xfrm>
          <a:prstGeom prst="roundRect">
            <a:avLst>
              <a:gd fmla="val 8333" name="adj"/>
            </a:avLst>
          </a:prstGeom>
          <a:solidFill>
            <a:srgbClr val="EBF3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3a8ad20cbe9_3_82"/>
          <p:cNvSpPr/>
          <p:nvPr/>
        </p:nvSpPr>
        <p:spPr>
          <a:xfrm>
            <a:off x="809625" y="40005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5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+ 20%</a:t>
            </a:r>
            <a:endParaRPr b="1" sz="3515">
              <a:solidFill>
                <a:srgbClr val="1E6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a8ad20cbe9_3_82"/>
          <p:cNvSpPr/>
          <p:nvPr/>
        </p:nvSpPr>
        <p:spPr>
          <a:xfrm>
            <a:off x="809625" y="4667250"/>
            <a:ext cx="20955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Taxa de fertilidades até dezembro de 2026</a:t>
            </a:r>
            <a:endParaRPr b="0" sz="14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g3a8ad20cbe9_3_82"/>
          <p:cNvSpPr/>
          <p:nvPr/>
        </p:nvSpPr>
        <p:spPr>
          <a:xfrm>
            <a:off x="3286125" y="3714750"/>
            <a:ext cx="2476500" cy="2286000"/>
          </a:xfrm>
          <a:prstGeom prst="roundRect">
            <a:avLst>
              <a:gd fmla="val 8333" name="adj"/>
            </a:avLst>
          </a:prstGeom>
          <a:solidFill>
            <a:srgbClr val="EBF3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3a8ad20cbe9_3_82"/>
          <p:cNvSpPr/>
          <p:nvPr/>
        </p:nvSpPr>
        <p:spPr>
          <a:xfrm>
            <a:off x="3476625" y="40005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15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+25%</a:t>
            </a:r>
            <a:endParaRPr b="1" sz="3515">
              <a:solidFill>
                <a:srgbClr val="1E6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3a8ad20cbe9_3_82"/>
          <p:cNvSpPr/>
          <p:nvPr/>
        </p:nvSpPr>
        <p:spPr>
          <a:xfrm>
            <a:off x="3476625" y="4667250"/>
            <a:ext cx="20955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Taxa de fertilidades até dezembro de 2027</a:t>
            </a:r>
            <a:endParaRPr b="0" sz="14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g3a8ad20cbe9_3_82"/>
          <p:cNvSpPr/>
          <p:nvPr/>
        </p:nvSpPr>
        <p:spPr>
          <a:xfrm>
            <a:off x="5953125" y="3714750"/>
            <a:ext cx="5619900" cy="22860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a8ad20cbe9_3_82"/>
          <p:cNvSpPr txBox="1"/>
          <p:nvPr/>
        </p:nvSpPr>
        <p:spPr>
          <a:xfrm>
            <a:off x="6238875" y="3905250"/>
            <a:ext cx="47625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Iniciativas</a:t>
            </a:r>
            <a:endParaRPr b="1" sz="1100">
              <a:solidFill>
                <a:srgbClr val="1E6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3a8ad20cbe9_3_82"/>
          <p:cNvSpPr/>
          <p:nvPr/>
        </p:nvSpPr>
        <p:spPr>
          <a:xfrm>
            <a:off x="6238875" y="4286250"/>
            <a:ext cx="50484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Char char="●"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Estruturar a jornada do paciente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Char char="●"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Monitorar continuamente as taxas de sucesso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Char char="●"/>
            </a:pPr>
            <a:r>
              <a:rPr b="0" lang="en-US"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Monitorar novas tecnologias e protocolos clínicos</a:t>
            </a:r>
            <a:endParaRPr b="0" sz="16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3a8ad20cbe9_3_82"/>
          <p:cNvSpPr txBox="1"/>
          <p:nvPr/>
        </p:nvSpPr>
        <p:spPr>
          <a:xfrm>
            <a:off x="10953750" y="6477000"/>
            <a:ext cx="571500" cy="19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sz="10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7" name="Google Shape;677;g3a8ad20cbe9_3_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31666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g3a8ad20cbe9_3_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190015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8ad20cbe9_1_27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a8ad20cbe9_1_27"/>
          <p:cNvSpPr txBox="1"/>
          <p:nvPr/>
        </p:nvSpPr>
        <p:spPr>
          <a:xfrm>
            <a:off x="594360" y="347472"/>
            <a:ext cx="8778300" cy="39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Objetivo Estratégico 1 - Aprendizado e Conhecimento</a:t>
            </a:r>
            <a:endParaRPr b="1" sz="259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3a8ad20cbe9_1_27"/>
          <p:cNvSpPr txBox="1"/>
          <p:nvPr/>
        </p:nvSpPr>
        <p:spPr>
          <a:xfrm>
            <a:off x="621792" y="841248"/>
            <a:ext cx="95097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Aumentar atendimentos em Reprodução Assistida em 15% até dezembro de 2027</a:t>
            </a:r>
            <a:endParaRPr b="0" sz="13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a8ad20cbe9_1_27"/>
          <p:cNvSpPr/>
          <p:nvPr/>
        </p:nvSpPr>
        <p:spPr>
          <a:xfrm>
            <a:off x="619125" y="1285875"/>
            <a:ext cx="10953900" cy="10479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g3a8ad20cbe9_1_27"/>
          <p:cNvSpPr txBox="1"/>
          <p:nvPr/>
        </p:nvSpPr>
        <p:spPr>
          <a:xfrm>
            <a:off x="857250" y="1428750"/>
            <a:ext cx="48006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1" i="0" sz="1100">
              <a:solidFill>
                <a:srgbClr val="EA58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g3a8ad20cbe9_1_27"/>
          <p:cNvSpPr txBox="1"/>
          <p:nvPr/>
        </p:nvSpPr>
        <p:spPr>
          <a:xfrm>
            <a:off x="857250" y="1714500"/>
            <a:ext cx="105900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E293B"/>
                </a:solidFill>
              </a:rPr>
              <a:t>Realizar pelo menos duas capacitações para os colaboradores</a:t>
            </a:r>
            <a:r>
              <a:rPr b="0" lang="en-US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com as melhores metodologias do mercado</a:t>
            </a:r>
            <a:r>
              <a:rPr lang="en-US" sz="2000">
                <a:solidFill>
                  <a:srgbClr val="1E293B"/>
                </a:solidFill>
              </a:rPr>
              <a:t> até dezembro de 2027.</a:t>
            </a:r>
            <a:endParaRPr b="0" sz="20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3a8ad20cbe9_1_27"/>
          <p:cNvSpPr/>
          <p:nvPr/>
        </p:nvSpPr>
        <p:spPr>
          <a:xfrm>
            <a:off x="619125" y="2476500"/>
            <a:ext cx="10953900" cy="10479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a8ad20cbe9_1_27"/>
          <p:cNvSpPr txBox="1"/>
          <p:nvPr/>
        </p:nvSpPr>
        <p:spPr>
          <a:xfrm>
            <a:off x="857250" y="2619375"/>
            <a:ext cx="48006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Indicador</a:t>
            </a:r>
            <a:endParaRPr b="1" i="0" sz="1100">
              <a:solidFill>
                <a:srgbClr val="EA58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g3a8ad20cbe9_1_27"/>
          <p:cNvSpPr txBox="1"/>
          <p:nvPr/>
        </p:nvSpPr>
        <p:spPr>
          <a:xfrm>
            <a:off x="857250" y="2905125"/>
            <a:ext cx="100014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Número de capacitações realizadas; Média de capacitações por profissional.</a:t>
            </a:r>
            <a:endParaRPr b="0" sz="20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g3a8ad20cbe9_1_27"/>
          <p:cNvSpPr/>
          <p:nvPr/>
        </p:nvSpPr>
        <p:spPr>
          <a:xfrm>
            <a:off x="619125" y="3714750"/>
            <a:ext cx="2476500" cy="2286000"/>
          </a:xfrm>
          <a:prstGeom prst="roundRect">
            <a:avLst>
              <a:gd fmla="val 8333" name="adj"/>
            </a:avLst>
          </a:prstGeom>
          <a:solidFill>
            <a:srgbClr val="FFF7E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g3a8ad20cbe9_1_27"/>
          <p:cNvSpPr/>
          <p:nvPr/>
        </p:nvSpPr>
        <p:spPr>
          <a:xfrm>
            <a:off x="809625" y="40005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≥ 1</a:t>
            </a:r>
            <a:endParaRPr b="1" i="0" sz="3600">
              <a:solidFill>
                <a:srgbClr val="F973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3a8ad20cbe9_1_27"/>
          <p:cNvSpPr/>
          <p:nvPr/>
        </p:nvSpPr>
        <p:spPr>
          <a:xfrm>
            <a:off x="809625" y="4667250"/>
            <a:ext cx="20955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capacitação por profissional a cada 6 meses</a:t>
            </a:r>
            <a:endParaRPr b="0" sz="14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g3a8ad20cbe9_1_27"/>
          <p:cNvSpPr/>
          <p:nvPr/>
        </p:nvSpPr>
        <p:spPr>
          <a:xfrm>
            <a:off x="3286125" y="3714750"/>
            <a:ext cx="2476500" cy="2286000"/>
          </a:xfrm>
          <a:prstGeom prst="roundRect">
            <a:avLst>
              <a:gd fmla="val 8333" name="adj"/>
            </a:avLst>
          </a:prstGeom>
          <a:solidFill>
            <a:srgbClr val="FFF7E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g3a8ad20cbe9_1_27"/>
          <p:cNvSpPr/>
          <p:nvPr/>
        </p:nvSpPr>
        <p:spPr>
          <a:xfrm>
            <a:off x="3476625" y="40005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3600">
              <a:solidFill>
                <a:srgbClr val="F973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g3a8ad20cbe9_1_27"/>
          <p:cNvSpPr/>
          <p:nvPr/>
        </p:nvSpPr>
        <p:spPr>
          <a:xfrm>
            <a:off x="3476625" y="4667250"/>
            <a:ext cx="20955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evento científico a cada 3 meses</a:t>
            </a:r>
            <a:endParaRPr b="0" sz="14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3a8ad20cbe9_1_27"/>
          <p:cNvSpPr/>
          <p:nvPr/>
        </p:nvSpPr>
        <p:spPr>
          <a:xfrm>
            <a:off x="5953125" y="3714750"/>
            <a:ext cx="5619900" cy="22860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g3a8ad20cbe9_1_27"/>
          <p:cNvSpPr txBox="1"/>
          <p:nvPr/>
        </p:nvSpPr>
        <p:spPr>
          <a:xfrm>
            <a:off x="6238875" y="3905250"/>
            <a:ext cx="476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Iniciativas</a:t>
            </a:r>
            <a:endParaRPr b="1" i="0" sz="1100">
              <a:solidFill>
                <a:srgbClr val="EA58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g3a8ad20cbe9_1_27"/>
          <p:cNvSpPr/>
          <p:nvPr/>
        </p:nvSpPr>
        <p:spPr>
          <a:xfrm>
            <a:off x="6238875" y="4286250"/>
            <a:ext cx="50484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80"/>
              <a:buFont typeface="Arial"/>
              <a:buChar char="●"/>
            </a:pPr>
            <a:r>
              <a:rPr b="0" lang="en-US" sz="148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Disponibilizar carga horária para capacitações</a:t>
            </a:r>
            <a:endParaRPr b="0" sz="148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58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480"/>
              <a:buFont typeface="Arial"/>
              <a:buChar char="●"/>
            </a:pPr>
            <a:r>
              <a:rPr b="0" lang="en-US" sz="148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Gerar conhecimento a partir de trabalhos científicos</a:t>
            </a:r>
            <a:endParaRPr b="0" sz="148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58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480"/>
              <a:buFont typeface="Arial"/>
              <a:buChar char="●"/>
            </a:pPr>
            <a:r>
              <a:rPr b="0" lang="en-US" sz="148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Disponibilizar vagas para estagiários e residentes</a:t>
            </a:r>
            <a:endParaRPr b="0" sz="148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58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480"/>
              <a:buFont typeface="Arial"/>
              <a:buChar char="●"/>
            </a:pPr>
            <a:r>
              <a:rPr b="0" lang="en-US" sz="148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Participar de congressos sobre temas correlacionados</a:t>
            </a:r>
            <a:endParaRPr b="0" sz="148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g3a8ad20cbe9_1_27"/>
          <p:cNvSpPr txBox="1"/>
          <p:nvPr/>
        </p:nvSpPr>
        <p:spPr>
          <a:xfrm>
            <a:off x="10953750" y="6477000"/>
            <a:ext cx="571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sz="10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2" name="Google Shape;702;g3a8ad20cbe9_1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g3a8ad20cbe9_1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8" name="Google Shape;708;g3a8ad20cbe9_3_35"/>
          <p:cNvGrpSpPr/>
          <p:nvPr/>
        </p:nvGrpSpPr>
        <p:grpSpPr>
          <a:xfrm>
            <a:off x="590550" y="342900"/>
            <a:ext cx="9534675" cy="733500"/>
            <a:chOff x="590550" y="342900"/>
            <a:chExt cx="9534675" cy="733500"/>
          </a:xfrm>
        </p:grpSpPr>
        <p:sp>
          <p:nvSpPr>
            <p:cNvPr id="709" name="Google Shape;709;g3a8ad20cbe9_3_35"/>
            <p:cNvSpPr txBox="1"/>
            <p:nvPr/>
          </p:nvSpPr>
          <p:spPr>
            <a:xfrm>
              <a:off x="590550" y="342900"/>
              <a:ext cx="876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Objetivo estratégico 1 - Clientes</a:t>
              </a:r>
              <a:endParaRPr b="1" sz="27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g3a8ad20cbe9_3_35"/>
            <p:cNvSpPr txBox="1"/>
            <p:nvPr/>
          </p:nvSpPr>
          <p:spPr>
            <a:xfrm>
              <a:off x="619125" y="838200"/>
              <a:ext cx="95061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Aumentar atendimentos em Reprodução Assistida em 15% até dezembro de 2027</a:t>
              </a:r>
              <a:endParaRPr b="0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1" name="Google Shape;711;g3a8ad20cbe9_3_35"/>
          <p:cNvGrpSpPr/>
          <p:nvPr/>
        </p:nvGrpSpPr>
        <p:grpSpPr>
          <a:xfrm>
            <a:off x="619125" y="1285875"/>
            <a:ext cx="10953900" cy="1047900"/>
            <a:chOff x="619125" y="1285875"/>
            <a:chExt cx="10953900" cy="1047900"/>
          </a:xfrm>
        </p:grpSpPr>
        <p:sp>
          <p:nvSpPr>
            <p:cNvPr id="712" name="Google Shape;712;g3a8ad20cbe9_3_35"/>
            <p:cNvSpPr/>
            <p:nvPr/>
          </p:nvSpPr>
          <p:spPr>
            <a:xfrm>
              <a:off x="619125" y="1285875"/>
              <a:ext cx="10953900" cy="1047900"/>
            </a:xfrm>
            <a:prstGeom prst="roundRect">
              <a:avLst>
                <a:gd fmla="val 145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g3a8ad20cbe9_3_35"/>
            <p:cNvSpPr txBox="1"/>
            <p:nvPr/>
          </p:nvSpPr>
          <p:spPr>
            <a:xfrm>
              <a:off x="857250" y="1428750"/>
              <a:ext cx="4762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AB308"/>
                  </a:solidFill>
                  <a:latin typeface="Arial"/>
                  <a:ea typeface="Arial"/>
                  <a:cs typeface="Arial"/>
                  <a:sym typeface="Arial"/>
                </a:rPr>
                <a:t>Objetivo</a:t>
              </a:r>
              <a:endParaRPr b="1" sz="1100">
                <a:solidFill>
                  <a:srgbClr val="EAB30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g3a8ad20cbe9_3_35"/>
            <p:cNvSpPr txBox="1"/>
            <p:nvPr/>
          </p:nvSpPr>
          <p:spPr>
            <a:xfrm>
              <a:off x="857250" y="1714500"/>
              <a:ext cx="10001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Aumentar </a:t>
              </a:r>
              <a:r>
                <a:rPr lang="en-US" sz="2000">
                  <a:solidFill>
                    <a:srgbClr val="1E293B"/>
                  </a:solidFill>
                </a:rPr>
                <a:t> em 15% </a:t>
              </a:r>
              <a:r>
                <a:rPr b="0" lang="en-US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o número de clientes da</a:t>
              </a:r>
              <a:r>
                <a:rPr lang="en-US" sz="2000">
                  <a:solidFill>
                    <a:srgbClr val="1E293B"/>
                  </a:solidFill>
                </a:rPr>
                <a:t>s unidades de reprodução assistida </a:t>
              </a:r>
              <a:r>
                <a:rPr b="0" lang="en-US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até dezembro de 2027.</a:t>
              </a:r>
              <a:endParaRPr b="0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5" name="Google Shape;715;g3a8ad20cbe9_3_35"/>
          <p:cNvGrpSpPr/>
          <p:nvPr/>
        </p:nvGrpSpPr>
        <p:grpSpPr>
          <a:xfrm>
            <a:off x="619125" y="2476500"/>
            <a:ext cx="10953900" cy="1047900"/>
            <a:chOff x="619125" y="2476500"/>
            <a:chExt cx="10953900" cy="1047900"/>
          </a:xfrm>
        </p:grpSpPr>
        <p:sp>
          <p:nvSpPr>
            <p:cNvPr id="716" name="Google Shape;716;g3a8ad20cbe9_3_35"/>
            <p:cNvSpPr/>
            <p:nvPr/>
          </p:nvSpPr>
          <p:spPr>
            <a:xfrm>
              <a:off x="619125" y="2476500"/>
              <a:ext cx="10953900" cy="1047900"/>
            </a:xfrm>
            <a:prstGeom prst="roundRect">
              <a:avLst>
                <a:gd fmla="val 1454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g3a8ad20cbe9_3_35"/>
            <p:cNvSpPr txBox="1"/>
            <p:nvPr/>
          </p:nvSpPr>
          <p:spPr>
            <a:xfrm>
              <a:off x="857250" y="2619375"/>
              <a:ext cx="4762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AB308"/>
                  </a:solidFill>
                  <a:latin typeface="Arial"/>
                  <a:ea typeface="Arial"/>
                  <a:cs typeface="Arial"/>
                  <a:sym typeface="Arial"/>
                </a:rPr>
                <a:t>Indicador</a:t>
              </a:r>
              <a:endParaRPr b="1" sz="1100">
                <a:solidFill>
                  <a:srgbClr val="EAB30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g3a8ad20cbe9_3_35"/>
            <p:cNvSpPr txBox="1"/>
            <p:nvPr/>
          </p:nvSpPr>
          <p:spPr>
            <a:xfrm>
              <a:off x="857250" y="2905125"/>
              <a:ext cx="10001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E293B"/>
                  </a:solidFill>
                </a:rPr>
                <a:t>Número de clientes por mês; </a:t>
              </a:r>
              <a:endParaRPr b="0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9" name="Google Shape;719;g3a8ad20cbe9_3_35"/>
          <p:cNvGrpSpPr/>
          <p:nvPr/>
        </p:nvGrpSpPr>
        <p:grpSpPr>
          <a:xfrm>
            <a:off x="619125" y="3714750"/>
            <a:ext cx="2476500" cy="2286000"/>
            <a:chOff x="619125" y="3714750"/>
            <a:chExt cx="2476500" cy="2286000"/>
          </a:xfrm>
        </p:grpSpPr>
        <p:sp>
          <p:nvSpPr>
            <p:cNvPr id="720" name="Google Shape;720;g3a8ad20cbe9_3_35"/>
            <p:cNvSpPr/>
            <p:nvPr/>
          </p:nvSpPr>
          <p:spPr>
            <a:xfrm>
              <a:off x="619125" y="3714750"/>
              <a:ext cx="2476500" cy="2286000"/>
            </a:xfrm>
            <a:prstGeom prst="roundRect">
              <a:avLst>
                <a:gd fmla="val 8333" name="adj"/>
              </a:avLst>
            </a:prstGeom>
            <a:solidFill>
              <a:srgbClr val="FEFC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g3a8ad20cbe9_3_35"/>
            <p:cNvSpPr txBox="1"/>
            <p:nvPr/>
          </p:nvSpPr>
          <p:spPr>
            <a:xfrm>
              <a:off x="809625" y="4000500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rgbClr val="EAB308"/>
                  </a:solidFill>
                  <a:latin typeface="Arial"/>
                  <a:ea typeface="Arial"/>
                  <a:cs typeface="Arial"/>
                  <a:sym typeface="Arial"/>
                </a:rPr>
                <a:t>+8%</a:t>
              </a:r>
              <a:endParaRPr b="1" sz="3500">
                <a:solidFill>
                  <a:srgbClr val="EAB30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g3a8ad20cbe9_3_35"/>
            <p:cNvSpPr txBox="1"/>
            <p:nvPr/>
          </p:nvSpPr>
          <p:spPr>
            <a:xfrm>
              <a:off x="809625" y="4667250"/>
              <a:ext cx="2095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número de clientes até dezembro de 2026</a:t>
              </a:r>
              <a:endParaRPr b="0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3" name="Google Shape;723;g3a8ad20cbe9_3_35"/>
          <p:cNvGrpSpPr/>
          <p:nvPr/>
        </p:nvGrpSpPr>
        <p:grpSpPr>
          <a:xfrm>
            <a:off x="3286125" y="3714750"/>
            <a:ext cx="2476500" cy="2286000"/>
            <a:chOff x="3286125" y="3714750"/>
            <a:chExt cx="2476500" cy="2286000"/>
          </a:xfrm>
        </p:grpSpPr>
        <p:sp>
          <p:nvSpPr>
            <p:cNvPr id="724" name="Google Shape;724;g3a8ad20cbe9_3_35"/>
            <p:cNvSpPr/>
            <p:nvPr/>
          </p:nvSpPr>
          <p:spPr>
            <a:xfrm>
              <a:off x="3286125" y="3714750"/>
              <a:ext cx="2476500" cy="2286000"/>
            </a:xfrm>
            <a:prstGeom prst="roundRect">
              <a:avLst>
                <a:gd fmla="val 8333" name="adj"/>
              </a:avLst>
            </a:prstGeom>
            <a:solidFill>
              <a:srgbClr val="FEFC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g3a8ad20cbe9_3_35"/>
            <p:cNvSpPr txBox="1"/>
            <p:nvPr/>
          </p:nvSpPr>
          <p:spPr>
            <a:xfrm>
              <a:off x="3476625" y="4000500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rgbClr val="EAB308"/>
                  </a:solidFill>
                  <a:latin typeface="Arial"/>
                  <a:ea typeface="Arial"/>
                  <a:cs typeface="Arial"/>
                  <a:sym typeface="Arial"/>
                </a:rPr>
                <a:t>+15%</a:t>
              </a:r>
              <a:endParaRPr b="1" sz="3500">
                <a:solidFill>
                  <a:srgbClr val="EAB30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a8ad20cbe9_3_35"/>
            <p:cNvSpPr txBox="1"/>
            <p:nvPr/>
          </p:nvSpPr>
          <p:spPr>
            <a:xfrm>
              <a:off x="3476625" y="4667250"/>
              <a:ext cx="2095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número de clientes até dezembro de 2027</a:t>
              </a:r>
              <a:endParaRPr b="0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7" name="Google Shape;727;g3a8ad20cbe9_3_35"/>
          <p:cNvGrpSpPr/>
          <p:nvPr/>
        </p:nvGrpSpPr>
        <p:grpSpPr>
          <a:xfrm>
            <a:off x="5953125" y="3714750"/>
            <a:ext cx="5619900" cy="2286000"/>
            <a:chOff x="5953125" y="3714750"/>
            <a:chExt cx="5619900" cy="2286000"/>
          </a:xfrm>
        </p:grpSpPr>
        <p:sp>
          <p:nvSpPr>
            <p:cNvPr id="728" name="Google Shape;728;g3a8ad20cbe9_3_35"/>
            <p:cNvSpPr/>
            <p:nvPr/>
          </p:nvSpPr>
          <p:spPr>
            <a:xfrm>
              <a:off x="5953125" y="3714750"/>
              <a:ext cx="5619900" cy="2286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g3a8ad20cbe9_3_35"/>
            <p:cNvSpPr txBox="1"/>
            <p:nvPr/>
          </p:nvSpPr>
          <p:spPr>
            <a:xfrm>
              <a:off x="6238875" y="3905250"/>
              <a:ext cx="4762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AB308"/>
                  </a:solidFill>
                  <a:latin typeface="Arial"/>
                  <a:ea typeface="Arial"/>
                  <a:cs typeface="Arial"/>
                  <a:sym typeface="Arial"/>
                </a:rPr>
                <a:t>Iniciativas</a:t>
              </a:r>
              <a:endParaRPr b="1" sz="1100">
                <a:solidFill>
                  <a:srgbClr val="EAB30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a8ad20cbe9_3_35"/>
            <p:cNvSpPr txBox="1"/>
            <p:nvPr/>
          </p:nvSpPr>
          <p:spPr>
            <a:xfrm>
              <a:off x="6238875" y="4286250"/>
              <a:ext cx="5048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238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b="0" lang="en-US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Novas campanhas via redes sociais</a:t>
              </a:r>
              <a:endParaRPr b="0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b="0" lang="en-US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Captura e qualificação de leads</a:t>
              </a:r>
              <a:endParaRPr b="0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b="0" lang="en-US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Taxa de conversão para 1ª consulta</a:t>
              </a:r>
              <a:endParaRPr b="0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b="0" lang="en-US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Monitoramento da continuidade do tratamento</a:t>
              </a:r>
              <a:endParaRPr b="0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a8ad20cbe9_3_35"/>
          <p:cNvSpPr txBox="1"/>
          <p:nvPr/>
        </p:nvSpPr>
        <p:spPr>
          <a:xfrm>
            <a:off x="953833" y="2926650"/>
            <a:ext cx="4800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32" name="Google Shape;732;g3a8ad20cbe9_3_35"/>
          <p:cNvSpPr txBox="1"/>
          <p:nvPr/>
        </p:nvSpPr>
        <p:spPr>
          <a:xfrm>
            <a:off x="11031569" y="6473952"/>
            <a:ext cx="571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sz="10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g3a8ad20cbe9_3_3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EAB30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4" name="Google Shape;734;g3a8ad20cbe9_3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g3a8ad20cbe9_3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a8ad20cbe9_1_147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g3a8ad20cbe9_1_147"/>
          <p:cNvSpPr txBox="1"/>
          <p:nvPr/>
        </p:nvSpPr>
        <p:spPr>
          <a:xfrm>
            <a:off x="594360" y="347472"/>
            <a:ext cx="87783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Objetivo estratégico 2 - Financeiro</a:t>
            </a:r>
            <a:endParaRPr b="1" sz="26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3a8ad20cbe9_1_147"/>
          <p:cNvSpPr txBox="1"/>
          <p:nvPr/>
        </p:nvSpPr>
        <p:spPr>
          <a:xfrm>
            <a:off x="621792" y="841248"/>
            <a:ext cx="95097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Superar a barreira dos 84 pontos no NPS até 2027</a:t>
            </a:r>
            <a:endParaRPr b="0" sz="13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g3a8ad20cbe9_1_147"/>
          <p:cNvSpPr/>
          <p:nvPr/>
        </p:nvSpPr>
        <p:spPr>
          <a:xfrm>
            <a:off x="619125" y="1285875"/>
            <a:ext cx="10953900" cy="10479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g3a8ad20cbe9_1_147"/>
          <p:cNvSpPr txBox="1"/>
          <p:nvPr/>
        </p:nvSpPr>
        <p:spPr>
          <a:xfrm>
            <a:off x="857250" y="1428750"/>
            <a:ext cx="476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1" sz="1100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3a8ad20cbe9_1_147"/>
          <p:cNvSpPr txBox="1"/>
          <p:nvPr/>
        </p:nvSpPr>
        <p:spPr>
          <a:xfrm>
            <a:off x="857250" y="1714500"/>
            <a:ext cx="10001400" cy="58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Aumentar em até 10% até dezembro de 2027 o investimento em soluções tecnológicas voltadas à experiência do cliente.</a:t>
            </a:r>
            <a:endParaRPr b="0" sz="19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3a8ad20cbe9_1_147"/>
          <p:cNvSpPr/>
          <p:nvPr/>
        </p:nvSpPr>
        <p:spPr>
          <a:xfrm>
            <a:off x="619125" y="2476500"/>
            <a:ext cx="10953900" cy="10479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g3a8ad20cbe9_1_147"/>
          <p:cNvSpPr txBox="1"/>
          <p:nvPr/>
        </p:nvSpPr>
        <p:spPr>
          <a:xfrm>
            <a:off x="857250" y="2619375"/>
            <a:ext cx="476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Indicador</a:t>
            </a:r>
            <a:endParaRPr b="1" sz="1100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a8ad20cbe9_1_147"/>
          <p:cNvSpPr txBox="1"/>
          <p:nvPr/>
        </p:nvSpPr>
        <p:spPr>
          <a:xfrm>
            <a:off x="857250" y="2905125"/>
            <a:ext cx="100014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% de de investimento da receita líquida em tecnologia; ROI dos projetos de IA implantados</a:t>
            </a:r>
            <a:endParaRPr b="0" sz="19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g3a8ad20cbe9_1_147"/>
          <p:cNvSpPr/>
          <p:nvPr/>
        </p:nvSpPr>
        <p:spPr>
          <a:xfrm>
            <a:off x="619125" y="3714750"/>
            <a:ext cx="2476500" cy="2286000"/>
          </a:xfrm>
          <a:prstGeom prst="roundRect">
            <a:avLst>
              <a:gd fmla="val 8333" name="adj"/>
            </a:avLst>
          </a:prstGeom>
          <a:solidFill>
            <a:srgbClr val="F0FD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g3a8ad20cbe9_1_147"/>
          <p:cNvSpPr/>
          <p:nvPr/>
        </p:nvSpPr>
        <p:spPr>
          <a:xfrm>
            <a:off x="809625" y="40005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+5%</a:t>
            </a:r>
            <a:endParaRPr b="1" sz="3600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g3a8ad20cbe9_1_147"/>
          <p:cNvSpPr/>
          <p:nvPr/>
        </p:nvSpPr>
        <p:spPr>
          <a:xfrm>
            <a:off x="809625" y="4667250"/>
            <a:ext cx="20955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investimento em tecnologias até dezembro de 2026</a:t>
            </a:r>
            <a:endParaRPr b="0" sz="14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g3a8ad20cbe9_1_147"/>
          <p:cNvSpPr/>
          <p:nvPr/>
        </p:nvSpPr>
        <p:spPr>
          <a:xfrm>
            <a:off x="3286125" y="3714750"/>
            <a:ext cx="2476500" cy="2286000"/>
          </a:xfrm>
          <a:prstGeom prst="roundRect">
            <a:avLst>
              <a:gd fmla="val 8333" name="adj"/>
            </a:avLst>
          </a:prstGeom>
          <a:solidFill>
            <a:srgbClr val="F0FD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g3a8ad20cbe9_1_147"/>
          <p:cNvSpPr/>
          <p:nvPr/>
        </p:nvSpPr>
        <p:spPr>
          <a:xfrm>
            <a:off x="3476625" y="40005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+10%</a:t>
            </a:r>
            <a:endParaRPr b="1" sz="3600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a8ad20cbe9_1_147"/>
          <p:cNvSpPr/>
          <p:nvPr/>
        </p:nvSpPr>
        <p:spPr>
          <a:xfrm>
            <a:off x="3476625" y="4667250"/>
            <a:ext cx="20955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investimento em tecnologias até dezembro de 2027</a:t>
            </a:r>
            <a:endParaRPr b="0" sz="14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g3a8ad20cbe9_1_147"/>
          <p:cNvSpPr/>
          <p:nvPr/>
        </p:nvSpPr>
        <p:spPr>
          <a:xfrm>
            <a:off x="5953125" y="3714750"/>
            <a:ext cx="5619900" cy="22860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g3a8ad20cbe9_1_147"/>
          <p:cNvSpPr txBox="1"/>
          <p:nvPr/>
        </p:nvSpPr>
        <p:spPr>
          <a:xfrm>
            <a:off x="6238875" y="3905250"/>
            <a:ext cx="476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Iniciativas</a:t>
            </a:r>
            <a:endParaRPr b="1" sz="1100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g3a8ad20cbe9_1_147"/>
          <p:cNvSpPr/>
          <p:nvPr/>
        </p:nvSpPr>
        <p:spPr>
          <a:xfrm>
            <a:off x="6238875" y="4286250"/>
            <a:ext cx="50484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rgbClr val="334155"/>
                </a:solidFill>
              </a:rPr>
              <a:t>Comparar preços praticados no mercado</a:t>
            </a:r>
            <a:endParaRPr sz="1500">
              <a:solidFill>
                <a:srgbClr val="334155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rgbClr val="334155"/>
                </a:solidFill>
              </a:rPr>
              <a:t>Monitorar ticket médio e volume de atendimentos</a:t>
            </a:r>
            <a:endParaRPr sz="1500">
              <a:solidFill>
                <a:srgbClr val="334155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rgbClr val="334155"/>
                </a:solidFill>
              </a:rPr>
              <a:t>Monitorar conversão e pontos de abandono na jornada</a:t>
            </a:r>
            <a:endParaRPr sz="1500">
              <a:solidFill>
                <a:srgbClr val="334155"/>
              </a:solidFill>
            </a:endParaRPr>
          </a:p>
        </p:txBody>
      </p:sp>
      <p:sp>
        <p:nvSpPr>
          <p:cNvPr id="758" name="Google Shape;758;g3a8ad20cbe9_1_147"/>
          <p:cNvSpPr txBox="1"/>
          <p:nvPr/>
        </p:nvSpPr>
        <p:spPr>
          <a:xfrm>
            <a:off x="11029950" y="6477000"/>
            <a:ext cx="571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sz="10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9" name="Google Shape;759;g3a8ad20cbe9_1_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g3a8ad20cbe9_1_1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a8ad20cbe9_4_200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g3a8ad20cbe9_4_2005"/>
          <p:cNvSpPr txBox="1"/>
          <p:nvPr/>
        </p:nvSpPr>
        <p:spPr>
          <a:xfrm>
            <a:off x="594360" y="347472"/>
            <a:ext cx="87783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Objetivo estratégico 2 - Processos Internos </a:t>
            </a:r>
            <a:endParaRPr b="1" sz="27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g3a8ad20cbe9_4_2005"/>
          <p:cNvSpPr txBox="1"/>
          <p:nvPr/>
        </p:nvSpPr>
        <p:spPr>
          <a:xfrm>
            <a:off x="621792" y="841248"/>
            <a:ext cx="95097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Superar a barreira dos 84 pontos no NPS até 2027</a:t>
            </a:r>
            <a:endParaRPr b="0" sz="13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3a8ad20cbe9_4_2005"/>
          <p:cNvSpPr/>
          <p:nvPr/>
        </p:nvSpPr>
        <p:spPr>
          <a:xfrm>
            <a:off x="619125" y="1285875"/>
            <a:ext cx="10953900" cy="10479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g3a8ad20cbe9_4_2005"/>
          <p:cNvSpPr txBox="1"/>
          <p:nvPr/>
        </p:nvSpPr>
        <p:spPr>
          <a:xfrm>
            <a:off x="857250" y="1428750"/>
            <a:ext cx="476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1" i="0" sz="11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g3a8ad20cbe9_4_2005"/>
          <p:cNvSpPr txBox="1"/>
          <p:nvPr/>
        </p:nvSpPr>
        <p:spPr>
          <a:xfrm>
            <a:off x="857250" y="1670198"/>
            <a:ext cx="100014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E293B"/>
                </a:solidFill>
              </a:rPr>
              <a:t>Reduzir em 25% o tempo médio de espera em atendimentos para exames e consultas.</a:t>
            </a:r>
            <a:endParaRPr b="0" sz="19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g3a8ad20cbe9_4_2005"/>
          <p:cNvSpPr/>
          <p:nvPr/>
        </p:nvSpPr>
        <p:spPr>
          <a:xfrm>
            <a:off x="619125" y="2476500"/>
            <a:ext cx="10953900" cy="10479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g3a8ad20cbe9_4_2005"/>
          <p:cNvSpPr txBox="1"/>
          <p:nvPr/>
        </p:nvSpPr>
        <p:spPr>
          <a:xfrm>
            <a:off x="857250" y="2619375"/>
            <a:ext cx="476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Indicador</a:t>
            </a:r>
            <a:endParaRPr b="1" i="0" sz="11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3a8ad20cbe9_4_2005"/>
          <p:cNvSpPr txBox="1"/>
          <p:nvPr/>
        </p:nvSpPr>
        <p:spPr>
          <a:xfrm>
            <a:off x="857250" y="2905125"/>
            <a:ext cx="10561800" cy="58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A1A1A"/>
                </a:solidFill>
              </a:rPr>
              <a:t>Tempo médio de espera nos principais serviços de saúde; Número de </a:t>
            </a:r>
            <a:r>
              <a:rPr lang="en-US" sz="1900">
                <a:solidFill>
                  <a:srgbClr val="1A1A1A"/>
                </a:solidFill>
              </a:rPr>
              <a:t>reclamações</a:t>
            </a:r>
            <a:r>
              <a:rPr lang="en-US" sz="1900">
                <a:solidFill>
                  <a:srgbClr val="1A1A1A"/>
                </a:solidFill>
              </a:rPr>
              <a:t> do Reclame aqui/ Google maps</a:t>
            </a:r>
            <a:endParaRPr sz="1900">
              <a:solidFill>
                <a:srgbClr val="1E293B"/>
              </a:solidFill>
            </a:endParaRPr>
          </a:p>
        </p:txBody>
      </p:sp>
      <p:sp>
        <p:nvSpPr>
          <p:cNvPr id="774" name="Google Shape;774;g3a8ad20cbe9_4_2005"/>
          <p:cNvSpPr/>
          <p:nvPr/>
        </p:nvSpPr>
        <p:spPr>
          <a:xfrm>
            <a:off x="619125" y="3714750"/>
            <a:ext cx="2476500" cy="2286000"/>
          </a:xfrm>
          <a:prstGeom prst="roundRect">
            <a:avLst>
              <a:gd fmla="val 8333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g3a8ad20cbe9_4_2005"/>
          <p:cNvSpPr/>
          <p:nvPr/>
        </p:nvSpPr>
        <p:spPr>
          <a:xfrm>
            <a:off x="809625" y="40005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57200" lvl="0" marL="45720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Arial"/>
              <a:buChar char="-"/>
            </a:pPr>
            <a:r>
              <a:rPr b="1" lang="en-US" sz="36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1" i="0" lang="en-US" sz="36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1" i="0" sz="36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g3a8ad20cbe9_4_2005"/>
          <p:cNvSpPr/>
          <p:nvPr/>
        </p:nvSpPr>
        <p:spPr>
          <a:xfrm>
            <a:off x="809625" y="4667250"/>
            <a:ext cx="20955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5569"/>
                </a:solidFill>
              </a:rPr>
              <a:t>tempo médio de espera em serviços principais até dezembro de 2026.</a:t>
            </a:r>
            <a:endParaRPr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75569"/>
              </a:solidFill>
            </a:endParaRPr>
          </a:p>
        </p:txBody>
      </p:sp>
      <p:sp>
        <p:nvSpPr>
          <p:cNvPr id="777" name="Google Shape;777;g3a8ad20cbe9_4_2005"/>
          <p:cNvSpPr/>
          <p:nvPr/>
        </p:nvSpPr>
        <p:spPr>
          <a:xfrm>
            <a:off x="3286125" y="3714750"/>
            <a:ext cx="2476500" cy="2286000"/>
          </a:xfrm>
          <a:prstGeom prst="roundRect">
            <a:avLst>
              <a:gd fmla="val 8333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g3a8ad20cbe9_4_2005"/>
          <p:cNvSpPr/>
          <p:nvPr/>
        </p:nvSpPr>
        <p:spPr>
          <a:xfrm>
            <a:off x="3476625" y="40005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57200" lvl="0" marL="45720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Arial"/>
              <a:buChar char="-"/>
            </a:pPr>
            <a:r>
              <a:rPr b="1" lang="en-US" sz="36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r>
              <a:rPr b="1" i="0" lang="en-US" sz="36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1" i="0" sz="36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g3a8ad20cbe9_4_2005"/>
          <p:cNvSpPr/>
          <p:nvPr/>
        </p:nvSpPr>
        <p:spPr>
          <a:xfrm>
            <a:off x="3476625" y="4667250"/>
            <a:ext cx="20955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475569"/>
                </a:solidFill>
              </a:rPr>
              <a:t>tempo médio de espera em serviços principais até dezembro de 2027. </a:t>
            </a:r>
            <a:endParaRPr b="0" sz="14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g3a8ad20cbe9_4_2005"/>
          <p:cNvSpPr/>
          <p:nvPr/>
        </p:nvSpPr>
        <p:spPr>
          <a:xfrm>
            <a:off x="5953125" y="3714750"/>
            <a:ext cx="5619900" cy="22860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g3a8ad20cbe9_4_2005"/>
          <p:cNvSpPr txBox="1"/>
          <p:nvPr/>
        </p:nvSpPr>
        <p:spPr>
          <a:xfrm>
            <a:off x="6238875" y="3905250"/>
            <a:ext cx="476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Iniciativas</a:t>
            </a:r>
            <a:endParaRPr b="1" i="0" sz="11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g3a8ad20cbe9_4_2005"/>
          <p:cNvSpPr/>
          <p:nvPr/>
        </p:nvSpPr>
        <p:spPr>
          <a:xfrm>
            <a:off x="6238875" y="4286250"/>
            <a:ext cx="50484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●"/>
            </a:pPr>
            <a:r>
              <a:rPr b="0" lang="en-US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Mapear tecnologias no mercado</a:t>
            </a:r>
            <a:endParaRPr b="0" sz="15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●"/>
            </a:pPr>
            <a:r>
              <a:rPr b="0" lang="en-US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Priorizar IA para leitura de laudos</a:t>
            </a:r>
            <a:endParaRPr b="0" sz="15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●"/>
            </a:pPr>
            <a:r>
              <a:rPr b="0" lang="en-US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Priorizar IA para análise da voz do paciente</a:t>
            </a:r>
            <a:endParaRPr b="0" sz="15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●"/>
            </a:pPr>
            <a:r>
              <a:rPr b="0" lang="en-US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Monitorar ROI por projeto implantado</a:t>
            </a:r>
            <a:endParaRPr b="0" sz="15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g3a8ad20cbe9_4_2005"/>
          <p:cNvSpPr txBox="1"/>
          <p:nvPr/>
        </p:nvSpPr>
        <p:spPr>
          <a:xfrm>
            <a:off x="11029950" y="6477000"/>
            <a:ext cx="571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sz="10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4" name="Google Shape;784;g3a8ad20cbe9_4_20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g3a8ad20cbe9_4_20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a8ad20cbe9_4_205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g3a8ad20cbe9_4_2050"/>
          <p:cNvSpPr txBox="1"/>
          <p:nvPr/>
        </p:nvSpPr>
        <p:spPr>
          <a:xfrm>
            <a:off x="594360" y="347472"/>
            <a:ext cx="87783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Objetivo estratégico 2 - Aprendizado e Crescimento </a:t>
            </a:r>
            <a:endParaRPr b="1" sz="27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g3a8ad20cbe9_4_2050"/>
          <p:cNvSpPr txBox="1"/>
          <p:nvPr/>
        </p:nvSpPr>
        <p:spPr>
          <a:xfrm>
            <a:off x="621792" y="841248"/>
            <a:ext cx="95097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Superar a barreira dos 84 pontos no NPS até 2027</a:t>
            </a:r>
            <a:endParaRPr b="0" sz="13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g3a8ad20cbe9_4_2050"/>
          <p:cNvSpPr/>
          <p:nvPr/>
        </p:nvSpPr>
        <p:spPr>
          <a:xfrm>
            <a:off x="619125" y="1285875"/>
            <a:ext cx="10953900" cy="10479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94" name="Google Shape;794;g3a8ad20cbe9_4_2050"/>
          <p:cNvSpPr txBox="1"/>
          <p:nvPr/>
        </p:nvSpPr>
        <p:spPr>
          <a:xfrm>
            <a:off x="857250" y="1428750"/>
            <a:ext cx="476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1" sz="1100">
              <a:solidFill>
                <a:srgbClr val="F973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g3a8ad20cbe9_4_2050"/>
          <p:cNvSpPr txBox="1"/>
          <p:nvPr/>
        </p:nvSpPr>
        <p:spPr>
          <a:xfrm>
            <a:off x="857250" y="1670198"/>
            <a:ext cx="10001400" cy="56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E293B"/>
                </a:solidFill>
              </a:rPr>
              <a:t>Desenvolver  um treinamento de atendimento aos funcionários a cada 6 meses</a:t>
            </a:r>
            <a:endParaRPr sz="1900">
              <a:solidFill>
                <a:srgbClr val="1E293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93B"/>
              </a:solidFill>
            </a:endParaRPr>
          </a:p>
        </p:txBody>
      </p:sp>
      <p:sp>
        <p:nvSpPr>
          <p:cNvPr id="796" name="Google Shape;796;g3a8ad20cbe9_4_2050"/>
          <p:cNvSpPr/>
          <p:nvPr/>
        </p:nvSpPr>
        <p:spPr>
          <a:xfrm>
            <a:off x="619125" y="2476500"/>
            <a:ext cx="10953900" cy="10479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g3a8ad20cbe9_4_2050"/>
          <p:cNvSpPr txBox="1"/>
          <p:nvPr/>
        </p:nvSpPr>
        <p:spPr>
          <a:xfrm>
            <a:off x="857250" y="2619375"/>
            <a:ext cx="476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Indicador</a:t>
            </a:r>
            <a:endParaRPr b="1" sz="1100">
              <a:solidFill>
                <a:srgbClr val="F973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g3a8ad20cbe9_4_2050"/>
          <p:cNvSpPr txBox="1"/>
          <p:nvPr/>
        </p:nvSpPr>
        <p:spPr>
          <a:xfrm>
            <a:off x="857250" y="2905125"/>
            <a:ext cx="105618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A1A1A"/>
                </a:solidFill>
              </a:rPr>
              <a:t>Número de treinamentos realizados; Número de treinamento por colaborador; </a:t>
            </a:r>
            <a:endParaRPr sz="1900">
              <a:solidFill>
                <a:srgbClr val="1A1A1A"/>
              </a:solidFill>
            </a:endParaRPr>
          </a:p>
        </p:txBody>
      </p:sp>
      <p:sp>
        <p:nvSpPr>
          <p:cNvPr id="799" name="Google Shape;799;g3a8ad20cbe9_4_2050"/>
          <p:cNvSpPr/>
          <p:nvPr/>
        </p:nvSpPr>
        <p:spPr>
          <a:xfrm>
            <a:off x="619125" y="3714750"/>
            <a:ext cx="2476500" cy="2286000"/>
          </a:xfrm>
          <a:prstGeom prst="roundRect">
            <a:avLst>
              <a:gd fmla="val 8333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g3a8ad20cbe9_4_2050"/>
          <p:cNvSpPr/>
          <p:nvPr/>
        </p:nvSpPr>
        <p:spPr>
          <a:xfrm>
            <a:off x="809625" y="40005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g3a8ad20cbe9_4_2050"/>
          <p:cNvSpPr/>
          <p:nvPr/>
        </p:nvSpPr>
        <p:spPr>
          <a:xfrm>
            <a:off x="809625" y="4667250"/>
            <a:ext cx="20955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5569"/>
                </a:solidFill>
              </a:rPr>
              <a:t>horas semanais dedicadas à capacitação em atendimento ao cliente</a:t>
            </a:r>
            <a:endParaRPr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75569"/>
              </a:solidFill>
            </a:endParaRPr>
          </a:p>
        </p:txBody>
      </p:sp>
      <p:sp>
        <p:nvSpPr>
          <p:cNvPr id="802" name="Google Shape;802;g3a8ad20cbe9_4_2050"/>
          <p:cNvSpPr/>
          <p:nvPr/>
        </p:nvSpPr>
        <p:spPr>
          <a:xfrm>
            <a:off x="3286125" y="3714750"/>
            <a:ext cx="2476500" cy="2286000"/>
          </a:xfrm>
          <a:prstGeom prst="roundRect">
            <a:avLst>
              <a:gd fmla="val 8333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g3a8ad20cbe9_4_2050"/>
          <p:cNvSpPr/>
          <p:nvPr/>
        </p:nvSpPr>
        <p:spPr>
          <a:xfrm>
            <a:off x="3476625" y="40005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≥ 1</a:t>
            </a:r>
            <a:endParaRPr b="1" sz="3600">
              <a:solidFill>
                <a:srgbClr val="EA58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3a8ad20cbe9_4_2050"/>
          <p:cNvSpPr/>
          <p:nvPr/>
        </p:nvSpPr>
        <p:spPr>
          <a:xfrm>
            <a:off x="3476625" y="4667250"/>
            <a:ext cx="20955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5569"/>
                </a:solidFill>
              </a:rPr>
              <a:t>Capacitação por colaborador a cada 6 meses</a:t>
            </a:r>
            <a:endParaRPr b="0" sz="14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3a8ad20cbe9_4_2050"/>
          <p:cNvSpPr/>
          <p:nvPr/>
        </p:nvSpPr>
        <p:spPr>
          <a:xfrm>
            <a:off x="5953125" y="3714750"/>
            <a:ext cx="5619900" cy="22860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g3a8ad20cbe9_4_2050"/>
          <p:cNvSpPr txBox="1"/>
          <p:nvPr/>
        </p:nvSpPr>
        <p:spPr>
          <a:xfrm>
            <a:off x="6238875" y="3905250"/>
            <a:ext cx="476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Iniciativas</a:t>
            </a:r>
            <a:endParaRPr b="1" sz="1100">
              <a:solidFill>
                <a:srgbClr val="F973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g3a8ad20cbe9_4_2050"/>
          <p:cNvSpPr/>
          <p:nvPr/>
        </p:nvSpPr>
        <p:spPr>
          <a:xfrm>
            <a:off x="6238875" y="4286250"/>
            <a:ext cx="50484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rgbClr val="334155"/>
                </a:solidFill>
              </a:rPr>
              <a:t>Parcerias com centros de excelência </a:t>
            </a:r>
            <a:endParaRPr sz="1500">
              <a:solidFill>
                <a:srgbClr val="334155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rgbClr val="334155"/>
                </a:solidFill>
              </a:rPr>
              <a:t>Palestras e treinamentos regulares </a:t>
            </a:r>
            <a:endParaRPr sz="1500">
              <a:solidFill>
                <a:srgbClr val="334155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rgbClr val="334155"/>
                </a:solidFill>
              </a:rPr>
              <a:t>Extração de feedback dos funcionários sobre os treinamentos</a:t>
            </a:r>
            <a:endParaRPr sz="1500">
              <a:solidFill>
                <a:srgbClr val="334155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rgbClr val="334155"/>
                </a:solidFill>
              </a:rPr>
              <a:t>Acompanhamento sistemático de horas/ano por colaborador</a:t>
            </a:r>
            <a:endParaRPr sz="1500">
              <a:solidFill>
                <a:srgbClr val="334155"/>
              </a:solidFill>
            </a:endParaRPr>
          </a:p>
        </p:txBody>
      </p:sp>
      <p:sp>
        <p:nvSpPr>
          <p:cNvPr id="808" name="Google Shape;808;g3a8ad20cbe9_4_2050"/>
          <p:cNvSpPr txBox="1"/>
          <p:nvPr/>
        </p:nvSpPr>
        <p:spPr>
          <a:xfrm>
            <a:off x="11029950" y="6477000"/>
            <a:ext cx="571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sz="10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g3a8ad20cbe9_4_2050"/>
          <p:cNvSpPr/>
          <p:nvPr/>
        </p:nvSpPr>
        <p:spPr>
          <a:xfrm>
            <a:off x="809625" y="40005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≥ 5</a:t>
            </a:r>
            <a:endParaRPr b="1" sz="3600">
              <a:solidFill>
                <a:srgbClr val="EA58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0" name="Google Shape;810;g3a8ad20cbe9_4_20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g3a8ad20cbe9_4_20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a8ad20cbe9_4_2027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g3a8ad20cbe9_4_2027"/>
          <p:cNvSpPr txBox="1"/>
          <p:nvPr/>
        </p:nvSpPr>
        <p:spPr>
          <a:xfrm>
            <a:off x="594360" y="347472"/>
            <a:ext cx="87783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Objetivo estratégico 2 - Clientes</a:t>
            </a:r>
            <a:endParaRPr b="1" sz="27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g3a8ad20cbe9_4_2027"/>
          <p:cNvSpPr txBox="1"/>
          <p:nvPr/>
        </p:nvSpPr>
        <p:spPr>
          <a:xfrm>
            <a:off x="621792" y="841248"/>
            <a:ext cx="95097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Superar a barreira dos 84 pontos no NPS até 2027</a:t>
            </a:r>
            <a:endParaRPr b="0" sz="13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g3a8ad20cbe9_4_2027"/>
          <p:cNvSpPr/>
          <p:nvPr/>
        </p:nvSpPr>
        <p:spPr>
          <a:xfrm>
            <a:off x="619125" y="1285875"/>
            <a:ext cx="10953900" cy="10479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g3a8ad20cbe9_4_2027"/>
          <p:cNvSpPr txBox="1"/>
          <p:nvPr/>
        </p:nvSpPr>
        <p:spPr>
          <a:xfrm>
            <a:off x="857250" y="1428750"/>
            <a:ext cx="476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1" sz="1100">
              <a:solidFill>
                <a:srgbClr val="854D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g3a8ad20cbe9_4_2027"/>
          <p:cNvSpPr txBox="1"/>
          <p:nvPr/>
        </p:nvSpPr>
        <p:spPr>
          <a:xfrm>
            <a:off x="857250" y="1670198"/>
            <a:ext cx="10001400" cy="56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E293B"/>
                </a:solidFill>
              </a:rPr>
              <a:t>Reduzir  em 10%  as reclamações dos clientes com relação ao atendimento.</a:t>
            </a:r>
            <a:endParaRPr sz="1900">
              <a:solidFill>
                <a:srgbClr val="1E293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93B"/>
              </a:solidFill>
            </a:endParaRPr>
          </a:p>
        </p:txBody>
      </p:sp>
      <p:sp>
        <p:nvSpPr>
          <p:cNvPr id="822" name="Google Shape;822;g3a8ad20cbe9_4_2027"/>
          <p:cNvSpPr/>
          <p:nvPr/>
        </p:nvSpPr>
        <p:spPr>
          <a:xfrm>
            <a:off x="619125" y="2476500"/>
            <a:ext cx="10953900" cy="10479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g3a8ad20cbe9_4_2027"/>
          <p:cNvSpPr txBox="1"/>
          <p:nvPr/>
        </p:nvSpPr>
        <p:spPr>
          <a:xfrm>
            <a:off x="857250" y="2619375"/>
            <a:ext cx="476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Indicador</a:t>
            </a:r>
            <a:endParaRPr b="1" sz="1100">
              <a:solidFill>
                <a:srgbClr val="854D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3a8ad20cbe9_4_2027"/>
          <p:cNvSpPr txBox="1"/>
          <p:nvPr/>
        </p:nvSpPr>
        <p:spPr>
          <a:xfrm>
            <a:off x="857250" y="2905125"/>
            <a:ext cx="10561800" cy="58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A1A1A"/>
                </a:solidFill>
              </a:rPr>
              <a:t>Número de reclamações da ouvidoria; Número de reclamações no </a:t>
            </a:r>
            <a:r>
              <a:rPr lang="en-US" sz="1900">
                <a:solidFill>
                  <a:srgbClr val="1A1A1A"/>
                </a:solidFill>
              </a:rPr>
              <a:t>reclame</a:t>
            </a:r>
            <a:r>
              <a:rPr lang="en-US" sz="1900">
                <a:solidFill>
                  <a:srgbClr val="1A1A1A"/>
                </a:solidFill>
              </a:rPr>
              <a:t> aqui/ google maps, NPS</a:t>
            </a:r>
            <a:endParaRPr sz="1900">
              <a:solidFill>
                <a:srgbClr val="1A1A1A"/>
              </a:solidFill>
            </a:endParaRPr>
          </a:p>
        </p:txBody>
      </p:sp>
      <p:sp>
        <p:nvSpPr>
          <p:cNvPr id="825" name="Google Shape;825;g3a8ad20cbe9_4_2027"/>
          <p:cNvSpPr/>
          <p:nvPr/>
        </p:nvSpPr>
        <p:spPr>
          <a:xfrm>
            <a:off x="619125" y="3714750"/>
            <a:ext cx="2476500" cy="2286000"/>
          </a:xfrm>
          <a:prstGeom prst="roundRect">
            <a:avLst>
              <a:gd fmla="val 8333" name="adj"/>
            </a:avLst>
          </a:prstGeom>
          <a:solidFill>
            <a:srgbClr val="FEF9C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g3a8ad20cbe9_4_2027"/>
          <p:cNvSpPr/>
          <p:nvPr/>
        </p:nvSpPr>
        <p:spPr>
          <a:xfrm>
            <a:off x="809625" y="40005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3a8ad20cbe9_4_2027"/>
          <p:cNvSpPr/>
          <p:nvPr/>
        </p:nvSpPr>
        <p:spPr>
          <a:xfrm>
            <a:off x="809625" y="4667250"/>
            <a:ext cx="20955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5569"/>
                </a:solidFill>
              </a:rPr>
              <a:t>Número </a:t>
            </a:r>
            <a:endParaRPr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5569"/>
                </a:solidFill>
              </a:rPr>
              <a:t>de reclamações até deembro de 2026</a:t>
            </a:r>
            <a:endParaRPr>
              <a:solidFill>
                <a:srgbClr val="475569"/>
              </a:solidFill>
            </a:endParaRPr>
          </a:p>
        </p:txBody>
      </p:sp>
      <p:sp>
        <p:nvSpPr>
          <p:cNvPr id="828" name="Google Shape;828;g3a8ad20cbe9_4_2027"/>
          <p:cNvSpPr/>
          <p:nvPr/>
        </p:nvSpPr>
        <p:spPr>
          <a:xfrm>
            <a:off x="3286125" y="3714750"/>
            <a:ext cx="2476500" cy="2286000"/>
          </a:xfrm>
          <a:prstGeom prst="roundRect">
            <a:avLst>
              <a:gd fmla="val 8333" name="adj"/>
            </a:avLst>
          </a:prstGeom>
          <a:solidFill>
            <a:srgbClr val="FEF9C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g3a8ad20cbe9_4_2027"/>
          <p:cNvSpPr/>
          <p:nvPr/>
        </p:nvSpPr>
        <p:spPr>
          <a:xfrm>
            <a:off x="3476625" y="40005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A16207"/>
                </a:solidFill>
                <a:latin typeface="Arial"/>
                <a:ea typeface="Arial"/>
                <a:cs typeface="Arial"/>
                <a:sym typeface="Arial"/>
              </a:rPr>
              <a:t>     -10%</a:t>
            </a:r>
            <a:endParaRPr b="1" sz="3600">
              <a:solidFill>
                <a:srgbClr val="A1620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g3a8ad20cbe9_4_2027"/>
          <p:cNvSpPr/>
          <p:nvPr/>
        </p:nvSpPr>
        <p:spPr>
          <a:xfrm>
            <a:off x="3476625" y="4667250"/>
            <a:ext cx="20955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475569"/>
                </a:solidFill>
              </a:rPr>
              <a:t>Número </a:t>
            </a:r>
            <a:endParaRPr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475569"/>
                </a:solidFill>
              </a:rPr>
              <a:t>de reclamações até dezembro de 2026</a:t>
            </a:r>
            <a:endParaRPr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75569"/>
              </a:solidFill>
            </a:endParaRPr>
          </a:p>
        </p:txBody>
      </p:sp>
      <p:sp>
        <p:nvSpPr>
          <p:cNvPr id="831" name="Google Shape;831;g3a8ad20cbe9_4_2027"/>
          <p:cNvSpPr/>
          <p:nvPr/>
        </p:nvSpPr>
        <p:spPr>
          <a:xfrm>
            <a:off x="5953125" y="3714750"/>
            <a:ext cx="5619900" cy="22860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g3a8ad20cbe9_4_2027"/>
          <p:cNvSpPr txBox="1"/>
          <p:nvPr/>
        </p:nvSpPr>
        <p:spPr>
          <a:xfrm>
            <a:off x="6238875" y="3905250"/>
            <a:ext cx="476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Iniciativas</a:t>
            </a:r>
            <a:endParaRPr b="1" sz="1100">
              <a:solidFill>
                <a:srgbClr val="854D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g3a8ad20cbe9_4_2027"/>
          <p:cNvSpPr/>
          <p:nvPr/>
        </p:nvSpPr>
        <p:spPr>
          <a:xfrm>
            <a:off x="6238875" y="4188050"/>
            <a:ext cx="52356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rgbClr val="334155"/>
                </a:solidFill>
              </a:rPr>
              <a:t>Mensuração contínua de NPS por jornada</a:t>
            </a:r>
            <a:endParaRPr sz="1500">
              <a:solidFill>
                <a:srgbClr val="334155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rgbClr val="334155"/>
                </a:solidFill>
              </a:rPr>
              <a:t>Comitê mensal de experiência </a:t>
            </a:r>
            <a:endParaRPr sz="1500">
              <a:solidFill>
                <a:srgbClr val="334155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rgbClr val="334155"/>
                </a:solidFill>
              </a:rPr>
              <a:t>Recuperação de detratores em até 48 horas</a:t>
            </a:r>
            <a:endParaRPr sz="1500">
              <a:solidFill>
                <a:srgbClr val="334155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rgbClr val="334155"/>
                </a:solidFill>
              </a:rPr>
              <a:t>Monitoramento de feedback em Reclame Aqui e Google</a:t>
            </a:r>
            <a:endParaRPr sz="1500">
              <a:solidFill>
                <a:srgbClr val="334155"/>
              </a:solidFill>
            </a:endParaRPr>
          </a:p>
        </p:txBody>
      </p:sp>
      <p:sp>
        <p:nvSpPr>
          <p:cNvPr id="834" name="Google Shape;834;g3a8ad20cbe9_4_2027"/>
          <p:cNvSpPr txBox="1"/>
          <p:nvPr/>
        </p:nvSpPr>
        <p:spPr>
          <a:xfrm>
            <a:off x="11029950" y="6477000"/>
            <a:ext cx="571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sz="10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g3a8ad20cbe9_4_2027"/>
          <p:cNvSpPr/>
          <p:nvPr/>
        </p:nvSpPr>
        <p:spPr>
          <a:xfrm>
            <a:off x="809625" y="40005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A16207"/>
                </a:solidFill>
                <a:latin typeface="Arial"/>
                <a:ea typeface="Arial"/>
                <a:cs typeface="Arial"/>
                <a:sym typeface="Arial"/>
              </a:rPr>
              <a:t>     -5%</a:t>
            </a:r>
            <a:endParaRPr b="1" sz="3600">
              <a:solidFill>
                <a:srgbClr val="A1620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6" name="Google Shape;836;g3a8ad20cbe9_4_20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g3a8ad20cbe9_4_20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1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1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Plano 5W2H: chat remoto com IA</a:t>
            </a:r>
            <a:endParaRPr sz="2700"/>
          </a:p>
        </p:txBody>
      </p:sp>
      <p:sp>
        <p:nvSpPr>
          <p:cNvPr id="844" name="Google Shape;844;p21"/>
          <p:cNvSpPr txBox="1"/>
          <p:nvPr/>
        </p:nvSpPr>
        <p:spPr>
          <a:xfrm>
            <a:off x="621792" y="841248"/>
            <a:ext cx="9509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Ação 1 vinculada à inovação, atendimento e NPS</a:t>
            </a:r>
            <a:endParaRPr sz="1800"/>
          </a:p>
        </p:txBody>
      </p:sp>
      <p:sp>
        <p:nvSpPr>
          <p:cNvPr id="845" name="Google Shape;845;p21"/>
          <p:cNvSpPr txBox="1"/>
          <p:nvPr/>
        </p:nvSpPr>
        <p:spPr>
          <a:xfrm>
            <a:off x="11292840" y="6473952"/>
            <a:ext cx="27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846" name="Google Shape;846;p21"/>
          <p:cNvSpPr/>
          <p:nvPr/>
        </p:nvSpPr>
        <p:spPr>
          <a:xfrm>
            <a:off x="740825" y="1252425"/>
            <a:ext cx="5074800" cy="121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1"/>
          <p:cNvSpPr/>
          <p:nvPr/>
        </p:nvSpPr>
        <p:spPr>
          <a:xfrm>
            <a:off x="740825" y="1318125"/>
            <a:ext cx="73200" cy="11037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1"/>
          <p:cNvSpPr txBox="1"/>
          <p:nvPr/>
        </p:nvSpPr>
        <p:spPr>
          <a:xfrm>
            <a:off x="941832" y="1280160"/>
            <a:ext cx="480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endParaRPr sz="1800"/>
          </a:p>
        </p:txBody>
      </p:sp>
      <p:sp>
        <p:nvSpPr>
          <p:cNvPr id="849" name="Google Shape;849;p21"/>
          <p:cNvSpPr txBox="1"/>
          <p:nvPr/>
        </p:nvSpPr>
        <p:spPr>
          <a:xfrm>
            <a:off x="941832" y="1645920"/>
            <a:ext cx="4755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Implantar ao menos um chat remoto de IA para eficiência operacional, prevenção de doenças e adesão ao tratamento</a:t>
            </a:r>
            <a:r>
              <a:rPr lang="en-US" sz="1600">
                <a:solidFill>
                  <a:srgbClr val="1F2937"/>
                </a:solidFill>
              </a:rPr>
              <a:t> até 2028</a:t>
            </a:r>
            <a:endParaRPr sz="1600"/>
          </a:p>
        </p:txBody>
      </p:sp>
      <p:sp>
        <p:nvSpPr>
          <p:cNvPr id="850" name="Google Shape;850;p21"/>
          <p:cNvSpPr/>
          <p:nvPr/>
        </p:nvSpPr>
        <p:spPr>
          <a:xfrm>
            <a:off x="6355075" y="1143000"/>
            <a:ext cx="5074800" cy="1103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1"/>
          <p:cNvSpPr/>
          <p:nvPr/>
        </p:nvSpPr>
        <p:spPr>
          <a:xfrm>
            <a:off x="6332254" y="1224125"/>
            <a:ext cx="73200" cy="9600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1"/>
          <p:cNvSpPr txBox="1"/>
          <p:nvPr/>
        </p:nvSpPr>
        <p:spPr>
          <a:xfrm>
            <a:off x="6519671" y="1280160"/>
            <a:ext cx="48006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endParaRPr sz="1600"/>
          </a:p>
        </p:txBody>
      </p:sp>
      <p:sp>
        <p:nvSpPr>
          <p:cNvPr id="853" name="Google Shape;853;p21"/>
          <p:cNvSpPr txBox="1"/>
          <p:nvPr/>
        </p:nvSpPr>
        <p:spPr>
          <a:xfrm>
            <a:off x="6519671" y="1645920"/>
            <a:ext cx="4755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Melhorar a comunicação externa do Sírio-Libanês e reduzir pontos de atrito na jornada do paciente.</a:t>
            </a:r>
            <a:endParaRPr sz="1600"/>
          </a:p>
        </p:txBody>
      </p:sp>
      <p:sp>
        <p:nvSpPr>
          <p:cNvPr id="854" name="Google Shape;854;p21"/>
          <p:cNvSpPr/>
          <p:nvPr/>
        </p:nvSpPr>
        <p:spPr>
          <a:xfrm>
            <a:off x="740825" y="2578125"/>
            <a:ext cx="5074800" cy="121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1"/>
          <p:cNvSpPr/>
          <p:nvPr/>
        </p:nvSpPr>
        <p:spPr>
          <a:xfrm>
            <a:off x="740825" y="2631150"/>
            <a:ext cx="73200" cy="10791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1"/>
          <p:cNvSpPr txBox="1"/>
          <p:nvPr/>
        </p:nvSpPr>
        <p:spPr>
          <a:xfrm>
            <a:off x="877932" y="2619000"/>
            <a:ext cx="480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Who</a:t>
            </a:r>
            <a:endParaRPr sz="1800"/>
          </a:p>
        </p:txBody>
      </p:sp>
      <p:sp>
        <p:nvSpPr>
          <p:cNvPr id="857" name="Google Shape;857;p21"/>
          <p:cNvSpPr txBox="1"/>
          <p:nvPr/>
        </p:nvSpPr>
        <p:spPr>
          <a:xfrm>
            <a:off x="900732" y="2990497"/>
            <a:ext cx="4755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Equipe de tecnologia e atendimento, com apoio de experiência do paciente e segurança da informação.</a:t>
            </a:r>
            <a:endParaRPr sz="1600"/>
          </a:p>
        </p:txBody>
      </p:sp>
      <p:sp>
        <p:nvSpPr>
          <p:cNvPr id="858" name="Google Shape;858;p21"/>
          <p:cNvSpPr/>
          <p:nvPr/>
        </p:nvSpPr>
        <p:spPr>
          <a:xfrm>
            <a:off x="6297279" y="2577477"/>
            <a:ext cx="5074800" cy="96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1"/>
          <p:cNvSpPr/>
          <p:nvPr/>
        </p:nvSpPr>
        <p:spPr>
          <a:xfrm>
            <a:off x="6297279" y="2577477"/>
            <a:ext cx="73200" cy="9600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1"/>
          <p:cNvSpPr txBox="1"/>
          <p:nvPr/>
        </p:nvSpPr>
        <p:spPr>
          <a:xfrm>
            <a:off x="6492171" y="2631162"/>
            <a:ext cx="480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endParaRPr sz="1800"/>
          </a:p>
        </p:txBody>
      </p:sp>
      <p:sp>
        <p:nvSpPr>
          <p:cNvPr id="861" name="Google Shape;861;p21"/>
          <p:cNvSpPr txBox="1"/>
          <p:nvPr/>
        </p:nvSpPr>
        <p:spPr>
          <a:xfrm>
            <a:off x="6514971" y="2965210"/>
            <a:ext cx="4755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Mapeamento, seleção e início do piloto em até 6 meses. Consolidação até 2028.</a:t>
            </a:r>
            <a:endParaRPr sz="1600"/>
          </a:p>
        </p:txBody>
      </p:sp>
      <p:sp>
        <p:nvSpPr>
          <p:cNvPr id="862" name="Google Shape;862;p21"/>
          <p:cNvSpPr/>
          <p:nvPr/>
        </p:nvSpPr>
        <p:spPr>
          <a:xfrm>
            <a:off x="781925" y="3957853"/>
            <a:ext cx="5074800" cy="99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1"/>
          <p:cNvSpPr/>
          <p:nvPr/>
        </p:nvSpPr>
        <p:spPr>
          <a:xfrm>
            <a:off x="777240" y="3973892"/>
            <a:ext cx="73200" cy="9600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1"/>
          <p:cNvSpPr txBox="1"/>
          <p:nvPr/>
        </p:nvSpPr>
        <p:spPr>
          <a:xfrm>
            <a:off x="941832" y="4016327"/>
            <a:ext cx="480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endParaRPr sz="1800"/>
          </a:p>
        </p:txBody>
      </p:sp>
      <p:sp>
        <p:nvSpPr>
          <p:cNvPr id="865" name="Google Shape;865;p21"/>
          <p:cNvSpPr txBox="1"/>
          <p:nvPr/>
        </p:nvSpPr>
        <p:spPr>
          <a:xfrm>
            <a:off x="900725" y="4330425"/>
            <a:ext cx="4755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Matriz em São Paulo, com possibilidade de expansão posterior.</a:t>
            </a:r>
            <a:endParaRPr sz="1600"/>
          </a:p>
        </p:txBody>
      </p:sp>
      <p:sp>
        <p:nvSpPr>
          <p:cNvPr id="866" name="Google Shape;866;p21"/>
          <p:cNvSpPr/>
          <p:nvPr/>
        </p:nvSpPr>
        <p:spPr>
          <a:xfrm>
            <a:off x="6332254" y="4082129"/>
            <a:ext cx="5074800" cy="96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1"/>
          <p:cNvSpPr/>
          <p:nvPr/>
        </p:nvSpPr>
        <p:spPr>
          <a:xfrm>
            <a:off x="6332254" y="4082129"/>
            <a:ext cx="73200" cy="9600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1"/>
          <p:cNvSpPr txBox="1"/>
          <p:nvPr/>
        </p:nvSpPr>
        <p:spPr>
          <a:xfrm>
            <a:off x="6469346" y="4114477"/>
            <a:ext cx="480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How</a:t>
            </a:r>
            <a:endParaRPr sz="1800"/>
          </a:p>
        </p:txBody>
      </p:sp>
      <p:sp>
        <p:nvSpPr>
          <p:cNvPr id="869" name="Google Shape;869;p21"/>
          <p:cNvSpPr txBox="1"/>
          <p:nvPr/>
        </p:nvSpPr>
        <p:spPr>
          <a:xfrm>
            <a:off x="6492196" y="4456674"/>
            <a:ext cx="4755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Mapear IAs disponíveis, avaliar custo-benefício, estrutura, integração, segurança ética e LGPD.</a:t>
            </a:r>
            <a:endParaRPr sz="1600"/>
          </a:p>
        </p:txBody>
      </p:sp>
      <p:sp>
        <p:nvSpPr>
          <p:cNvPr id="870" name="Google Shape;870;p21"/>
          <p:cNvSpPr/>
          <p:nvPr/>
        </p:nvSpPr>
        <p:spPr>
          <a:xfrm>
            <a:off x="804725" y="5305075"/>
            <a:ext cx="5074800" cy="77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1"/>
          <p:cNvSpPr/>
          <p:nvPr/>
        </p:nvSpPr>
        <p:spPr>
          <a:xfrm>
            <a:off x="804725" y="5360600"/>
            <a:ext cx="73200" cy="6990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1"/>
          <p:cNvSpPr txBox="1"/>
          <p:nvPr/>
        </p:nvSpPr>
        <p:spPr>
          <a:xfrm>
            <a:off x="980682" y="5360591"/>
            <a:ext cx="480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How much</a:t>
            </a:r>
            <a:endParaRPr sz="1800"/>
          </a:p>
        </p:txBody>
      </p:sp>
      <p:sp>
        <p:nvSpPr>
          <p:cNvPr id="873" name="Google Shape;873;p21"/>
          <p:cNvSpPr txBox="1"/>
          <p:nvPr/>
        </p:nvSpPr>
        <p:spPr>
          <a:xfrm>
            <a:off x="941832" y="5703351"/>
            <a:ext cx="47550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Investimento estimado: R$ 300.000,00 por mês.</a:t>
            </a:r>
            <a:endParaRPr sz="1600"/>
          </a:p>
        </p:txBody>
      </p:sp>
      <p:sp>
        <p:nvSpPr>
          <p:cNvPr id="874" name="Google Shape;874;p21"/>
          <p:cNvSpPr/>
          <p:nvPr/>
        </p:nvSpPr>
        <p:spPr>
          <a:xfrm>
            <a:off x="6400800" y="5669272"/>
            <a:ext cx="4937700" cy="640200"/>
          </a:xfrm>
          <a:prstGeom prst="roundRect">
            <a:avLst>
              <a:gd fmla="val 16667" name="adj"/>
            </a:avLst>
          </a:prstGeom>
          <a:solidFill>
            <a:srgbClr val="E8F8F3"/>
          </a:solidFill>
          <a:ln cap="flat" cmpd="sng" w="1015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1"/>
          <p:cNvSpPr txBox="1"/>
          <p:nvPr/>
        </p:nvSpPr>
        <p:spPr>
          <a:xfrm>
            <a:off x="6537960" y="5732671"/>
            <a:ext cx="46635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6F69"/>
                </a:solidFill>
                <a:latin typeface="Arial"/>
                <a:ea typeface="Arial"/>
                <a:cs typeface="Arial"/>
                <a:sym typeface="Arial"/>
              </a:rPr>
              <a:t>Objetivo esperado: retorno 5% maior por otimização de custos até 2028</a:t>
            </a:r>
            <a:endParaRPr sz="1600"/>
          </a:p>
        </p:txBody>
      </p:sp>
      <p:pic>
        <p:nvPicPr>
          <p:cNvPr id="876" name="Google Shape;87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2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2"/>
          <p:cNvSpPr txBox="1"/>
          <p:nvPr/>
        </p:nvSpPr>
        <p:spPr>
          <a:xfrm>
            <a:off x="621810" y="33832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Plano 5W2H: fortalecimento da marca</a:t>
            </a:r>
            <a:endParaRPr/>
          </a:p>
        </p:txBody>
      </p:sp>
      <p:sp>
        <p:nvSpPr>
          <p:cNvPr id="884" name="Google Shape;884;p22"/>
          <p:cNvSpPr txBox="1"/>
          <p:nvPr/>
        </p:nvSpPr>
        <p:spPr>
          <a:xfrm>
            <a:off x="621792" y="841248"/>
            <a:ext cx="9509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Ação 2 para ampliar presença digital e conexão com clientes</a:t>
            </a:r>
            <a:endParaRPr sz="1800"/>
          </a:p>
        </p:txBody>
      </p:sp>
      <p:sp>
        <p:nvSpPr>
          <p:cNvPr id="885" name="Google Shape;885;p22"/>
          <p:cNvSpPr txBox="1"/>
          <p:nvPr/>
        </p:nvSpPr>
        <p:spPr>
          <a:xfrm>
            <a:off x="11292840" y="647395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  <p:sp>
        <p:nvSpPr>
          <p:cNvPr id="886" name="Google Shape;886;p22"/>
          <p:cNvSpPr/>
          <p:nvPr/>
        </p:nvSpPr>
        <p:spPr>
          <a:xfrm>
            <a:off x="804675" y="1277203"/>
            <a:ext cx="5074800" cy="121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2"/>
          <p:cNvSpPr/>
          <p:nvPr/>
        </p:nvSpPr>
        <p:spPr>
          <a:xfrm>
            <a:off x="777249" y="1361325"/>
            <a:ext cx="73200" cy="1130100"/>
          </a:xfrm>
          <a:prstGeom prst="rect">
            <a:avLst/>
          </a:prstGeom>
          <a:solidFill>
            <a:srgbClr val="3EAA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2"/>
          <p:cNvSpPr txBox="1"/>
          <p:nvPr/>
        </p:nvSpPr>
        <p:spPr>
          <a:xfrm>
            <a:off x="941832" y="1280160"/>
            <a:ext cx="480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EAA78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endParaRPr sz="1800"/>
          </a:p>
        </p:txBody>
      </p:sp>
      <p:sp>
        <p:nvSpPr>
          <p:cNvPr id="889" name="Google Shape;889;p22"/>
          <p:cNvSpPr txBox="1"/>
          <p:nvPr/>
        </p:nvSpPr>
        <p:spPr>
          <a:xfrm>
            <a:off x="941832" y="1645920"/>
            <a:ext cx="4755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mpliar o alcance institucional nas plataformas sociais para crescer 20% em seguidores até junho de 2027.</a:t>
            </a:r>
            <a:endParaRPr sz="1600"/>
          </a:p>
        </p:txBody>
      </p:sp>
      <p:sp>
        <p:nvSpPr>
          <p:cNvPr id="890" name="Google Shape;890;p22"/>
          <p:cNvSpPr/>
          <p:nvPr/>
        </p:nvSpPr>
        <p:spPr>
          <a:xfrm>
            <a:off x="6355075" y="1143000"/>
            <a:ext cx="5074800" cy="113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2"/>
          <p:cNvSpPr/>
          <p:nvPr/>
        </p:nvSpPr>
        <p:spPr>
          <a:xfrm>
            <a:off x="6327654" y="1227988"/>
            <a:ext cx="73200" cy="960000"/>
          </a:xfrm>
          <a:prstGeom prst="rect">
            <a:avLst/>
          </a:prstGeom>
          <a:solidFill>
            <a:srgbClr val="006F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2"/>
          <p:cNvSpPr txBox="1"/>
          <p:nvPr/>
        </p:nvSpPr>
        <p:spPr>
          <a:xfrm>
            <a:off x="6519671" y="1280160"/>
            <a:ext cx="480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6F69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endParaRPr sz="1800"/>
          </a:p>
        </p:txBody>
      </p:sp>
      <p:sp>
        <p:nvSpPr>
          <p:cNvPr id="893" name="Google Shape;893;p22"/>
          <p:cNvSpPr txBox="1"/>
          <p:nvPr/>
        </p:nvSpPr>
        <p:spPr>
          <a:xfrm>
            <a:off x="6519671" y="1645920"/>
            <a:ext cx="4755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Reforçar a marca e ampliar a percepção de valor, confiança e modernidade.</a:t>
            </a:r>
            <a:endParaRPr sz="1600"/>
          </a:p>
        </p:txBody>
      </p:sp>
      <p:sp>
        <p:nvSpPr>
          <p:cNvPr id="894" name="Google Shape;894;p22"/>
          <p:cNvSpPr/>
          <p:nvPr/>
        </p:nvSpPr>
        <p:spPr>
          <a:xfrm>
            <a:off x="777190" y="2663752"/>
            <a:ext cx="5074800" cy="96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2"/>
          <p:cNvSpPr/>
          <p:nvPr/>
        </p:nvSpPr>
        <p:spPr>
          <a:xfrm>
            <a:off x="777240" y="2660339"/>
            <a:ext cx="73200" cy="960000"/>
          </a:xfrm>
          <a:prstGeom prst="rect">
            <a:avLst/>
          </a:prstGeom>
          <a:solidFill>
            <a:srgbClr val="3EAA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2"/>
          <p:cNvSpPr txBox="1"/>
          <p:nvPr/>
        </p:nvSpPr>
        <p:spPr>
          <a:xfrm>
            <a:off x="914307" y="2723687"/>
            <a:ext cx="480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EAA78"/>
                </a:solidFill>
                <a:latin typeface="Arial"/>
                <a:ea typeface="Arial"/>
                <a:cs typeface="Arial"/>
                <a:sym typeface="Arial"/>
              </a:rPr>
              <a:t>Who</a:t>
            </a:r>
            <a:endParaRPr sz="1800"/>
          </a:p>
        </p:txBody>
      </p:sp>
      <p:sp>
        <p:nvSpPr>
          <p:cNvPr id="897" name="Google Shape;897;p22"/>
          <p:cNvSpPr txBox="1"/>
          <p:nvPr/>
        </p:nvSpPr>
        <p:spPr>
          <a:xfrm>
            <a:off x="941832" y="3008697"/>
            <a:ext cx="4755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Equipe de marketing, comunicação institucional e agência especializada a ser selecionada.</a:t>
            </a:r>
            <a:endParaRPr sz="1600"/>
          </a:p>
        </p:txBody>
      </p:sp>
      <p:sp>
        <p:nvSpPr>
          <p:cNvPr id="898" name="Google Shape;898;p22"/>
          <p:cNvSpPr/>
          <p:nvPr/>
        </p:nvSpPr>
        <p:spPr>
          <a:xfrm>
            <a:off x="6355075" y="2359150"/>
            <a:ext cx="5074800" cy="1069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2"/>
          <p:cNvSpPr/>
          <p:nvPr/>
        </p:nvSpPr>
        <p:spPr>
          <a:xfrm>
            <a:off x="6355079" y="2401589"/>
            <a:ext cx="73200" cy="960000"/>
          </a:xfrm>
          <a:prstGeom prst="rect">
            <a:avLst/>
          </a:prstGeom>
          <a:solidFill>
            <a:srgbClr val="006F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2"/>
          <p:cNvSpPr txBox="1"/>
          <p:nvPr/>
        </p:nvSpPr>
        <p:spPr>
          <a:xfrm>
            <a:off x="6519671" y="2496312"/>
            <a:ext cx="480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6F69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endParaRPr sz="1800"/>
          </a:p>
        </p:txBody>
      </p:sp>
      <p:sp>
        <p:nvSpPr>
          <p:cNvPr id="901" name="Google Shape;901;p22"/>
          <p:cNvSpPr txBox="1"/>
          <p:nvPr/>
        </p:nvSpPr>
        <p:spPr>
          <a:xfrm>
            <a:off x="6519671" y="2862072"/>
            <a:ext cx="4755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Até junho de 2027, com monitoramento periódico de alcance, engajamento e crescimento.</a:t>
            </a:r>
            <a:endParaRPr sz="1600"/>
          </a:p>
        </p:txBody>
      </p:sp>
      <p:sp>
        <p:nvSpPr>
          <p:cNvPr id="902" name="Google Shape;902;p22"/>
          <p:cNvSpPr/>
          <p:nvPr/>
        </p:nvSpPr>
        <p:spPr>
          <a:xfrm>
            <a:off x="749740" y="3865892"/>
            <a:ext cx="5074800" cy="96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2"/>
          <p:cNvSpPr/>
          <p:nvPr/>
        </p:nvSpPr>
        <p:spPr>
          <a:xfrm>
            <a:off x="731515" y="3894554"/>
            <a:ext cx="73200" cy="960000"/>
          </a:xfrm>
          <a:prstGeom prst="rect">
            <a:avLst/>
          </a:prstGeom>
          <a:solidFill>
            <a:srgbClr val="3EAA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2"/>
          <p:cNvSpPr txBox="1"/>
          <p:nvPr/>
        </p:nvSpPr>
        <p:spPr>
          <a:xfrm>
            <a:off x="941782" y="3957914"/>
            <a:ext cx="480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EAA78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endParaRPr sz="1800"/>
          </a:p>
        </p:txBody>
      </p:sp>
      <p:sp>
        <p:nvSpPr>
          <p:cNvPr id="905" name="Google Shape;905;p22"/>
          <p:cNvSpPr txBox="1"/>
          <p:nvPr/>
        </p:nvSpPr>
        <p:spPr>
          <a:xfrm>
            <a:off x="909707" y="4368812"/>
            <a:ext cx="47550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Instagram</a:t>
            </a:r>
            <a:r>
              <a:rPr lang="en-US" sz="1600">
                <a:solidFill>
                  <a:srgbClr val="1F2937"/>
                </a:solidFill>
              </a:rPr>
              <a:t> e</a:t>
            </a: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LinkedIn.</a:t>
            </a:r>
            <a:endParaRPr sz="1600"/>
          </a:p>
        </p:txBody>
      </p:sp>
      <p:sp>
        <p:nvSpPr>
          <p:cNvPr id="906" name="Google Shape;906;p22"/>
          <p:cNvSpPr/>
          <p:nvPr/>
        </p:nvSpPr>
        <p:spPr>
          <a:xfrm>
            <a:off x="6355075" y="3575299"/>
            <a:ext cx="5074800" cy="1320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2"/>
          <p:cNvSpPr/>
          <p:nvPr/>
        </p:nvSpPr>
        <p:spPr>
          <a:xfrm>
            <a:off x="6355075" y="3640699"/>
            <a:ext cx="73200" cy="1189500"/>
          </a:xfrm>
          <a:prstGeom prst="rect">
            <a:avLst/>
          </a:prstGeom>
          <a:solidFill>
            <a:srgbClr val="006F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2"/>
          <p:cNvSpPr txBox="1"/>
          <p:nvPr/>
        </p:nvSpPr>
        <p:spPr>
          <a:xfrm>
            <a:off x="6519671" y="3712464"/>
            <a:ext cx="480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6F69"/>
                </a:solidFill>
                <a:latin typeface="Arial"/>
                <a:ea typeface="Arial"/>
                <a:cs typeface="Arial"/>
                <a:sym typeface="Arial"/>
              </a:rPr>
              <a:t>How</a:t>
            </a:r>
            <a:endParaRPr sz="1800"/>
          </a:p>
        </p:txBody>
      </p:sp>
      <p:sp>
        <p:nvSpPr>
          <p:cNvPr id="909" name="Google Shape;909;p22"/>
          <p:cNvSpPr txBox="1"/>
          <p:nvPr/>
        </p:nvSpPr>
        <p:spPr>
          <a:xfrm>
            <a:off x="6519671" y="4078224"/>
            <a:ext cx="4755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Avaliar portfólio de agências, selecionar a mais alinhada ao perfil do Sírio-Libanês e monitorar resultados.</a:t>
            </a:r>
            <a:endParaRPr sz="1600"/>
          </a:p>
        </p:txBody>
      </p:sp>
      <p:sp>
        <p:nvSpPr>
          <p:cNvPr id="910" name="Google Shape;910;p22"/>
          <p:cNvSpPr/>
          <p:nvPr/>
        </p:nvSpPr>
        <p:spPr>
          <a:xfrm>
            <a:off x="777240" y="5153606"/>
            <a:ext cx="5074800" cy="86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2"/>
          <p:cNvSpPr/>
          <p:nvPr/>
        </p:nvSpPr>
        <p:spPr>
          <a:xfrm>
            <a:off x="731515" y="5125356"/>
            <a:ext cx="73200" cy="868800"/>
          </a:xfrm>
          <a:prstGeom prst="rect">
            <a:avLst/>
          </a:prstGeom>
          <a:solidFill>
            <a:srgbClr val="3EAA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2"/>
          <p:cNvSpPr txBox="1"/>
          <p:nvPr/>
        </p:nvSpPr>
        <p:spPr>
          <a:xfrm>
            <a:off x="914357" y="5300316"/>
            <a:ext cx="4800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EAA78"/>
                </a:solidFill>
                <a:latin typeface="Arial"/>
                <a:ea typeface="Arial"/>
                <a:cs typeface="Arial"/>
                <a:sym typeface="Arial"/>
              </a:rPr>
              <a:t>How much</a:t>
            </a:r>
            <a:endParaRPr sz="1800"/>
          </a:p>
        </p:txBody>
      </p:sp>
      <p:sp>
        <p:nvSpPr>
          <p:cNvPr id="913" name="Google Shape;913;p22"/>
          <p:cNvSpPr txBox="1"/>
          <p:nvPr/>
        </p:nvSpPr>
        <p:spPr>
          <a:xfrm>
            <a:off x="909707" y="5629251"/>
            <a:ext cx="47550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Investimento estimado: R$ 100.000,00 por mês.</a:t>
            </a:r>
            <a:endParaRPr sz="1600"/>
          </a:p>
        </p:txBody>
      </p:sp>
      <p:sp>
        <p:nvSpPr>
          <p:cNvPr id="914" name="Google Shape;914;p22"/>
          <p:cNvSpPr/>
          <p:nvPr/>
        </p:nvSpPr>
        <p:spPr>
          <a:xfrm>
            <a:off x="6400800" y="5312467"/>
            <a:ext cx="4937700" cy="768300"/>
          </a:xfrm>
          <a:prstGeom prst="roundRect">
            <a:avLst>
              <a:gd fmla="val 16667" name="adj"/>
            </a:avLst>
          </a:prstGeom>
          <a:solidFill>
            <a:srgbClr val="E8F8F3"/>
          </a:solidFill>
          <a:ln cap="flat" cmpd="sng" w="1015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2"/>
          <p:cNvSpPr txBox="1"/>
          <p:nvPr/>
        </p:nvSpPr>
        <p:spPr>
          <a:xfrm>
            <a:off x="6537910" y="5431271"/>
            <a:ext cx="4663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6F69"/>
                </a:solidFill>
                <a:latin typeface="Arial"/>
                <a:ea typeface="Arial"/>
                <a:cs typeface="Arial"/>
                <a:sym typeface="Arial"/>
              </a:rPr>
              <a:t>Resultado esperado: marca mais próxima, digital, confiável e conectada ao cliente</a:t>
            </a:r>
            <a:endParaRPr sz="1800"/>
          </a:p>
        </p:txBody>
      </p:sp>
      <p:pic>
        <p:nvPicPr>
          <p:cNvPr id="916" name="Google Shape;9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3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3"/>
          <p:cNvSpPr txBox="1"/>
          <p:nvPr/>
        </p:nvSpPr>
        <p:spPr>
          <a:xfrm>
            <a:off x="594360" y="347472"/>
            <a:ext cx="8778300" cy="45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b="1" sz="2700">
              <a:solidFill>
                <a:srgbClr val="14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23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925" name="Google Shape;925;p23"/>
          <p:cNvSpPr/>
          <p:nvPr/>
        </p:nvSpPr>
        <p:spPr>
          <a:xfrm>
            <a:off x="822960" y="1333500"/>
            <a:ext cx="3337500" cy="3619500"/>
          </a:xfrm>
          <a:prstGeom prst="roundRect">
            <a:avLst>
              <a:gd fmla="val 8561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3"/>
          <p:cNvSpPr/>
          <p:nvPr/>
        </p:nvSpPr>
        <p:spPr>
          <a:xfrm>
            <a:off x="822960" y="1333500"/>
            <a:ext cx="73200" cy="36195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23"/>
          <p:cNvSpPr txBox="1"/>
          <p:nvPr/>
        </p:nvSpPr>
        <p:spPr>
          <a:xfrm>
            <a:off x="987552" y="1524000"/>
            <a:ext cx="3063300" cy="28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O que o PI evidenciou</a:t>
            </a:r>
            <a:endParaRPr b="1" sz="1600">
              <a:solidFill>
                <a:srgbClr val="0096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23"/>
          <p:cNvSpPr txBox="1"/>
          <p:nvPr/>
        </p:nvSpPr>
        <p:spPr>
          <a:xfrm>
            <a:off x="987552" y="1905000"/>
            <a:ext cx="3017400" cy="250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28575" lIns="28575" spcFirstLastPara="1" rIns="28575" wrap="square" tIns="2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Instituição de grande porte e alta complexidade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Forte legitimidade social e acadêmica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Reconhecimento em áreas clínicas estratégicas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23"/>
          <p:cNvSpPr/>
          <p:nvPr/>
        </p:nvSpPr>
        <p:spPr>
          <a:xfrm>
            <a:off x="4434840" y="1333500"/>
            <a:ext cx="3337500" cy="3619500"/>
          </a:xfrm>
          <a:prstGeom prst="roundRect">
            <a:avLst>
              <a:gd fmla="val 8561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3"/>
          <p:cNvSpPr/>
          <p:nvPr/>
        </p:nvSpPr>
        <p:spPr>
          <a:xfrm>
            <a:off x="4434840" y="1333500"/>
            <a:ext cx="73200" cy="36195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3"/>
          <p:cNvSpPr txBox="1"/>
          <p:nvPr/>
        </p:nvSpPr>
        <p:spPr>
          <a:xfrm>
            <a:off x="4599432" y="1524000"/>
            <a:ext cx="3063300" cy="28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Desafio estratégico</a:t>
            </a:r>
            <a:endParaRPr b="1" sz="1600">
              <a:solidFill>
                <a:srgbClr val="1E6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23"/>
          <p:cNvSpPr txBox="1"/>
          <p:nvPr/>
        </p:nvSpPr>
        <p:spPr>
          <a:xfrm>
            <a:off x="4599432" y="1905000"/>
            <a:ext cx="3017400" cy="250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28575" lIns="28575" spcFirstLastPara="1" rIns="28575" wrap="square" tIns="2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Experiência do paciente deve virar ganhador de mercado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Inovação precisa ser escalada e comunicada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Marca deve dialogar com públicos digitais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23"/>
          <p:cNvSpPr/>
          <p:nvPr/>
        </p:nvSpPr>
        <p:spPr>
          <a:xfrm>
            <a:off x="8046720" y="1333500"/>
            <a:ext cx="3337500" cy="3619500"/>
          </a:xfrm>
          <a:prstGeom prst="roundRect">
            <a:avLst>
              <a:gd fmla="val 8561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3"/>
          <p:cNvSpPr/>
          <p:nvPr/>
        </p:nvSpPr>
        <p:spPr>
          <a:xfrm>
            <a:off x="8046720" y="1333500"/>
            <a:ext cx="73200" cy="3619500"/>
          </a:xfrm>
          <a:prstGeom prst="rect">
            <a:avLst/>
          </a:prstGeom>
          <a:solidFill>
            <a:srgbClr val="3EAA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3"/>
          <p:cNvSpPr txBox="1"/>
          <p:nvPr/>
        </p:nvSpPr>
        <p:spPr>
          <a:xfrm>
            <a:off x="8211312" y="1524000"/>
            <a:ext cx="3063300" cy="28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EAA78"/>
                </a:solidFill>
                <a:latin typeface="Arial"/>
                <a:ea typeface="Arial"/>
                <a:cs typeface="Arial"/>
                <a:sym typeface="Arial"/>
              </a:rPr>
              <a:t>Recomendação central</a:t>
            </a:r>
            <a:endParaRPr b="1" sz="1600">
              <a:solidFill>
                <a:srgbClr val="3EAA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23"/>
          <p:cNvSpPr txBox="1"/>
          <p:nvPr/>
        </p:nvSpPr>
        <p:spPr>
          <a:xfrm>
            <a:off x="8211312" y="1905000"/>
            <a:ext cx="3017400" cy="219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28575" lIns="28575" spcFirstLastPara="1" rIns="28575" wrap="square" tIns="2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Executar BSC com indicadores mensuráveis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Priorizar automação da jornada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Conectar IA, NPS, ROI e reputação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7" name="Google Shape;9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e48a6dba71_65_192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g3e48a6dba71_65_192"/>
          <p:cNvSpPr txBox="1"/>
          <p:nvPr/>
        </p:nvSpPr>
        <p:spPr>
          <a:xfrm>
            <a:off x="594360" y="347472"/>
            <a:ext cx="8778300" cy="45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b="1" sz="2700">
              <a:solidFill>
                <a:srgbClr val="14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3e48a6dba71_65_192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946" name="Google Shape;946;g3e48a6dba71_65_192"/>
          <p:cNvSpPr/>
          <p:nvPr/>
        </p:nvSpPr>
        <p:spPr>
          <a:xfrm>
            <a:off x="822960" y="1333500"/>
            <a:ext cx="3337500" cy="3619500"/>
          </a:xfrm>
          <a:prstGeom prst="roundRect">
            <a:avLst>
              <a:gd fmla="val 8561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g3e48a6dba71_65_192"/>
          <p:cNvSpPr/>
          <p:nvPr/>
        </p:nvSpPr>
        <p:spPr>
          <a:xfrm>
            <a:off x="822960" y="1333500"/>
            <a:ext cx="73200" cy="36195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g3e48a6dba71_65_192"/>
          <p:cNvSpPr txBox="1"/>
          <p:nvPr/>
        </p:nvSpPr>
        <p:spPr>
          <a:xfrm>
            <a:off x="987552" y="1524000"/>
            <a:ext cx="3063300" cy="28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O que o PI evidenciou</a:t>
            </a:r>
            <a:endParaRPr b="1" sz="1600">
              <a:solidFill>
                <a:srgbClr val="0096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3e48a6dba71_65_192"/>
          <p:cNvSpPr txBox="1"/>
          <p:nvPr/>
        </p:nvSpPr>
        <p:spPr>
          <a:xfrm>
            <a:off x="987552" y="1905000"/>
            <a:ext cx="3017400" cy="250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28575" lIns="28575" spcFirstLastPara="1" rIns="28575" wrap="square" tIns="2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Instituição de grande porte e alta complexidade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Forte legitimidade social e acadêmica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Reconhecimento em áreas clínicas estratégicas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g3e48a6dba71_65_192"/>
          <p:cNvSpPr/>
          <p:nvPr/>
        </p:nvSpPr>
        <p:spPr>
          <a:xfrm>
            <a:off x="4434840" y="1333500"/>
            <a:ext cx="3337500" cy="3619500"/>
          </a:xfrm>
          <a:prstGeom prst="roundRect">
            <a:avLst>
              <a:gd fmla="val 8561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g3e48a6dba71_65_192"/>
          <p:cNvSpPr/>
          <p:nvPr/>
        </p:nvSpPr>
        <p:spPr>
          <a:xfrm>
            <a:off x="4434840" y="1333500"/>
            <a:ext cx="73200" cy="36195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g3e48a6dba71_65_192"/>
          <p:cNvSpPr txBox="1"/>
          <p:nvPr/>
        </p:nvSpPr>
        <p:spPr>
          <a:xfrm>
            <a:off x="4599432" y="1524000"/>
            <a:ext cx="3063300" cy="28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Desafio estratégico</a:t>
            </a:r>
            <a:endParaRPr b="1" sz="1600">
              <a:solidFill>
                <a:srgbClr val="1E6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3e48a6dba71_65_192"/>
          <p:cNvSpPr txBox="1"/>
          <p:nvPr/>
        </p:nvSpPr>
        <p:spPr>
          <a:xfrm>
            <a:off x="4599432" y="1905000"/>
            <a:ext cx="3017400" cy="250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28575" lIns="28575" spcFirstLastPara="1" rIns="28575" wrap="square" tIns="2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Experiência do paciente deve virar ganhador de mercado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Inovação precisa ser escalada e comunicada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Marca deve dialogar com públicos digitais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3e48a6dba71_65_192"/>
          <p:cNvSpPr/>
          <p:nvPr/>
        </p:nvSpPr>
        <p:spPr>
          <a:xfrm>
            <a:off x="8046720" y="1333500"/>
            <a:ext cx="3337500" cy="3619500"/>
          </a:xfrm>
          <a:prstGeom prst="roundRect">
            <a:avLst>
              <a:gd fmla="val 8561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g3e48a6dba71_65_192"/>
          <p:cNvSpPr/>
          <p:nvPr/>
        </p:nvSpPr>
        <p:spPr>
          <a:xfrm>
            <a:off x="8046720" y="1333500"/>
            <a:ext cx="73200" cy="3619500"/>
          </a:xfrm>
          <a:prstGeom prst="rect">
            <a:avLst/>
          </a:prstGeom>
          <a:solidFill>
            <a:srgbClr val="3EAA7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g3e48a6dba71_65_192"/>
          <p:cNvSpPr txBox="1"/>
          <p:nvPr/>
        </p:nvSpPr>
        <p:spPr>
          <a:xfrm>
            <a:off x="8211312" y="1524000"/>
            <a:ext cx="3063300" cy="28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EAA78"/>
                </a:solidFill>
                <a:latin typeface="Arial"/>
                <a:ea typeface="Arial"/>
                <a:cs typeface="Arial"/>
                <a:sym typeface="Arial"/>
              </a:rPr>
              <a:t>Recomendação central</a:t>
            </a:r>
            <a:endParaRPr b="1" sz="1600">
              <a:solidFill>
                <a:srgbClr val="3EAA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g3e48a6dba71_65_192"/>
          <p:cNvSpPr txBox="1"/>
          <p:nvPr/>
        </p:nvSpPr>
        <p:spPr>
          <a:xfrm>
            <a:off x="8211312" y="1905000"/>
            <a:ext cx="3017400" cy="219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28575" lIns="28575" spcFirstLastPara="1" rIns="28575" wrap="square" tIns="2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Executar BSC com indicadores mensuráveis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Priorizar automação da jornada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Conectar IA, NPS, ROI e reputação</a:t>
            </a:r>
            <a:endParaRPr b="0" sz="20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8" name="Google Shape;958;g3e48a6dba71_65_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g3e48a6dba71_65_1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e48a6dba71_65_313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g3e48a6dba71_65_313"/>
          <p:cNvSpPr txBox="1"/>
          <p:nvPr/>
        </p:nvSpPr>
        <p:spPr>
          <a:xfrm>
            <a:off x="594360" y="347472"/>
            <a:ext cx="8778300" cy="45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b="1" sz="2700">
              <a:solidFill>
                <a:srgbClr val="14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3e48a6dba71_65_313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pic>
        <p:nvPicPr>
          <p:cNvPr id="967" name="Google Shape;967;g3e48a6dba71_65_3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g3e48a6dba71_65_3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g3e48a6dba71_65_313"/>
          <p:cNvSpPr/>
          <p:nvPr/>
        </p:nvSpPr>
        <p:spPr>
          <a:xfrm>
            <a:off x="822960" y="1370838"/>
            <a:ext cx="91500" cy="7314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g3e48a6dba71_65_313"/>
          <p:cNvSpPr/>
          <p:nvPr/>
        </p:nvSpPr>
        <p:spPr>
          <a:xfrm>
            <a:off x="1051560" y="1352550"/>
            <a:ext cx="43890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96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Visão sistêmica</a:t>
            </a:r>
            <a:endParaRPr b="1" sz="1896">
              <a:solidFill>
                <a:srgbClr val="0096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g3e48a6dba71_65_313"/>
          <p:cNvSpPr/>
          <p:nvPr/>
        </p:nvSpPr>
        <p:spPr>
          <a:xfrm>
            <a:off x="1051560" y="1736598"/>
            <a:ext cx="4572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i="0" lang="en-US" sz="1450" u="none" cap="none" strike="noStrike">
                <a:solidFill>
                  <a:srgbClr val="14213D"/>
                </a:solidFill>
              </a:rPr>
              <a:t>Compreender o negócio como ecossistema</a:t>
            </a:r>
            <a:endParaRPr i="0" sz="1450" u="none" cap="none" strike="noStrike">
              <a:solidFill>
                <a:srgbClr val="000000"/>
              </a:solidFill>
            </a:endParaRPr>
          </a:p>
        </p:txBody>
      </p:sp>
      <p:sp>
        <p:nvSpPr>
          <p:cNvPr id="972" name="Google Shape;972;g3e48a6dba71_65_313"/>
          <p:cNvSpPr/>
          <p:nvPr/>
        </p:nvSpPr>
        <p:spPr>
          <a:xfrm>
            <a:off x="6309360" y="1370838"/>
            <a:ext cx="91500" cy="731400"/>
          </a:xfrm>
          <a:prstGeom prst="rect">
            <a:avLst/>
          </a:prstGeom>
          <a:solidFill>
            <a:srgbClr val="1E60A0"/>
          </a:solidFill>
          <a:ln cap="flat" cmpd="sng" w="12700">
            <a:solidFill>
              <a:srgbClr val="1E6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g3e48a6dba71_65_313"/>
          <p:cNvSpPr/>
          <p:nvPr/>
        </p:nvSpPr>
        <p:spPr>
          <a:xfrm>
            <a:off x="6537960" y="1352550"/>
            <a:ext cx="43890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96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Pensamento estratégico</a:t>
            </a:r>
            <a:endParaRPr b="1" sz="1896">
              <a:solidFill>
                <a:srgbClr val="1E6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g3e48a6dba71_65_313"/>
          <p:cNvSpPr/>
          <p:nvPr/>
        </p:nvSpPr>
        <p:spPr>
          <a:xfrm>
            <a:off x="6537960" y="1736598"/>
            <a:ext cx="4572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i="0" lang="en-US" sz="1450" u="none" cap="none" strike="noStrike">
                <a:solidFill>
                  <a:srgbClr val="14213D"/>
                </a:solidFill>
              </a:rPr>
              <a:t>Relacionar forças, fraquezas, oportunidades e ameaças.</a:t>
            </a:r>
            <a:endParaRPr i="0" sz="1450" u="none" cap="none" strike="noStrike">
              <a:solidFill>
                <a:srgbClr val="000000"/>
              </a:solidFill>
            </a:endParaRPr>
          </a:p>
        </p:txBody>
      </p:sp>
      <p:sp>
        <p:nvSpPr>
          <p:cNvPr id="975" name="Google Shape;975;g3e48a6dba71_65_313"/>
          <p:cNvSpPr/>
          <p:nvPr/>
        </p:nvSpPr>
        <p:spPr>
          <a:xfrm>
            <a:off x="822960" y="2605278"/>
            <a:ext cx="91500" cy="731400"/>
          </a:xfrm>
          <a:prstGeom prst="rect">
            <a:avLst/>
          </a:prstGeom>
          <a:solidFill>
            <a:srgbClr val="3EAA78"/>
          </a:solidFill>
          <a:ln cap="flat" cmpd="sng" w="12700">
            <a:solidFill>
              <a:srgbClr val="3EAA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g3e48a6dba71_65_313"/>
          <p:cNvSpPr/>
          <p:nvPr/>
        </p:nvSpPr>
        <p:spPr>
          <a:xfrm>
            <a:off x="1051560" y="2586990"/>
            <a:ext cx="43890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96">
                <a:solidFill>
                  <a:srgbClr val="3EAA78"/>
                </a:solidFill>
                <a:latin typeface="Arial"/>
                <a:ea typeface="Arial"/>
                <a:cs typeface="Arial"/>
                <a:sym typeface="Arial"/>
              </a:rPr>
              <a:t>Decisão orientada por dados</a:t>
            </a:r>
            <a:endParaRPr b="1" sz="1896">
              <a:solidFill>
                <a:srgbClr val="3EAA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g3e48a6dba71_65_313"/>
          <p:cNvSpPr/>
          <p:nvPr/>
        </p:nvSpPr>
        <p:spPr>
          <a:xfrm>
            <a:off x="1051560" y="2971038"/>
            <a:ext cx="4572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i="0" lang="en-US" sz="1450" u="none" cap="none" strike="noStrike">
                <a:solidFill>
                  <a:srgbClr val="14213D"/>
                </a:solidFill>
              </a:rPr>
              <a:t>Usar indicadores, rankings e benchmarks para apoiar escolhas.</a:t>
            </a:r>
            <a:endParaRPr i="0" sz="1450" u="none" cap="none" strike="noStrike">
              <a:solidFill>
                <a:srgbClr val="000000"/>
              </a:solidFill>
            </a:endParaRPr>
          </a:p>
        </p:txBody>
      </p:sp>
      <p:sp>
        <p:nvSpPr>
          <p:cNvPr id="978" name="Google Shape;978;g3e48a6dba71_65_313"/>
          <p:cNvSpPr/>
          <p:nvPr/>
        </p:nvSpPr>
        <p:spPr>
          <a:xfrm>
            <a:off x="6309360" y="2605278"/>
            <a:ext cx="91500" cy="7314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g3e48a6dba71_65_313"/>
          <p:cNvSpPr/>
          <p:nvPr/>
        </p:nvSpPr>
        <p:spPr>
          <a:xfrm>
            <a:off x="6537960" y="2586990"/>
            <a:ext cx="43890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96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Execução mensurável</a:t>
            </a:r>
            <a:endParaRPr b="1" sz="1896">
              <a:solidFill>
                <a:srgbClr val="0096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g3e48a6dba71_65_313"/>
          <p:cNvSpPr/>
          <p:nvPr/>
        </p:nvSpPr>
        <p:spPr>
          <a:xfrm>
            <a:off x="6537960" y="2971038"/>
            <a:ext cx="4572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i="0" lang="en-US" sz="1450" u="none" cap="none" strike="noStrike">
                <a:solidFill>
                  <a:srgbClr val="14213D"/>
                </a:solidFill>
              </a:rPr>
              <a:t>Converter objetivos em metas, responsáveis, prazos e indicadores.</a:t>
            </a:r>
            <a:endParaRPr i="0" sz="1450" u="none" cap="none" strike="noStrike">
              <a:solidFill>
                <a:srgbClr val="000000"/>
              </a:solidFill>
            </a:endParaRPr>
          </a:p>
        </p:txBody>
      </p:sp>
      <p:sp>
        <p:nvSpPr>
          <p:cNvPr id="981" name="Google Shape;981;g3e48a6dba71_65_313"/>
          <p:cNvSpPr/>
          <p:nvPr/>
        </p:nvSpPr>
        <p:spPr>
          <a:xfrm>
            <a:off x="822960" y="3839718"/>
            <a:ext cx="91500" cy="731400"/>
          </a:xfrm>
          <a:prstGeom prst="rect">
            <a:avLst/>
          </a:prstGeom>
          <a:solidFill>
            <a:srgbClr val="1E60A0"/>
          </a:solidFill>
          <a:ln cap="flat" cmpd="sng" w="12700">
            <a:solidFill>
              <a:srgbClr val="1E6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g3e48a6dba71_65_313"/>
          <p:cNvSpPr/>
          <p:nvPr/>
        </p:nvSpPr>
        <p:spPr>
          <a:xfrm>
            <a:off x="1051560" y="3821430"/>
            <a:ext cx="43890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96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Colaboração</a:t>
            </a:r>
            <a:endParaRPr b="1" sz="1896">
              <a:solidFill>
                <a:srgbClr val="1E6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g3e48a6dba71_65_313"/>
          <p:cNvSpPr/>
          <p:nvPr/>
        </p:nvSpPr>
        <p:spPr>
          <a:xfrm>
            <a:off x="1051560" y="4205478"/>
            <a:ext cx="4572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i="0" lang="en-US" sz="1450" u="none" cap="none" strike="noStrike">
                <a:solidFill>
                  <a:srgbClr val="14213D"/>
                </a:solidFill>
              </a:rPr>
              <a:t>Integrar diferentes </a:t>
            </a:r>
            <a:r>
              <a:rPr lang="en-US" sz="1450">
                <a:solidFill>
                  <a:srgbClr val="14213D"/>
                </a:solidFill>
              </a:rPr>
              <a:t>conhecimentos </a:t>
            </a:r>
            <a:r>
              <a:rPr i="0" lang="en-US" sz="1450" u="none" cap="none" strike="noStrike">
                <a:solidFill>
                  <a:srgbClr val="14213D"/>
                </a:solidFill>
              </a:rPr>
              <a:t> para resolver problemas complexos.</a:t>
            </a:r>
            <a:endParaRPr i="0" sz="1450" u="none" cap="none" strike="noStrike">
              <a:solidFill>
                <a:srgbClr val="000000"/>
              </a:solidFill>
            </a:endParaRPr>
          </a:p>
        </p:txBody>
      </p:sp>
      <p:sp>
        <p:nvSpPr>
          <p:cNvPr id="984" name="Google Shape;984;g3e48a6dba71_65_313"/>
          <p:cNvSpPr/>
          <p:nvPr/>
        </p:nvSpPr>
        <p:spPr>
          <a:xfrm>
            <a:off x="6309360" y="4050030"/>
            <a:ext cx="4892100" cy="960000"/>
          </a:xfrm>
          <a:prstGeom prst="roundRect">
            <a:avLst>
              <a:gd fmla="val 7619" name="adj"/>
            </a:avLst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g3e48a6dba71_65_313"/>
          <p:cNvSpPr/>
          <p:nvPr/>
        </p:nvSpPr>
        <p:spPr>
          <a:xfrm>
            <a:off x="6583680" y="4296918"/>
            <a:ext cx="4343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Play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</a:rPr>
              <a:t>Aprendizado</a:t>
            </a:r>
            <a:r>
              <a:rPr b="1" lang="en-US" sz="2000">
                <a:solidFill>
                  <a:srgbClr val="FFFFFF"/>
                </a:solidFill>
              </a:rPr>
              <a:t> : </a:t>
            </a:r>
            <a:r>
              <a:rPr b="1" i="0" lang="en-US" sz="2000" u="none" cap="none" strike="noStrike">
                <a:solidFill>
                  <a:srgbClr val="FFFFFF"/>
                </a:solidFill>
              </a:rPr>
              <a:t>análise estratégica só gera valor quando orienta decisões práticas.</a:t>
            </a:r>
            <a:endParaRPr i="0" sz="20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e43f80a131_1_45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g3e43f80a131_1_45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C4A"/>
                </a:solidFill>
              </a:rPr>
              <a:t>Referências</a:t>
            </a:r>
            <a:endParaRPr/>
          </a:p>
        </p:txBody>
      </p:sp>
      <p:sp>
        <p:nvSpPr>
          <p:cNvPr id="992" name="Google Shape;992;g3e43f80a131_1_45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993" name="Google Shape;993;g3e43f80a131_1_45"/>
          <p:cNvSpPr txBox="1"/>
          <p:nvPr/>
        </p:nvSpPr>
        <p:spPr>
          <a:xfrm>
            <a:off x="684975" y="952500"/>
            <a:ext cx="10608000" cy="6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AFYA. Obesidade infantil cresce no Brasil e já atinge 1 em cada 3 adolescentes. Portal Afya, 4 set. 2025. Disponível em: https://portal.afya.com.br/saude/obesidade-infantil-cresce-no-brasil-e-ja-atinge-1-em-cada-3-adolescentes. Acesso em: 16 maio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AGÊNCIA NACIONAL DE VIGILÂNCIA SANITÁRIA. Resolução RDC nº 657, de 24 de março de 2022. Dispõe sobre a regularização de software como dispositivo médico (Software as a Medical Device, SaMD). Brasília, DF: Anvisa, 2022. Disponível em: https://anvisalegis.datalegis.net/action/ActionDatalegis.php?acao=abrirTextoAto&amp;numeroAto=00000657&amp;orgao=RDC/DC/ANVISA/MS. Acesso em: 16 maio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EINSTEIN. </a:t>
            </a:r>
            <a:r>
              <a:rPr b="1"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Relatório de Sustentabilidade 2024: inovação para a equidade</a:t>
            </a: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. São Paulo: Sociedade Beneficente Israelita Brasileira Albert Einstein, 2025. Disponível em:</a:t>
            </a:r>
            <a:r>
              <a:rPr lang="en-US" sz="1200">
                <a:solidFill>
                  <a:schemeClr val="dk1"/>
                </a:solidFill>
                <a:uFill>
                  <a:noFill/>
                </a:u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200" u="sng">
                <a:solidFill>
                  <a:srgbClr val="1155CC"/>
                </a:solidFill>
                <a:latin typeface="Play"/>
                <a:ea typeface="Play"/>
                <a:cs typeface="Play"/>
                <a:sym typeface="Pl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https://www.einstein.br/DocumentosAcessoLivre/Einstein_Relatorio_Sustentabilidade_2024_Digital_2.pdf</a:t>
            </a: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. Acesso em: 16 maio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HOSPITAL SÍRIO-LIBANÊS. </a:t>
            </a:r>
            <a:r>
              <a:rPr b="1" lang="en-US" sz="1000">
                <a:solidFill>
                  <a:schemeClr val="dk1"/>
                </a:solidFill>
              </a:rPr>
              <a:t>Quem somos</a:t>
            </a:r>
            <a:r>
              <a:rPr lang="en-US" sz="1000">
                <a:solidFill>
                  <a:schemeClr val="dk1"/>
                </a:solidFill>
              </a:rPr>
              <a:t>. São Paulo: Hospital Sírio-Libanês, [s. d.]b. Disponível em:</a:t>
            </a:r>
            <a:r>
              <a:rPr lang="en-US" sz="10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https://hospitalsiriolibanes.org.br/quem-somos</a:t>
            </a:r>
            <a:r>
              <a:rPr lang="en-US" sz="1000">
                <a:solidFill>
                  <a:schemeClr val="dk1"/>
                </a:solidFill>
              </a:rPr>
              <a:t>. Acesso em: 25 abr.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HOSPITAL SÍRIO-LIBANÊS. </a:t>
            </a:r>
            <a:r>
              <a:rPr b="1" lang="en-US" sz="1000">
                <a:solidFill>
                  <a:schemeClr val="dk1"/>
                </a:solidFill>
              </a:rPr>
              <a:t>Reprodução assistida</a:t>
            </a:r>
            <a:r>
              <a:rPr lang="en-US" sz="1000">
                <a:solidFill>
                  <a:schemeClr val="dk1"/>
                </a:solidFill>
              </a:rPr>
              <a:t>. São Paulo: Hospital Sírio-Libanês, [s. d.]c. Disponível em:</a:t>
            </a:r>
            <a:r>
              <a:rPr lang="en-US" sz="10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https://hospitalsiriolibanes.org.br/especialidades-medicas/sao-paulo/reproducao-assistida</a:t>
            </a:r>
            <a:r>
              <a:rPr lang="en-US" sz="1000">
                <a:solidFill>
                  <a:schemeClr val="dk1"/>
                </a:solidFill>
              </a:rPr>
              <a:t>. Acesso em: 16 maio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HOSPITAL SÍRIO-LIBANÊS. </a:t>
            </a:r>
            <a:r>
              <a:rPr b="1" lang="en-US" sz="1000">
                <a:solidFill>
                  <a:schemeClr val="dk1"/>
                </a:solidFill>
              </a:rPr>
              <a:t>Saúde populacional</a:t>
            </a:r>
            <a:r>
              <a:rPr lang="en-US" sz="1000">
                <a:solidFill>
                  <a:schemeClr val="dk1"/>
                </a:solidFill>
              </a:rPr>
              <a:t>. São Paulo: Hospital Sírio-Libanês, [s. d.]d. Disponível em:</a:t>
            </a:r>
            <a:r>
              <a:rPr lang="en-US" sz="10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https://hospitalsiriolibanes.org.br/para-empresas/saude-populacional</a:t>
            </a:r>
            <a:r>
              <a:rPr lang="en-US" sz="1000">
                <a:solidFill>
                  <a:schemeClr val="dk1"/>
                </a:solidFill>
              </a:rPr>
              <a:t>. Acesso em: 25 abr.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HOSPITAL SÍRIO-LIBANÊS. </a:t>
            </a:r>
            <a:r>
              <a:rPr b="1" lang="en-US" sz="1000">
                <a:solidFill>
                  <a:schemeClr val="dk1"/>
                </a:solidFill>
              </a:rPr>
              <a:t>Relato Integrado 2025</a:t>
            </a:r>
            <a:r>
              <a:rPr lang="en-US" sz="1000">
                <a:solidFill>
                  <a:schemeClr val="dk1"/>
                </a:solidFill>
              </a:rPr>
              <a:t>. São Paulo: Hospital Sírio-Libanês, 2026. Disponível em:</a:t>
            </a:r>
            <a:r>
              <a:rPr lang="en-US" sz="1000">
                <a:solidFill>
                  <a:schemeClr val="dk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https://hospitalsiriolibanes.org.br/relato-integrado-2025</a:t>
            </a:r>
            <a:r>
              <a:rPr lang="en-US" sz="1000">
                <a:solidFill>
                  <a:schemeClr val="dk1"/>
                </a:solidFill>
              </a:rPr>
              <a:t>. Acesso em: 25 abr. 2026.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INFOBIP. </a:t>
            </a:r>
            <a:r>
              <a:rPr b="1"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Hospital Alemão Oswaldo Cruz: transformando a comunicação em saúde com chatbots, SMS, WhatsApp e RCS</a:t>
            </a: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. São Paulo: Infobip, [s. d.]. Disponível em:</a:t>
            </a:r>
            <a:r>
              <a:rPr lang="en-US" sz="1200">
                <a:solidFill>
                  <a:schemeClr val="dk1"/>
                </a:solidFill>
                <a:uFill>
                  <a:noFill/>
                </a:uFill>
                <a:latin typeface="Play"/>
                <a:ea typeface="Play"/>
                <a:cs typeface="Play"/>
                <a:sym typeface="Play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200" u="sng">
                <a:solidFill>
                  <a:srgbClr val="1155CC"/>
                </a:solidFill>
                <a:latin typeface="Play"/>
                <a:ea typeface="Play"/>
                <a:cs typeface="Play"/>
                <a:sym typeface="Play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https://www.infobip.com/pt/cliente/hospital-alemao-oswaldo-cruz</a:t>
            </a: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. Acesso em: 16 maio 2026.</a:t>
            </a:r>
            <a:endParaRPr sz="1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NEWSWEEK. </a:t>
            </a:r>
            <a:r>
              <a:rPr b="1"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World’s Best Hospitals 2026</a:t>
            </a: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. New York: Newsweek, 25 fev. 2026a. Disponível em:</a:t>
            </a:r>
            <a:r>
              <a:rPr lang="en-US" sz="1200">
                <a:solidFill>
                  <a:schemeClr val="dk1"/>
                </a:solidFill>
                <a:uFill>
                  <a:noFill/>
                </a:uFill>
                <a:latin typeface="Play"/>
                <a:ea typeface="Play"/>
                <a:cs typeface="Play"/>
                <a:sym typeface="Play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200" u="sng">
                <a:solidFill>
                  <a:srgbClr val="1155CC"/>
                </a:solidFill>
                <a:latin typeface="Play"/>
                <a:ea typeface="Play"/>
                <a:cs typeface="Play"/>
                <a:sym typeface="Play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https://rankings.newsweek.com/worlds-best-hospitals-2026</a:t>
            </a: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. Acesso em: 18 abr. 2026.</a:t>
            </a:r>
            <a:endParaRPr sz="1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994" name="Google Shape;994;g3e43f80a131_1_4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g3e43f80a131_1_45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