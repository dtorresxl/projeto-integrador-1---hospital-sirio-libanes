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8" roundtripDataSignature="AMtx7mgkarGemeihuMsJE7lUqiyXBuu9J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20" Type="http://schemas.openxmlformats.org/officeDocument/2006/relationships/slide" Target="slides/slide1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22" Type="http://schemas.openxmlformats.org/officeDocument/2006/relationships/slide" Target="slides/slide18.xml"/><Relationship Id="rId44" Type="http://schemas.openxmlformats.org/officeDocument/2006/relationships/slide" Target="slides/slide40.xml"/><Relationship Id="rId21" Type="http://schemas.openxmlformats.org/officeDocument/2006/relationships/slide" Target="slides/slide17.xml"/><Relationship Id="rId43" Type="http://schemas.openxmlformats.org/officeDocument/2006/relationships/slide" Target="slides/slide39.xml"/><Relationship Id="rId24" Type="http://schemas.openxmlformats.org/officeDocument/2006/relationships/slide" Target="slides/slide20.xml"/><Relationship Id="rId46" Type="http://schemas.openxmlformats.org/officeDocument/2006/relationships/slide" Target="slides/slide42.xml"/><Relationship Id="rId23" Type="http://schemas.openxmlformats.org/officeDocument/2006/relationships/slide" Target="slides/slide19.xml"/><Relationship Id="rId45" Type="http://schemas.openxmlformats.org/officeDocument/2006/relationships/slide" Target="slides/slide41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48" Type="http://customschemas.google.com/relationships/presentationmetadata" Target="metadata"/><Relationship Id="rId25" Type="http://schemas.openxmlformats.org/officeDocument/2006/relationships/slide" Target="slides/slide21.xml"/><Relationship Id="rId47" Type="http://schemas.openxmlformats.org/officeDocument/2006/relationships/slide" Target="slides/slide43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slide" Target="slides/slide33.xml"/><Relationship Id="rId14" Type="http://schemas.openxmlformats.org/officeDocument/2006/relationships/slide" Target="slides/slide10.xml"/><Relationship Id="rId36" Type="http://schemas.openxmlformats.org/officeDocument/2006/relationships/slide" Target="slides/slide32.xml"/><Relationship Id="rId17" Type="http://schemas.openxmlformats.org/officeDocument/2006/relationships/slide" Target="slides/slide13.xml"/><Relationship Id="rId39" Type="http://schemas.openxmlformats.org/officeDocument/2006/relationships/slide" Target="slides/slide35.xml"/><Relationship Id="rId16" Type="http://schemas.openxmlformats.org/officeDocument/2006/relationships/slide" Target="slides/slide12.xml"/><Relationship Id="rId38" Type="http://schemas.openxmlformats.org/officeDocument/2006/relationships/slide" Target="slides/slide34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3e26f490cf4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" name="Google Shape;19;g3e26f490cf4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g3e26f490cf4_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g3e26f490cf4_0_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g3e26f490cf4_0_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g3e26f490cf4_0_2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e26f490cf4_0_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g3e26f490cf4_0_6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g3e26f490cf4_0_6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e5183ed5d7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g3e5183ed5d7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g3e5183ed5d7_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e590c21d2e_1_5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g3e590c21d2e_1_54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g3e590c21d2e_1_54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e590c21d2e_1_5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g3e590c21d2e_1_5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g3e590c21d2e_1_51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e26f490cf4_0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g3e26f490cf4_0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g3e26f490cf4_0_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e590c21d2e_175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g3e590c21d2e_175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g3e590c21d2e_175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e590c21d2e_68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g3e590c21d2e_68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g3e590c21d2e_68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e590c21d2e_52_8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g3e590c21d2e_52_8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g3e590c21d2e_52_81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e590c21d2e_176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g3e590c21d2e_176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g3e590c21d2e_176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e590c21d2e_68_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" name="Google Shape;229;g3e590c21d2e_68_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g3e590c21d2e_68_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e26f490cf4_0_1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5" name="Google Shape;265;g3e26f490cf4_0_1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g3e26f490cf4_0_12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e590c21d2e_52_6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8" name="Google Shape;288;g3e590c21d2e_52_66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g3e590c21d2e_52_66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e590c21d2e_52_6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9" name="Google Shape;299;g3e590c21d2e_52_67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g3e590c21d2e_52_67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e590c21d2e_52_68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0" name="Google Shape;310;g3e590c21d2e_52_68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g3e590c21d2e_52_68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e590c21d2e_52_69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0" name="Google Shape;320;g3e590c21d2e_52_69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g3e590c21d2e_52_69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e590c21d2e_215_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1" name="Google Shape;331;g3e590c21d2e_215_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g3e590c21d2e_215_2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e590c21d2e_215_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3" name="Google Shape;343;g3e590c21d2e_215_4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g3e590c21d2e_215_4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e590c21d2e_52_70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5" name="Google Shape;355;g3e590c21d2e_52_70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g3e590c21d2e_52_70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e590c21d2e_52_7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6" name="Google Shape;366;g3e590c21d2e_52_7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g3e590c21d2e_52_71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e590c21d2e_52_7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7" name="Google Shape;377;g3e590c21d2e_52_7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g3e590c21d2e_52_72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3e590c21d2e_52_7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8" name="Google Shape;388;g3e590c21d2e_52_7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g3e590c21d2e_52_73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e590c21d2e_52_7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4" name="Google Shape;404;g3e590c21d2e_52_74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g3e590c21d2e_52_74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3e590c21d2e_52_7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0" name="Google Shape;420;g3e590c21d2e_52_76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g3e590c21d2e_52_76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e590c21d2e_52_7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1" name="Google Shape;431;g3e590c21d2e_52_77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g3e590c21d2e_52_77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3e590c21d2e_52_78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2" name="Google Shape;442;g3e590c21d2e_52_78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g3e590c21d2e_52_78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3e590c21d2e_52_80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4" name="Google Shape;454;g3e590c21d2e_52_80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g3e590c21d2e_52_80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3e590c21d2e_52_8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5" name="Google Shape;465;g3e590c21d2e_52_83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g3e590c21d2e_52_83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3e590c21d2e_52_8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7" name="Google Shape;477;g3e590c21d2e_52_84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g3e590c21d2e_52_84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3e590c21d2e_215_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7" name="Google Shape;487;g3e590c21d2e_215_5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g3e590c21d2e_215_5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g3e590c21d2e_52_8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7" name="Google Shape;497;g3e590c21d2e_52_85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g3e590c21d2e_52_85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g3e26f490cf4_0_1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6" name="Google Shape;526;g3e26f490cf4_0_17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g3e26f490cf4_0_17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3e590c21d2e_1_4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6" name="Google Shape;546;g3e590c21d2e_1_4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g3e590c21d2e_1_4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6" name="Google Shape;586;p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g3e590c21d2e_224_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0" name="Google Shape;630;g3e590c21d2e_224_4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g3e590c21d2e_224_4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g3e590c21d2e_224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8" name="Google Shape;648;g3e590c21d2e_224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g3e590c21d2e_224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g3e590c21d2e_1_4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9" name="Google Shape;659;g3e590c21d2e_1_44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g3e590c21d2e_1_44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g3e590c21d2e_52_4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8" name="Google Shape;688;g3e590c21d2e_52_4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9" name="Google Shape;689;g3e590c21d2e_52_43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g3e590c21d2e_1_4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9" name="Google Shape;699;g3e590c21d2e_1_47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g3e590c21d2e_1_47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g3e590c21d2e_1_49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4" name="Google Shape;724;g3e590c21d2e_1_49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5" name="Google Shape;725;g3e590c21d2e_1_49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g3e590c21d2e_175_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9" name="Google Shape;749;g3e590c21d2e_175_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0" name="Google Shape;750;g3e590c21d2e_175_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2.png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9.png"/><Relationship Id="rId6" Type="http://schemas.openxmlformats.org/officeDocument/2006/relationships/image" Target="../media/image12.png"/><Relationship Id="rId7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13.png"/><Relationship Id="rId6" Type="http://schemas.openxmlformats.org/officeDocument/2006/relationships/image" Target="../media/image1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png"/><Relationship Id="rId4" Type="http://schemas.openxmlformats.org/officeDocument/2006/relationships/image" Target="../media/image5.png"/><Relationship Id="rId5" Type="http://schemas.openxmlformats.org/officeDocument/2006/relationships/image" Target="../media/image23.png"/><Relationship Id="rId6" Type="http://schemas.openxmlformats.org/officeDocument/2006/relationships/image" Target="../media/image20.png"/><Relationship Id="rId7" Type="http://schemas.openxmlformats.org/officeDocument/2006/relationships/image" Target="../media/image1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9.png"/><Relationship Id="rId4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5.png"/><Relationship Id="rId4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0.png"/><Relationship Id="rId4" Type="http://schemas.openxmlformats.org/officeDocument/2006/relationships/image" Target="../media/image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1.png"/><Relationship Id="rId4" Type="http://schemas.openxmlformats.org/officeDocument/2006/relationships/image" Target="../media/image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png"/><Relationship Id="rId4" Type="http://schemas.openxmlformats.org/officeDocument/2006/relationships/image" Target="../media/image28.png"/><Relationship Id="rId5" Type="http://schemas.openxmlformats.org/officeDocument/2006/relationships/image" Target="../media/image2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png"/><Relationship Id="rId4" Type="http://schemas.openxmlformats.org/officeDocument/2006/relationships/image" Target="../media/image24.png"/><Relationship Id="rId5" Type="http://schemas.openxmlformats.org/officeDocument/2006/relationships/image" Target="../media/image3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6.png"/><Relationship Id="rId4" Type="http://schemas.openxmlformats.org/officeDocument/2006/relationships/image" Target="../media/image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5.png"/><Relationship Id="rId4" Type="http://schemas.openxmlformats.org/officeDocument/2006/relationships/image" Target="../media/image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5.png"/><Relationship Id="rId4" Type="http://schemas.openxmlformats.org/officeDocument/2006/relationships/image" Target="../media/image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Relationship Id="rId4" Type="http://schemas.openxmlformats.org/officeDocument/2006/relationships/image" Target="../media/image34.png"/><Relationship Id="rId5" Type="http://schemas.openxmlformats.org/officeDocument/2006/relationships/image" Target="../media/image5.png"/><Relationship Id="rId6" Type="http://schemas.openxmlformats.org/officeDocument/2006/relationships/image" Target="../media/image3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Relationship Id="rId6" Type="http://schemas.openxmlformats.org/officeDocument/2006/relationships/image" Target="../media/image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5.png"/><Relationship Id="rId4" Type="http://schemas.openxmlformats.org/officeDocument/2006/relationships/image" Target="../media/image60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.png"/><Relationship Id="rId4" Type="http://schemas.openxmlformats.org/officeDocument/2006/relationships/image" Target="../media/image3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5.png"/><Relationship Id="rId4" Type="http://schemas.openxmlformats.org/officeDocument/2006/relationships/image" Target="../media/image37.png"/><Relationship Id="rId5" Type="http://schemas.openxmlformats.org/officeDocument/2006/relationships/image" Target="../media/image69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5.png"/><Relationship Id="rId4" Type="http://schemas.openxmlformats.org/officeDocument/2006/relationships/image" Target="../media/image45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5.png"/><Relationship Id="rId4" Type="http://schemas.openxmlformats.org/officeDocument/2006/relationships/image" Target="../media/image41.png"/><Relationship Id="rId5" Type="http://schemas.openxmlformats.org/officeDocument/2006/relationships/image" Target="../media/image39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5.png"/><Relationship Id="rId4" Type="http://schemas.openxmlformats.org/officeDocument/2006/relationships/image" Target="../media/image42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5.png"/><Relationship Id="rId4" Type="http://schemas.openxmlformats.org/officeDocument/2006/relationships/image" Target="../media/image43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46.png"/><Relationship Id="rId6" Type="http://schemas.openxmlformats.org/officeDocument/2006/relationships/image" Target="../media/image49.png"/><Relationship Id="rId7" Type="http://schemas.openxmlformats.org/officeDocument/2006/relationships/image" Target="../media/image47.png"/><Relationship Id="rId8" Type="http://schemas.openxmlformats.org/officeDocument/2006/relationships/image" Target="../media/image5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5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10" Type="http://schemas.openxmlformats.org/officeDocument/2006/relationships/image" Target="../media/image56.png"/><Relationship Id="rId9" Type="http://schemas.openxmlformats.org/officeDocument/2006/relationships/image" Target="../media/image51.png"/><Relationship Id="rId5" Type="http://schemas.openxmlformats.org/officeDocument/2006/relationships/image" Target="../media/image53.png"/><Relationship Id="rId6" Type="http://schemas.openxmlformats.org/officeDocument/2006/relationships/image" Target="../media/image48.png"/><Relationship Id="rId7" Type="http://schemas.openxmlformats.org/officeDocument/2006/relationships/image" Target="../media/image54.png"/><Relationship Id="rId8" Type="http://schemas.openxmlformats.org/officeDocument/2006/relationships/image" Target="../media/image7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5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5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5.png"/><Relationship Id="rId4" Type="http://schemas.openxmlformats.org/officeDocument/2006/relationships/image" Target="../media/image68.png"/><Relationship Id="rId5" Type="http://schemas.openxmlformats.org/officeDocument/2006/relationships/image" Target="../media/image61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70.png"/><Relationship Id="rId4" Type="http://schemas.openxmlformats.org/officeDocument/2006/relationships/image" Target="../media/image5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63.png"/><Relationship Id="rId6" Type="http://schemas.openxmlformats.org/officeDocument/2006/relationships/image" Target="../media/image66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56.png"/><Relationship Id="rId6" Type="http://schemas.openxmlformats.org/officeDocument/2006/relationships/image" Target="../media/image71.png"/><Relationship Id="rId7" Type="http://schemas.openxmlformats.org/officeDocument/2006/relationships/image" Target="../media/image74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D6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63" y="-1"/>
            <a:ext cx="12185486" cy="685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3A70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3e26f490cf4_1_0"/>
          <p:cNvSpPr txBox="1"/>
          <p:nvPr/>
        </p:nvSpPr>
        <p:spPr>
          <a:xfrm>
            <a:off x="1012200" y="850825"/>
            <a:ext cx="10543800" cy="46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lt1"/>
                </a:solidFill>
              </a:rPr>
              <a:t>Integrantes:</a:t>
            </a:r>
            <a:endParaRPr sz="2600">
              <a:solidFill>
                <a:schemeClr val="lt1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  <a:latin typeface="Aptos"/>
                <a:ea typeface="Aptos"/>
                <a:cs typeface="Aptos"/>
                <a:sym typeface="Aptos"/>
              </a:rPr>
              <a:t>Daniel Carvalho</a:t>
            </a:r>
            <a:endParaRPr sz="2800">
              <a:solidFill>
                <a:schemeClr val="lt1"/>
              </a:solidFill>
              <a:latin typeface="Aptos"/>
              <a:ea typeface="Aptos"/>
              <a:cs typeface="Aptos"/>
              <a:sym typeface="Apto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solidFill>
                  <a:schemeClr val="lt1"/>
                </a:solidFill>
                <a:latin typeface="Aptos"/>
                <a:ea typeface="Aptos"/>
                <a:cs typeface="Aptos"/>
                <a:sym typeface="Aptos"/>
              </a:rPr>
              <a:t>Danilo Willy Moreira Torres</a:t>
            </a:r>
            <a:endParaRPr sz="2800">
              <a:solidFill>
                <a:schemeClr val="lt1"/>
              </a:solidFill>
              <a:latin typeface="Aptos"/>
              <a:ea typeface="Aptos"/>
              <a:cs typeface="Aptos"/>
              <a:sym typeface="Apto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solidFill>
                  <a:schemeClr val="lt1"/>
                </a:solidFill>
                <a:latin typeface="Aptos"/>
                <a:ea typeface="Aptos"/>
                <a:cs typeface="Aptos"/>
                <a:sym typeface="Aptos"/>
              </a:rPr>
              <a:t>Douglas Rafael Assis Mendes</a:t>
            </a:r>
            <a:endParaRPr sz="2800">
              <a:solidFill>
                <a:schemeClr val="lt1"/>
              </a:solidFill>
              <a:latin typeface="Aptos"/>
              <a:ea typeface="Aptos"/>
              <a:cs typeface="Aptos"/>
              <a:sym typeface="Apto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solidFill>
                  <a:schemeClr val="lt1"/>
                </a:solidFill>
                <a:latin typeface="Aptos"/>
                <a:ea typeface="Aptos"/>
                <a:cs typeface="Aptos"/>
                <a:sym typeface="Aptos"/>
              </a:rPr>
              <a:t>Fabiane Raquel Motter</a:t>
            </a:r>
            <a:endParaRPr sz="2800">
              <a:solidFill>
                <a:schemeClr val="lt1"/>
              </a:solidFill>
              <a:latin typeface="Aptos"/>
              <a:ea typeface="Aptos"/>
              <a:cs typeface="Aptos"/>
              <a:sym typeface="Apto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  <a:latin typeface="Aptos"/>
                <a:ea typeface="Aptos"/>
                <a:cs typeface="Aptos"/>
                <a:sym typeface="Aptos"/>
              </a:rPr>
              <a:t>Felipe Duran Maciel</a:t>
            </a:r>
            <a:endParaRPr sz="2800">
              <a:solidFill>
                <a:schemeClr val="lt1"/>
              </a:solidFill>
              <a:latin typeface="Aptos"/>
              <a:ea typeface="Aptos"/>
              <a:cs typeface="Aptos"/>
              <a:sym typeface="Apto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solidFill>
                  <a:schemeClr val="lt1"/>
                </a:solidFill>
                <a:latin typeface="Aptos"/>
                <a:ea typeface="Aptos"/>
                <a:cs typeface="Aptos"/>
                <a:sym typeface="Aptos"/>
              </a:rPr>
              <a:t>Marcel Monteiro Balduino</a:t>
            </a:r>
            <a:endParaRPr sz="2800">
              <a:solidFill>
                <a:schemeClr val="lt1"/>
              </a:solidFill>
              <a:latin typeface="Aptos"/>
              <a:ea typeface="Aptos"/>
              <a:cs typeface="Aptos"/>
              <a:sym typeface="Aptos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AFD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Google Shape;28;g3e26f490cf4_0_26"/>
          <p:cNvCxnSpPr/>
          <p:nvPr/>
        </p:nvCxnSpPr>
        <p:spPr>
          <a:xfrm>
            <a:off x="320040" y="182880"/>
            <a:ext cx="0" cy="6355200"/>
          </a:xfrm>
          <a:prstGeom prst="straightConnector1">
            <a:avLst/>
          </a:prstGeom>
          <a:noFill/>
          <a:ln cap="flat" cmpd="sng" w="38100">
            <a:solidFill>
              <a:srgbClr val="00A6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" name="Google Shape;29;g3e26f490cf4_0_26"/>
          <p:cNvSpPr/>
          <p:nvPr/>
        </p:nvSpPr>
        <p:spPr>
          <a:xfrm>
            <a:off x="594360" y="292608"/>
            <a:ext cx="7498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A7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03A70"/>
                </a:solidFill>
                <a:latin typeface="Arial"/>
                <a:ea typeface="Arial"/>
                <a:cs typeface="Arial"/>
                <a:sym typeface="Arial"/>
              </a:rPr>
              <a:t>História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g3e26f490cf4_0_26"/>
          <p:cNvSpPr/>
          <p:nvPr/>
        </p:nvSpPr>
        <p:spPr>
          <a:xfrm>
            <a:off x="658368" y="1261872"/>
            <a:ext cx="2331600" cy="4617600"/>
          </a:xfrm>
          <a:prstGeom prst="rect">
            <a:avLst/>
          </a:prstGeom>
          <a:solidFill>
            <a:srgbClr val="003A70"/>
          </a:solidFill>
          <a:ln cap="flat" cmpd="sng" w="12700">
            <a:solidFill>
              <a:srgbClr val="003A7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g3e26f490cf4_0_26"/>
          <p:cNvSpPr/>
          <p:nvPr/>
        </p:nvSpPr>
        <p:spPr>
          <a:xfrm>
            <a:off x="914400" y="1627632"/>
            <a:ext cx="17373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1921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" name="Google Shape;32;g3e26f490cf4_0_26"/>
          <p:cNvCxnSpPr/>
          <p:nvPr/>
        </p:nvCxnSpPr>
        <p:spPr>
          <a:xfrm>
            <a:off x="1097280" y="2331720"/>
            <a:ext cx="1371600" cy="0"/>
          </a:xfrm>
          <a:prstGeom prst="straightConnector1">
            <a:avLst/>
          </a:prstGeom>
          <a:noFill/>
          <a:ln cap="flat" cmpd="sng" w="25400">
            <a:solidFill>
              <a:srgbClr val="00A6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" name="Google Shape;33;g3e26f490cf4_0_26"/>
          <p:cNvSpPr/>
          <p:nvPr/>
        </p:nvSpPr>
        <p:spPr>
          <a:xfrm>
            <a:off x="868680" y="2578608"/>
            <a:ext cx="19203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Nasce de um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gesto filantrópico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g3e26f490cf4_0_26"/>
          <p:cNvSpPr/>
          <p:nvPr/>
        </p:nvSpPr>
        <p:spPr>
          <a:xfrm>
            <a:off x="743313" y="3822200"/>
            <a:ext cx="21552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DEAF3"/>
              </a:buClr>
              <a:buSzPts val="1040"/>
              <a:buFont typeface="Arial"/>
              <a:buNone/>
            </a:pPr>
            <a:r>
              <a:rPr b="0" i="0" lang="en-US" sz="1340" u="none" cap="none" strike="noStrike">
                <a:solidFill>
                  <a:srgbClr val="DDEAF3"/>
                </a:solidFill>
                <a:latin typeface="Arial"/>
                <a:ea typeface="Arial"/>
                <a:cs typeface="Arial"/>
                <a:sym typeface="Arial"/>
              </a:rPr>
              <a:t>Dona Adma Jafet mobiliza mulheres da colônia sírio-libanesa para criar a Sociedade Beneficente de Senhoras.</a:t>
            </a:r>
            <a:endParaRPr b="0" i="0" sz="13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g3e26f490cf4_0_26"/>
          <p:cNvSpPr/>
          <p:nvPr/>
        </p:nvSpPr>
        <p:spPr>
          <a:xfrm>
            <a:off x="813900" y="4983475"/>
            <a:ext cx="20025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6D6"/>
              </a:buClr>
              <a:buSzPts val="939"/>
              <a:buFont typeface="Arial"/>
              <a:buNone/>
            </a:pPr>
            <a:r>
              <a:rPr b="1" i="0" lang="en-US" sz="1340" u="none" cap="none" strike="noStrike">
                <a:solidFill>
                  <a:srgbClr val="00A6D6"/>
                </a:solidFill>
                <a:latin typeface="Arial"/>
                <a:ea typeface="Arial"/>
                <a:cs typeface="Arial"/>
                <a:sym typeface="Arial"/>
              </a:rPr>
              <a:t>Cultura de origem:</a:t>
            </a:r>
            <a:endParaRPr b="0" i="0" sz="13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6D6"/>
              </a:buClr>
              <a:buSzPts val="939"/>
              <a:buFont typeface="Arial"/>
              <a:buNone/>
            </a:pPr>
            <a:r>
              <a:rPr b="1" i="0" lang="en-US" sz="1340" u="none" cap="none" strike="noStrike">
                <a:solidFill>
                  <a:srgbClr val="00A6D6"/>
                </a:solidFill>
                <a:latin typeface="Arial"/>
                <a:ea typeface="Arial"/>
                <a:cs typeface="Arial"/>
                <a:sym typeface="Arial"/>
              </a:rPr>
              <a:t>protagonismo feminino, solidariedade e legado.</a:t>
            </a:r>
            <a:endParaRPr b="0" i="0" sz="13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" name="Google Shape;36;g3e26f490cf4_0_26"/>
          <p:cNvCxnSpPr/>
          <p:nvPr/>
        </p:nvCxnSpPr>
        <p:spPr>
          <a:xfrm>
            <a:off x="3794760" y="2880360"/>
            <a:ext cx="7269600" cy="0"/>
          </a:xfrm>
          <a:prstGeom prst="straightConnector1">
            <a:avLst/>
          </a:prstGeom>
          <a:noFill/>
          <a:ln cap="flat" cmpd="sng" w="22850">
            <a:solidFill>
              <a:srgbClr val="003A7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" name="Google Shape;37;g3e26f490cf4_0_26"/>
          <p:cNvSpPr/>
          <p:nvPr/>
        </p:nvSpPr>
        <p:spPr>
          <a:xfrm>
            <a:off x="3968496" y="2779776"/>
            <a:ext cx="201300" cy="201300"/>
          </a:xfrm>
          <a:prstGeom prst="ellipse">
            <a:avLst/>
          </a:prstGeom>
          <a:solidFill>
            <a:srgbClr val="0072BC"/>
          </a:solidFill>
          <a:ln cap="flat" cmpd="sng" w="12700">
            <a:solidFill>
              <a:srgbClr val="0072B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" name="Google Shape;38;g3e26f490cf4_0_26"/>
          <p:cNvCxnSpPr/>
          <p:nvPr/>
        </p:nvCxnSpPr>
        <p:spPr>
          <a:xfrm>
            <a:off x="4069080" y="2980944"/>
            <a:ext cx="0" cy="347400"/>
          </a:xfrm>
          <a:prstGeom prst="straightConnector1">
            <a:avLst/>
          </a:prstGeom>
          <a:noFill/>
          <a:ln cap="flat" cmpd="sng" w="15225">
            <a:solidFill>
              <a:srgbClr val="0072B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g3e26f490cf4_0_26"/>
          <p:cNvSpPr/>
          <p:nvPr/>
        </p:nvSpPr>
        <p:spPr>
          <a:xfrm>
            <a:off x="3520450" y="1847050"/>
            <a:ext cx="1371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3A70"/>
              </a:buClr>
              <a:buSzPts val="1600"/>
              <a:buFont typeface="Arial"/>
              <a:buNone/>
            </a:pPr>
            <a:r>
              <a:rPr b="1" i="0" lang="en-US" sz="1900" u="none" cap="none" strike="noStrike">
                <a:solidFill>
                  <a:srgbClr val="003A70"/>
                </a:solidFill>
                <a:latin typeface="Arial"/>
                <a:ea typeface="Arial"/>
                <a:cs typeface="Arial"/>
                <a:sym typeface="Arial"/>
              </a:rPr>
              <a:t>1931–1941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g3e26f490cf4_0_26"/>
          <p:cNvSpPr/>
          <p:nvPr/>
        </p:nvSpPr>
        <p:spPr>
          <a:xfrm>
            <a:off x="3246125" y="2240275"/>
            <a:ext cx="20025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3A70"/>
              </a:buClr>
              <a:buSzPts val="960"/>
              <a:buFont typeface="Arial"/>
              <a:buNone/>
            </a:pPr>
            <a:r>
              <a:rPr b="1" i="0" lang="en-US" sz="1460" u="none" cap="none" strike="noStrike">
                <a:solidFill>
                  <a:srgbClr val="003A70"/>
                </a:solidFill>
                <a:latin typeface="Arial"/>
                <a:ea typeface="Arial"/>
                <a:cs typeface="Arial"/>
                <a:sym typeface="Arial"/>
              </a:rPr>
              <a:t>Obras, equipamentos</a:t>
            </a:r>
            <a:endParaRPr b="0" i="0" sz="14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3A70"/>
              </a:buClr>
              <a:buSzPts val="960"/>
              <a:buFont typeface="Arial"/>
              <a:buNone/>
            </a:pPr>
            <a:r>
              <a:rPr b="1" i="0" lang="en-US" sz="1460" u="none" cap="none" strike="noStrike">
                <a:solidFill>
                  <a:srgbClr val="003A70"/>
                </a:solidFill>
                <a:latin typeface="Arial"/>
                <a:ea typeface="Arial"/>
                <a:cs typeface="Arial"/>
                <a:sym typeface="Arial"/>
              </a:rPr>
              <a:t>e interrupção</a:t>
            </a:r>
            <a:endParaRPr b="0" i="0" sz="14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g3e26f490cf4_0_26"/>
          <p:cNvSpPr/>
          <p:nvPr/>
        </p:nvSpPr>
        <p:spPr>
          <a:xfrm>
            <a:off x="3296387" y="3548000"/>
            <a:ext cx="1737300" cy="117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26B7A"/>
              </a:buClr>
              <a:buSzPts val="810"/>
              <a:buFont typeface="Arial"/>
              <a:buNone/>
            </a:pPr>
            <a:r>
              <a:rPr b="0" i="0" lang="en-US" sz="1410" u="none" cap="none" strike="noStrike">
                <a:solidFill>
                  <a:srgbClr val="526B7A"/>
                </a:solidFill>
                <a:latin typeface="Arial"/>
                <a:ea typeface="Arial"/>
                <a:cs typeface="Arial"/>
                <a:sym typeface="Arial"/>
              </a:rPr>
              <a:t>A estrutura hospitalar avançava, mas o prédio foi requisitado pelo Governo do Estado, adiando a inauguração.</a:t>
            </a:r>
            <a:endParaRPr b="0" i="0" sz="14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g3e26f490cf4_0_26"/>
          <p:cNvSpPr/>
          <p:nvPr/>
        </p:nvSpPr>
        <p:spPr>
          <a:xfrm>
            <a:off x="5952744" y="2779776"/>
            <a:ext cx="201300" cy="201300"/>
          </a:xfrm>
          <a:prstGeom prst="ellipse">
            <a:avLst/>
          </a:prstGeom>
          <a:solidFill>
            <a:srgbClr val="00A6D6"/>
          </a:solidFill>
          <a:ln cap="flat" cmpd="sng" w="12700">
            <a:solidFill>
              <a:srgbClr val="00A6D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g3e26f490cf4_0_26"/>
          <p:cNvCxnSpPr/>
          <p:nvPr/>
        </p:nvCxnSpPr>
        <p:spPr>
          <a:xfrm>
            <a:off x="6053328" y="2980944"/>
            <a:ext cx="0" cy="347400"/>
          </a:xfrm>
          <a:prstGeom prst="straightConnector1">
            <a:avLst/>
          </a:prstGeom>
          <a:noFill/>
          <a:ln cap="flat" cmpd="sng" w="15225">
            <a:solidFill>
              <a:srgbClr val="00A6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g3e26f490cf4_0_26"/>
          <p:cNvSpPr/>
          <p:nvPr/>
        </p:nvSpPr>
        <p:spPr>
          <a:xfrm>
            <a:off x="5448650" y="1901950"/>
            <a:ext cx="1247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3A70"/>
              </a:buClr>
              <a:buSzPts val="1600"/>
              <a:buFont typeface="Arial"/>
              <a:buNone/>
            </a:pPr>
            <a:r>
              <a:rPr b="1" i="0" lang="en-US" sz="1900" u="none" cap="none" strike="noStrike">
                <a:solidFill>
                  <a:srgbClr val="003A70"/>
                </a:solidFill>
                <a:latin typeface="Arial"/>
                <a:ea typeface="Arial"/>
                <a:cs typeface="Arial"/>
                <a:sym typeface="Arial"/>
              </a:rPr>
              <a:t>1959–1965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g3e26f490cf4_0_26"/>
          <p:cNvSpPr/>
          <p:nvPr/>
        </p:nvSpPr>
        <p:spPr>
          <a:xfrm>
            <a:off x="5367528" y="2240280"/>
            <a:ext cx="137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3A70"/>
              </a:buClr>
              <a:buSzPts val="960"/>
              <a:buFont typeface="Arial"/>
              <a:buNone/>
            </a:pPr>
            <a:r>
              <a:rPr b="1" i="0" lang="en-US" sz="1460" u="none" cap="none" strike="noStrike">
                <a:solidFill>
                  <a:srgbClr val="003A70"/>
                </a:solidFill>
                <a:latin typeface="Arial"/>
                <a:ea typeface="Arial"/>
                <a:cs typeface="Arial"/>
                <a:sym typeface="Arial"/>
              </a:rPr>
              <a:t>Retomada e</a:t>
            </a:r>
            <a:endParaRPr b="0" i="0" sz="14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3A70"/>
              </a:buClr>
              <a:buSzPts val="960"/>
              <a:buFont typeface="Arial"/>
              <a:buNone/>
            </a:pPr>
            <a:r>
              <a:rPr b="1" i="0" lang="en-US" sz="1460" u="none" cap="none" strike="noStrike">
                <a:solidFill>
                  <a:srgbClr val="003A70"/>
                </a:solidFill>
                <a:latin typeface="Arial"/>
                <a:ea typeface="Arial"/>
                <a:cs typeface="Arial"/>
                <a:sym typeface="Arial"/>
              </a:rPr>
              <a:t>inauguração</a:t>
            </a:r>
            <a:endParaRPr b="0" i="0" sz="14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g3e26f490cf4_0_26"/>
          <p:cNvSpPr/>
          <p:nvPr/>
        </p:nvSpPr>
        <p:spPr>
          <a:xfrm>
            <a:off x="5187400" y="3502150"/>
            <a:ext cx="1828800" cy="117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26B7A"/>
              </a:buClr>
              <a:buSzPts val="810"/>
              <a:buFont typeface="Arial"/>
              <a:buNone/>
            </a:pPr>
            <a:r>
              <a:rPr b="0" i="0" lang="en-US" sz="1410" u="none" cap="none" strike="noStrike">
                <a:solidFill>
                  <a:srgbClr val="526B7A"/>
                </a:solidFill>
                <a:latin typeface="Arial"/>
                <a:ea typeface="Arial"/>
                <a:cs typeface="Arial"/>
                <a:sym typeface="Arial"/>
              </a:rPr>
              <a:t>O edifício retorna à Sociedade e o Hospital Sírio-Libanês é oficialmente inaugurado em 15 de agosto de 1965.</a:t>
            </a:r>
            <a:endParaRPr b="0" i="0" sz="14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g3e26f490cf4_0_26"/>
          <p:cNvSpPr/>
          <p:nvPr/>
        </p:nvSpPr>
        <p:spPr>
          <a:xfrm>
            <a:off x="7936992" y="2779776"/>
            <a:ext cx="201300" cy="201300"/>
          </a:xfrm>
          <a:prstGeom prst="ellipse">
            <a:avLst/>
          </a:prstGeom>
          <a:solidFill>
            <a:srgbClr val="0072BC"/>
          </a:solidFill>
          <a:ln cap="flat" cmpd="sng" w="12700">
            <a:solidFill>
              <a:srgbClr val="0072B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8" name="Google Shape;48;g3e26f490cf4_0_26"/>
          <p:cNvCxnSpPr/>
          <p:nvPr/>
        </p:nvCxnSpPr>
        <p:spPr>
          <a:xfrm>
            <a:off x="8037576" y="2980944"/>
            <a:ext cx="0" cy="347400"/>
          </a:xfrm>
          <a:prstGeom prst="straightConnector1">
            <a:avLst/>
          </a:prstGeom>
          <a:noFill/>
          <a:ln cap="flat" cmpd="sng" w="15225">
            <a:solidFill>
              <a:srgbClr val="0072B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" name="Google Shape;49;g3e26f490cf4_0_26"/>
          <p:cNvSpPr/>
          <p:nvPr/>
        </p:nvSpPr>
        <p:spPr>
          <a:xfrm>
            <a:off x="7338924" y="1901950"/>
            <a:ext cx="1247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3A70"/>
              </a:buClr>
              <a:buSzPts val="1600"/>
              <a:buFont typeface="Arial"/>
              <a:buNone/>
            </a:pPr>
            <a:r>
              <a:rPr b="1" i="0" lang="en-US" sz="1900" u="none" cap="none" strike="noStrike">
                <a:solidFill>
                  <a:srgbClr val="003A70"/>
                </a:solidFill>
                <a:latin typeface="Arial"/>
                <a:ea typeface="Arial"/>
                <a:cs typeface="Arial"/>
                <a:sym typeface="Arial"/>
              </a:rPr>
              <a:t>1978–2024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g3e26f490cf4_0_26"/>
          <p:cNvSpPr/>
          <p:nvPr/>
        </p:nvSpPr>
        <p:spPr>
          <a:xfrm>
            <a:off x="7154275" y="2240275"/>
            <a:ext cx="1569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3A70"/>
              </a:buClr>
              <a:buSzPts val="960"/>
              <a:buFont typeface="Arial"/>
              <a:buNone/>
            </a:pPr>
            <a:r>
              <a:rPr b="1" i="0" lang="en-US" sz="1460" u="none" cap="none" strike="noStrike">
                <a:solidFill>
                  <a:srgbClr val="003A70"/>
                </a:solidFill>
                <a:latin typeface="Arial"/>
                <a:ea typeface="Arial"/>
                <a:cs typeface="Arial"/>
                <a:sym typeface="Arial"/>
              </a:rPr>
              <a:t>Ensino, pesquisa</a:t>
            </a:r>
            <a:endParaRPr b="0" i="0" sz="14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3A70"/>
              </a:buClr>
              <a:buSzPts val="960"/>
              <a:buFont typeface="Arial"/>
              <a:buNone/>
            </a:pPr>
            <a:r>
              <a:rPr b="1" i="0" lang="en-US" sz="1460" u="none" cap="none" strike="noStrike">
                <a:solidFill>
                  <a:srgbClr val="003A70"/>
                </a:solidFill>
                <a:latin typeface="Arial"/>
                <a:ea typeface="Arial"/>
                <a:cs typeface="Arial"/>
                <a:sym typeface="Arial"/>
              </a:rPr>
              <a:t>e formação</a:t>
            </a:r>
            <a:endParaRPr b="0" i="0" sz="14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g3e26f490cf4_0_26"/>
          <p:cNvSpPr/>
          <p:nvPr/>
        </p:nvSpPr>
        <p:spPr>
          <a:xfrm>
            <a:off x="7174350" y="3502150"/>
            <a:ext cx="1828800" cy="117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26B7A"/>
              </a:buClr>
              <a:buSzPts val="810"/>
              <a:buFont typeface="Arial"/>
              <a:buNone/>
            </a:pPr>
            <a:r>
              <a:rPr b="0" i="0" lang="en-US" sz="1410" u="none" cap="none" strike="noStrike">
                <a:solidFill>
                  <a:srgbClr val="526B7A"/>
                </a:solidFill>
                <a:latin typeface="Arial"/>
                <a:ea typeface="Arial"/>
                <a:cs typeface="Arial"/>
                <a:sym typeface="Arial"/>
              </a:rPr>
              <a:t>Do Centro de Estudos e Pesquisa à Faculdade Sírio-Libanês, fortalecendo ciência, inovação e formação.</a:t>
            </a:r>
            <a:endParaRPr b="0" i="0" sz="14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g3e26f490cf4_0_26"/>
          <p:cNvSpPr/>
          <p:nvPr/>
        </p:nvSpPr>
        <p:spPr>
          <a:xfrm>
            <a:off x="9921240" y="2779776"/>
            <a:ext cx="201300" cy="201300"/>
          </a:xfrm>
          <a:prstGeom prst="ellipse">
            <a:avLst/>
          </a:prstGeom>
          <a:solidFill>
            <a:srgbClr val="00A6D6"/>
          </a:solidFill>
          <a:ln cap="flat" cmpd="sng" w="12700">
            <a:solidFill>
              <a:srgbClr val="00A6D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3" name="Google Shape;53;g3e26f490cf4_0_26"/>
          <p:cNvCxnSpPr/>
          <p:nvPr/>
        </p:nvCxnSpPr>
        <p:spPr>
          <a:xfrm>
            <a:off x="10021824" y="2980944"/>
            <a:ext cx="0" cy="347400"/>
          </a:xfrm>
          <a:prstGeom prst="straightConnector1">
            <a:avLst/>
          </a:prstGeom>
          <a:noFill/>
          <a:ln cap="flat" cmpd="sng" w="15225">
            <a:solidFill>
              <a:srgbClr val="00A6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" name="Google Shape;54;g3e26f490cf4_0_26"/>
          <p:cNvSpPr/>
          <p:nvPr/>
        </p:nvSpPr>
        <p:spPr>
          <a:xfrm>
            <a:off x="9323174" y="1901950"/>
            <a:ext cx="1247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3A70"/>
              </a:buClr>
              <a:buSzPts val="1600"/>
              <a:buFont typeface="Arial"/>
              <a:buNone/>
            </a:pPr>
            <a:r>
              <a:rPr b="1" i="0" lang="en-US" sz="1900" u="none" cap="none" strike="noStrike">
                <a:solidFill>
                  <a:srgbClr val="003A70"/>
                </a:solidFill>
                <a:latin typeface="Arial"/>
                <a:ea typeface="Arial"/>
                <a:cs typeface="Arial"/>
                <a:sym typeface="Arial"/>
              </a:rPr>
              <a:t>2009–2025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g3e26f490cf4_0_26"/>
          <p:cNvSpPr/>
          <p:nvPr/>
        </p:nvSpPr>
        <p:spPr>
          <a:xfrm>
            <a:off x="9336024" y="2240280"/>
            <a:ext cx="137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3A70"/>
              </a:buClr>
              <a:buSzPts val="960"/>
              <a:buFont typeface="Arial"/>
              <a:buNone/>
            </a:pPr>
            <a:r>
              <a:rPr b="1" i="0" lang="en-US" sz="1460" u="none" cap="none" strike="noStrike">
                <a:solidFill>
                  <a:srgbClr val="003A70"/>
                </a:solidFill>
                <a:latin typeface="Arial"/>
                <a:ea typeface="Arial"/>
                <a:cs typeface="Arial"/>
                <a:sym typeface="Arial"/>
              </a:rPr>
              <a:t>Escala, SUS</a:t>
            </a:r>
            <a:endParaRPr b="0" i="0" sz="14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3A70"/>
              </a:buClr>
              <a:buSzPts val="960"/>
              <a:buFont typeface="Arial"/>
              <a:buNone/>
            </a:pPr>
            <a:r>
              <a:rPr b="1" i="0" lang="en-US" sz="1460" u="none" cap="none" strike="noStrike">
                <a:solidFill>
                  <a:srgbClr val="003A70"/>
                </a:solidFill>
                <a:latin typeface="Arial"/>
                <a:ea typeface="Arial"/>
                <a:cs typeface="Arial"/>
                <a:sym typeface="Arial"/>
              </a:rPr>
              <a:t>e ecossistema</a:t>
            </a:r>
            <a:endParaRPr b="0" i="0" sz="14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g3e26f490cf4_0_26"/>
          <p:cNvSpPr/>
          <p:nvPr/>
        </p:nvSpPr>
        <p:spPr>
          <a:xfrm>
            <a:off x="9156800" y="3502150"/>
            <a:ext cx="2057400" cy="117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26B7A"/>
              </a:buClr>
              <a:buSzPts val="810"/>
              <a:buFont typeface="Arial"/>
              <a:buNone/>
            </a:pPr>
            <a:r>
              <a:rPr b="0" i="0" lang="en-US" sz="1410" u="none" cap="none" strike="noStrike">
                <a:solidFill>
                  <a:srgbClr val="526B7A"/>
                </a:solidFill>
                <a:latin typeface="Arial"/>
                <a:ea typeface="Arial"/>
                <a:cs typeface="Arial"/>
                <a:sym typeface="Arial"/>
              </a:rPr>
              <a:t>PROADI-SUS, expansão de unidades, Saúde Populacional e internalização de laboratório, banco de sangue e hemoterapia.</a:t>
            </a:r>
            <a:endParaRPr b="0" i="0" sz="141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g3e26f490cf4_0_26"/>
          <p:cNvSpPr/>
          <p:nvPr/>
        </p:nvSpPr>
        <p:spPr>
          <a:xfrm>
            <a:off x="3246120" y="5285232"/>
            <a:ext cx="7909500" cy="658500"/>
          </a:xfrm>
          <a:prstGeom prst="rect">
            <a:avLst/>
          </a:prstGeom>
          <a:solidFill>
            <a:srgbClr val="EAF5FA"/>
          </a:solidFill>
          <a:ln cap="flat" cmpd="sng" w="12700">
            <a:solidFill>
              <a:srgbClr val="00A6D6">
                <a:alpha val="451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g3e26f490cf4_0_26"/>
          <p:cNvSpPr/>
          <p:nvPr/>
        </p:nvSpPr>
        <p:spPr>
          <a:xfrm>
            <a:off x="3352025" y="5440675"/>
            <a:ext cx="1371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6D6"/>
              </a:buClr>
              <a:buSzPts val="1020"/>
              <a:buFont typeface="Arial"/>
              <a:buNone/>
            </a:pPr>
            <a:r>
              <a:rPr b="1" i="0" lang="en-US" sz="1320" u="none" cap="none" strike="noStrike">
                <a:solidFill>
                  <a:srgbClr val="00A6D6"/>
                </a:solidFill>
                <a:latin typeface="Arial"/>
                <a:ea typeface="Arial"/>
                <a:cs typeface="Arial"/>
                <a:sym typeface="Arial"/>
              </a:rPr>
              <a:t>Síntese cultural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g3e26f490cf4_0_26"/>
          <p:cNvSpPr/>
          <p:nvPr/>
        </p:nvSpPr>
        <p:spPr>
          <a:xfrm>
            <a:off x="4892050" y="5404100"/>
            <a:ext cx="6172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A70"/>
              </a:buClr>
              <a:buSzPts val="1140"/>
              <a:buFont typeface="Arial"/>
              <a:buNone/>
            </a:pPr>
            <a:r>
              <a:rPr b="1" i="0" lang="en-US" sz="1340" u="none" cap="none" strike="noStrike">
                <a:solidFill>
                  <a:srgbClr val="003A70"/>
                </a:solidFill>
                <a:latin typeface="Arial"/>
                <a:ea typeface="Arial"/>
                <a:cs typeface="Arial"/>
                <a:sym typeface="Arial"/>
              </a:rPr>
              <a:t>A história mostra uma cultura que combina legado filantrópico, excelência assistencial, produção de conhecimento e compromisso social.</a:t>
            </a:r>
            <a:endParaRPr b="0" i="0" sz="13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g3e26f490cf4_0_26"/>
          <p:cNvSpPr/>
          <p:nvPr/>
        </p:nvSpPr>
        <p:spPr>
          <a:xfrm>
            <a:off x="594360" y="6537960"/>
            <a:ext cx="96927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087"/>
              </a:buClr>
              <a:buSzPts val="570"/>
              <a:buFont typeface="Arial"/>
              <a:buNone/>
            </a:pPr>
            <a:r>
              <a:rPr b="0" i="0" lang="en-US" sz="570" u="none" cap="none" strike="noStrike">
                <a:solidFill>
                  <a:srgbClr val="7A8087"/>
                </a:solidFill>
                <a:latin typeface="Arial"/>
                <a:ea typeface="Arial"/>
                <a:cs typeface="Arial"/>
                <a:sym typeface="Arial"/>
              </a:rPr>
              <a:t>Fonte: Relato Integrado 2025, Hospital Sírio-Libanês; texto-base fornecido.</a:t>
            </a:r>
            <a:endParaRPr b="0" i="0" sz="5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g3e26f490cf4_0_26"/>
          <p:cNvSpPr/>
          <p:nvPr/>
        </p:nvSpPr>
        <p:spPr>
          <a:xfrm>
            <a:off x="11475720" y="6492240"/>
            <a:ext cx="3657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72BC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0072BC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2" name="Google Shape;62;g3e26f490cf4_0_26" title="Hospital-Sírio-Libanês-logo-removebg-preview (1).png"/>
          <p:cNvPicPr preferRelativeResize="0"/>
          <p:nvPr/>
        </p:nvPicPr>
        <p:blipFill rotWithShape="1">
          <a:blip r:embed="rId3">
            <a:alphaModFix/>
          </a:blip>
          <a:srcRect b="36159" l="21436" r="22330" t="35811"/>
          <a:stretch/>
        </p:blipFill>
        <p:spPr>
          <a:xfrm>
            <a:off x="9784075" y="292602"/>
            <a:ext cx="2057399" cy="6159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Google Shape;68;g3e26f490cf4_0_68"/>
          <p:cNvCxnSpPr/>
          <p:nvPr/>
        </p:nvCxnSpPr>
        <p:spPr>
          <a:xfrm>
            <a:off x="320040" y="182880"/>
            <a:ext cx="0" cy="6355200"/>
          </a:xfrm>
          <a:prstGeom prst="straightConnector1">
            <a:avLst/>
          </a:prstGeom>
          <a:noFill/>
          <a:ln cap="flat" cmpd="sng" w="38100">
            <a:solidFill>
              <a:srgbClr val="00A6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9" name="Google Shape;69;g3e26f490cf4_0_68"/>
          <p:cNvCxnSpPr/>
          <p:nvPr/>
        </p:nvCxnSpPr>
        <p:spPr>
          <a:xfrm>
            <a:off x="320040" y="182880"/>
            <a:ext cx="0" cy="6355200"/>
          </a:xfrm>
          <a:prstGeom prst="straightConnector1">
            <a:avLst/>
          </a:prstGeom>
          <a:solidFill>
            <a:srgbClr val="FFFFFF"/>
          </a:solidFill>
          <a:ln cap="flat" cmpd="sng" w="38100">
            <a:solidFill>
              <a:srgbClr val="00A6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0" name="Google Shape;70;g3e26f490cf4_0_68"/>
          <p:cNvSpPr/>
          <p:nvPr/>
        </p:nvSpPr>
        <p:spPr>
          <a:xfrm>
            <a:off x="594360" y="292608"/>
            <a:ext cx="7498200" cy="384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003A70"/>
                </a:solidFill>
                <a:latin typeface="Arial"/>
                <a:ea typeface="Arial"/>
                <a:cs typeface="Arial"/>
                <a:sym typeface="Arial"/>
              </a:rPr>
              <a:t>Heróis, guardiãs e identidade institucional</a:t>
            </a:r>
            <a:endParaRPr b="1" sz="2700">
              <a:solidFill>
                <a:srgbClr val="003A7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g3e26f490cf4_0_68"/>
          <p:cNvSpPr/>
          <p:nvPr/>
        </p:nvSpPr>
        <p:spPr>
          <a:xfrm>
            <a:off x="11475720" y="6492240"/>
            <a:ext cx="3657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72BC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0072BC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g3e26f490cf4_0_68"/>
          <p:cNvSpPr/>
          <p:nvPr/>
        </p:nvSpPr>
        <p:spPr>
          <a:xfrm>
            <a:off x="685800" y="809625"/>
            <a:ext cx="9022800" cy="329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53616C"/>
                </a:solidFill>
                <a:latin typeface="Arial"/>
                <a:ea typeface="Arial"/>
                <a:cs typeface="Arial"/>
                <a:sym typeface="Arial"/>
              </a:rPr>
              <a:t>A cultura nasce de um gesto filantrópico e se sustenta em uma governança associativa, não proprietária.</a:t>
            </a:r>
            <a:endParaRPr b="0" sz="1700">
              <a:solidFill>
                <a:srgbClr val="53616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3" name="Google Shape;73;g3e26f490cf4_0_68"/>
          <p:cNvGrpSpPr/>
          <p:nvPr/>
        </p:nvGrpSpPr>
        <p:grpSpPr>
          <a:xfrm>
            <a:off x="714375" y="1381125"/>
            <a:ext cx="2524200" cy="2667000"/>
            <a:chOff x="714375" y="1381125"/>
            <a:chExt cx="2524200" cy="2667000"/>
          </a:xfrm>
        </p:grpSpPr>
        <p:sp>
          <p:nvSpPr>
            <p:cNvPr id="74" name="Google Shape;74;g3e26f490cf4_0_68"/>
            <p:cNvSpPr/>
            <p:nvPr/>
          </p:nvSpPr>
          <p:spPr>
            <a:xfrm>
              <a:off x="714375" y="1381125"/>
              <a:ext cx="2524200" cy="2667000"/>
            </a:xfrm>
            <a:prstGeom prst="roundRect">
              <a:avLst>
                <a:gd fmla="val 4528" name="adj"/>
              </a:avLst>
            </a:prstGeom>
            <a:solidFill>
              <a:srgbClr val="FFFFFF"/>
            </a:solidFill>
            <a:ln cap="flat" cmpd="sng" w="9525">
              <a:solidFill>
                <a:srgbClr val="003A7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/>
            </a:p>
          </p:txBody>
        </p:sp>
        <p:sp>
          <p:nvSpPr>
            <p:cNvPr id="75" name="Google Shape;75;g3e26f490cf4_0_68"/>
            <p:cNvSpPr/>
            <p:nvPr/>
          </p:nvSpPr>
          <p:spPr>
            <a:xfrm>
              <a:off x="714375" y="1381125"/>
              <a:ext cx="2524200" cy="476400"/>
            </a:xfrm>
            <a:prstGeom prst="roundRect">
              <a:avLst>
                <a:gd fmla="val 24000" name="adj"/>
              </a:avLst>
            </a:prstGeom>
            <a:solidFill>
              <a:srgbClr val="003A7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/>
            </a:p>
          </p:txBody>
        </p:sp>
        <p:sp>
          <p:nvSpPr>
            <p:cNvPr id="76" name="Google Shape;76;g3e26f490cf4_0_68"/>
            <p:cNvSpPr/>
            <p:nvPr/>
          </p:nvSpPr>
          <p:spPr>
            <a:xfrm>
              <a:off x="714375" y="1666875"/>
              <a:ext cx="2524200" cy="190500"/>
            </a:xfrm>
            <a:prstGeom prst="rect">
              <a:avLst/>
            </a:prstGeom>
            <a:solidFill>
              <a:srgbClr val="003A7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/>
            </a:p>
          </p:txBody>
        </p:sp>
        <p:sp>
          <p:nvSpPr>
            <p:cNvPr id="77" name="Google Shape;77;g3e26f490cf4_0_68"/>
            <p:cNvSpPr txBox="1"/>
            <p:nvPr/>
          </p:nvSpPr>
          <p:spPr>
            <a:xfrm>
              <a:off x="809625" y="1381125"/>
              <a:ext cx="23337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9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Heroína fundadora</a:t>
              </a:r>
              <a:endParaRPr b="1" sz="1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g3e26f490cf4_0_68"/>
            <p:cNvSpPr txBox="1"/>
            <p:nvPr/>
          </p:nvSpPr>
          <p:spPr>
            <a:xfrm>
              <a:off x="761850" y="1952625"/>
              <a:ext cx="2381400" cy="20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650">
                  <a:solidFill>
                    <a:srgbClr val="53616C"/>
                  </a:solidFill>
                  <a:latin typeface="Arial"/>
                  <a:ea typeface="Arial"/>
                  <a:cs typeface="Arial"/>
                  <a:sym typeface="Arial"/>
                </a:rPr>
                <a:t>Dona Adma Jafet simboliza a origem filantrópica, o protagonismo feminino e a mobilização coletiva.</a:t>
              </a:r>
              <a:endParaRPr b="0" sz="1650">
                <a:solidFill>
                  <a:srgbClr val="53616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9" name="Google Shape;79;g3e26f490cf4_0_68"/>
          <p:cNvGrpSpPr/>
          <p:nvPr/>
        </p:nvGrpSpPr>
        <p:grpSpPr>
          <a:xfrm>
            <a:off x="3476625" y="1381125"/>
            <a:ext cx="2524200" cy="2667000"/>
            <a:chOff x="3476625" y="1381125"/>
            <a:chExt cx="2524200" cy="2667000"/>
          </a:xfrm>
        </p:grpSpPr>
        <p:sp>
          <p:nvSpPr>
            <p:cNvPr id="80" name="Google Shape;80;g3e26f490cf4_0_68"/>
            <p:cNvSpPr/>
            <p:nvPr/>
          </p:nvSpPr>
          <p:spPr>
            <a:xfrm>
              <a:off x="3476625" y="1381125"/>
              <a:ext cx="2524200" cy="2667000"/>
            </a:xfrm>
            <a:prstGeom prst="roundRect">
              <a:avLst>
                <a:gd fmla="val 4528" name="adj"/>
              </a:avLst>
            </a:prstGeom>
            <a:solidFill>
              <a:srgbClr val="FFFFFF"/>
            </a:solidFill>
            <a:ln cap="flat" cmpd="sng" w="9525">
              <a:solidFill>
                <a:srgbClr val="00A6D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/>
            </a:p>
          </p:txBody>
        </p:sp>
        <p:sp>
          <p:nvSpPr>
            <p:cNvPr id="81" name="Google Shape;81;g3e26f490cf4_0_68"/>
            <p:cNvSpPr/>
            <p:nvPr/>
          </p:nvSpPr>
          <p:spPr>
            <a:xfrm>
              <a:off x="3476625" y="1381125"/>
              <a:ext cx="2524200" cy="476400"/>
            </a:xfrm>
            <a:prstGeom prst="roundRect">
              <a:avLst>
                <a:gd fmla="val 24000" name="adj"/>
              </a:avLst>
            </a:prstGeom>
            <a:solidFill>
              <a:srgbClr val="00A6D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/>
            </a:p>
          </p:txBody>
        </p:sp>
        <p:sp>
          <p:nvSpPr>
            <p:cNvPr id="82" name="Google Shape;82;g3e26f490cf4_0_68"/>
            <p:cNvSpPr/>
            <p:nvPr/>
          </p:nvSpPr>
          <p:spPr>
            <a:xfrm>
              <a:off x="3476625" y="1666875"/>
              <a:ext cx="2524200" cy="190500"/>
            </a:xfrm>
            <a:prstGeom prst="rect">
              <a:avLst/>
            </a:prstGeom>
            <a:solidFill>
              <a:srgbClr val="00A6D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/>
            </a:p>
          </p:txBody>
        </p:sp>
        <p:sp>
          <p:nvSpPr>
            <p:cNvPr id="83" name="Google Shape;83;g3e26f490cf4_0_68"/>
            <p:cNvSpPr txBox="1"/>
            <p:nvPr/>
          </p:nvSpPr>
          <p:spPr>
            <a:xfrm>
              <a:off x="3571875" y="1381125"/>
              <a:ext cx="23337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9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Guardiã institucional</a:t>
              </a:r>
              <a:endParaRPr b="1" sz="1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g3e26f490cf4_0_68"/>
            <p:cNvSpPr txBox="1"/>
            <p:nvPr/>
          </p:nvSpPr>
          <p:spPr>
            <a:xfrm>
              <a:off x="3619500" y="1952625"/>
              <a:ext cx="2238300" cy="20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650">
                  <a:solidFill>
                    <a:srgbClr val="53616C"/>
                  </a:solidFill>
                  <a:latin typeface="Arial"/>
                  <a:ea typeface="Arial"/>
                  <a:cs typeface="Arial"/>
                  <a:sym typeface="Arial"/>
                </a:rPr>
                <a:t>A Sociedade Beneficente de Senhoras preserva os princípios fundadores e a vocação filantrópica.</a:t>
              </a:r>
              <a:endParaRPr b="0" sz="1650">
                <a:solidFill>
                  <a:srgbClr val="53616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5" name="Google Shape;85;g3e26f490cf4_0_68"/>
          <p:cNvGrpSpPr/>
          <p:nvPr/>
        </p:nvGrpSpPr>
        <p:grpSpPr>
          <a:xfrm>
            <a:off x="6238875" y="1381125"/>
            <a:ext cx="2524200" cy="2667000"/>
            <a:chOff x="6238875" y="1381125"/>
            <a:chExt cx="2524200" cy="2667000"/>
          </a:xfrm>
        </p:grpSpPr>
        <p:sp>
          <p:nvSpPr>
            <p:cNvPr id="86" name="Google Shape;86;g3e26f490cf4_0_68"/>
            <p:cNvSpPr/>
            <p:nvPr/>
          </p:nvSpPr>
          <p:spPr>
            <a:xfrm>
              <a:off x="6238875" y="1381125"/>
              <a:ext cx="2524200" cy="2667000"/>
            </a:xfrm>
            <a:prstGeom prst="roundRect">
              <a:avLst>
                <a:gd fmla="val 4528" name="adj"/>
              </a:avLst>
            </a:prstGeom>
            <a:solidFill>
              <a:srgbClr val="FFFFFF"/>
            </a:solidFill>
            <a:ln cap="flat" cmpd="sng" w="9525">
              <a:solidFill>
                <a:srgbClr val="003A7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/>
            </a:p>
          </p:txBody>
        </p:sp>
        <p:sp>
          <p:nvSpPr>
            <p:cNvPr id="87" name="Google Shape;87;g3e26f490cf4_0_68"/>
            <p:cNvSpPr/>
            <p:nvPr/>
          </p:nvSpPr>
          <p:spPr>
            <a:xfrm>
              <a:off x="6238875" y="1381125"/>
              <a:ext cx="2524200" cy="476400"/>
            </a:xfrm>
            <a:prstGeom prst="roundRect">
              <a:avLst>
                <a:gd fmla="val 24000" name="adj"/>
              </a:avLst>
            </a:prstGeom>
            <a:solidFill>
              <a:srgbClr val="003A7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/>
            </a:p>
          </p:txBody>
        </p:sp>
        <p:sp>
          <p:nvSpPr>
            <p:cNvPr id="88" name="Google Shape;88;g3e26f490cf4_0_68"/>
            <p:cNvSpPr/>
            <p:nvPr/>
          </p:nvSpPr>
          <p:spPr>
            <a:xfrm>
              <a:off x="6238875" y="1666875"/>
              <a:ext cx="2524200" cy="190500"/>
            </a:xfrm>
            <a:prstGeom prst="rect">
              <a:avLst/>
            </a:prstGeom>
            <a:solidFill>
              <a:srgbClr val="003A7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/>
            </a:p>
          </p:txBody>
        </p:sp>
        <p:sp>
          <p:nvSpPr>
            <p:cNvPr id="89" name="Google Shape;89;g3e26f490cf4_0_68"/>
            <p:cNvSpPr txBox="1"/>
            <p:nvPr/>
          </p:nvSpPr>
          <p:spPr>
            <a:xfrm>
              <a:off x="6238875" y="1381125"/>
              <a:ext cx="24291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9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Sem “donos” privados</a:t>
              </a:r>
              <a:endParaRPr b="1" sz="1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g3e26f490cf4_0_68"/>
            <p:cNvSpPr txBox="1"/>
            <p:nvPr/>
          </p:nvSpPr>
          <p:spPr>
            <a:xfrm>
              <a:off x="6381750" y="1952625"/>
              <a:ext cx="2238300" cy="20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650">
                  <a:solidFill>
                    <a:srgbClr val="53616C"/>
                  </a:solidFill>
                  <a:latin typeface="Arial"/>
                  <a:ea typeface="Arial"/>
                  <a:cs typeface="Arial"/>
                  <a:sym typeface="Arial"/>
                </a:rPr>
                <a:t>O Sírio-Libanês é uma associação civil sem fins lucrativos, com funções estatutárias voluntárias.</a:t>
              </a:r>
              <a:endParaRPr b="0" sz="1650">
                <a:solidFill>
                  <a:srgbClr val="53616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1" name="Google Shape;91;g3e26f490cf4_0_68"/>
          <p:cNvGrpSpPr/>
          <p:nvPr/>
        </p:nvGrpSpPr>
        <p:grpSpPr>
          <a:xfrm>
            <a:off x="9001125" y="1381125"/>
            <a:ext cx="2524200" cy="2667000"/>
            <a:chOff x="9001125" y="1381125"/>
            <a:chExt cx="2524200" cy="2667000"/>
          </a:xfrm>
        </p:grpSpPr>
        <p:sp>
          <p:nvSpPr>
            <p:cNvPr id="92" name="Google Shape;92;g3e26f490cf4_0_68"/>
            <p:cNvSpPr/>
            <p:nvPr/>
          </p:nvSpPr>
          <p:spPr>
            <a:xfrm>
              <a:off x="9001125" y="1381125"/>
              <a:ext cx="2524200" cy="2667000"/>
            </a:xfrm>
            <a:prstGeom prst="roundRect">
              <a:avLst>
                <a:gd fmla="val 4528" name="adj"/>
              </a:avLst>
            </a:prstGeom>
            <a:solidFill>
              <a:srgbClr val="FFFFFF"/>
            </a:solidFill>
            <a:ln cap="flat" cmpd="sng" w="9525">
              <a:solidFill>
                <a:srgbClr val="00A6D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/>
            </a:p>
          </p:txBody>
        </p:sp>
        <p:sp>
          <p:nvSpPr>
            <p:cNvPr id="93" name="Google Shape;93;g3e26f490cf4_0_68"/>
            <p:cNvSpPr/>
            <p:nvPr/>
          </p:nvSpPr>
          <p:spPr>
            <a:xfrm>
              <a:off x="9001125" y="1381125"/>
              <a:ext cx="2524200" cy="476400"/>
            </a:xfrm>
            <a:prstGeom prst="roundRect">
              <a:avLst>
                <a:gd fmla="val 24000" name="adj"/>
              </a:avLst>
            </a:prstGeom>
            <a:solidFill>
              <a:srgbClr val="00A6D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/>
            </a:p>
          </p:txBody>
        </p:sp>
        <p:sp>
          <p:nvSpPr>
            <p:cNvPr id="94" name="Google Shape;94;g3e26f490cf4_0_68"/>
            <p:cNvSpPr/>
            <p:nvPr/>
          </p:nvSpPr>
          <p:spPr>
            <a:xfrm>
              <a:off x="9001125" y="1666875"/>
              <a:ext cx="2524200" cy="190500"/>
            </a:xfrm>
            <a:prstGeom prst="rect">
              <a:avLst/>
            </a:prstGeom>
            <a:solidFill>
              <a:srgbClr val="00A6D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/>
            </a:p>
          </p:txBody>
        </p:sp>
        <p:sp>
          <p:nvSpPr>
            <p:cNvPr id="95" name="Google Shape;95;g3e26f490cf4_0_68"/>
            <p:cNvSpPr txBox="1"/>
            <p:nvPr/>
          </p:nvSpPr>
          <p:spPr>
            <a:xfrm>
              <a:off x="9096375" y="1381125"/>
              <a:ext cx="23337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9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Lema / propósito</a:t>
              </a:r>
              <a:endParaRPr b="1" sz="1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g3e26f490cf4_0_68"/>
            <p:cNvSpPr txBox="1"/>
            <p:nvPr/>
          </p:nvSpPr>
          <p:spPr>
            <a:xfrm>
              <a:off x="9144000" y="1952625"/>
              <a:ext cx="2238300" cy="20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33020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600"/>
                <a:buFont typeface="Arial"/>
                <a:buChar char="●"/>
              </a:pPr>
              <a:r>
                <a:rPr b="0" lang="en-US" sz="1600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Vida plena e digna. </a:t>
              </a:r>
              <a:endParaRPr sz="1600">
                <a:solidFill>
                  <a:schemeClr val="dk2"/>
                </a:solidFill>
              </a:endParaRPr>
            </a:p>
            <a:p>
              <a:pPr indent="-33020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600"/>
                <a:buChar char="●"/>
              </a:pPr>
              <a:r>
                <a:rPr lang="en-US" sz="1600">
                  <a:solidFill>
                    <a:schemeClr val="dk2"/>
                  </a:solidFill>
                  <a:highlight>
                    <a:srgbClr val="FFFFFF"/>
                  </a:highlight>
                </a:rPr>
                <a:t>Excelência em filantropia e saúde de alta complexidade na América Latina.</a:t>
              </a:r>
              <a:endParaRPr sz="1600">
                <a:solidFill>
                  <a:schemeClr val="dk2"/>
                </a:solidFill>
              </a:endParaRPr>
            </a:p>
          </p:txBody>
        </p:sp>
      </p:grpSp>
      <p:pic>
        <p:nvPicPr>
          <p:cNvPr id="97" name="Google Shape;97;g3e26f490cf4_0_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29413" y="4355160"/>
            <a:ext cx="5733183" cy="196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g3e26f490cf4_0_68" title="Hospital-Sírio-Libanês-logo-removebg-preview (1).png"/>
          <p:cNvPicPr preferRelativeResize="0"/>
          <p:nvPr/>
        </p:nvPicPr>
        <p:blipFill rotWithShape="1">
          <a:blip r:embed="rId4">
            <a:alphaModFix/>
          </a:blip>
          <a:srcRect b="36159" l="21436" r="22330" t="35811"/>
          <a:stretch/>
        </p:blipFill>
        <p:spPr>
          <a:xfrm>
            <a:off x="9784075" y="292602"/>
            <a:ext cx="2057399" cy="6159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AFD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4" name="Google Shape;104;g3e5183ed5d7_1_0"/>
          <p:cNvCxnSpPr/>
          <p:nvPr/>
        </p:nvCxnSpPr>
        <p:spPr>
          <a:xfrm>
            <a:off x="320040" y="182880"/>
            <a:ext cx="0" cy="6355200"/>
          </a:xfrm>
          <a:prstGeom prst="straightConnector1">
            <a:avLst/>
          </a:prstGeom>
          <a:noFill/>
          <a:ln cap="flat" cmpd="sng" w="38100">
            <a:solidFill>
              <a:srgbClr val="00A6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5" name="Google Shape;105;g3e5183ed5d7_1_0"/>
          <p:cNvSpPr/>
          <p:nvPr/>
        </p:nvSpPr>
        <p:spPr>
          <a:xfrm>
            <a:off x="594360" y="292608"/>
            <a:ext cx="7498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A7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03A70"/>
                </a:solidFill>
                <a:latin typeface="Arial"/>
                <a:ea typeface="Arial"/>
                <a:cs typeface="Arial"/>
                <a:sym typeface="Arial"/>
              </a:rPr>
              <a:t>Cultura declarada: SER Sírio-Libanês +100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g3e5183ed5d7_1_0"/>
          <p:cNvSpPr/>
          <p:nvPr/>
        </p:nvSpPr>
        <p:spPr>
          <a:xfrm>
            <a:off x="594360" y="758952"/>
            <a:ext cx="8869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6B7A"/>
              </a:buClr>
              <a:buSzPts val="900"/>
              <a:buFont typeface="Arial"/>
              <a:buNone/>
            </a:pPr>
            <a:r>
              <a:rPr b="0" i="0" lang="en-US" u="none" cap="none" strike="noStrike">
                <a:solidFill>
                  <a:srgbClr val="526B7A"/>
                </a:solidFill>
                <a:latin typeface="Arial"/>
                <a:ea typeface="Arial"/>
                <a:cs typeface="Arial"/>
                <a:sym typeface="Arial"/>
              </a:rPr>
              <a:t>No Relato Integrado 2025, os valores organizam estratégia, entrega e criação de valor</a:t>
            </a:r>
            <a:r>
              <a:rPr b="0" i="0" lang="en-US" sz="900" u="none" cap="none" strike="noStrike">
                <a:solidFill>
                  <a:srgbClr val="526B7A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g3e5183ed5d7_1_0"/>
          <p:cNvSpPr/>
          <p:nvPr/>
        </p:nvSpPr>
        <p:spPr>
          <a:xfrm>
            <a:off x="11475720" y="6492240"/>
            <a:ext cx="3657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72BC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0072BC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8" name="Google Shape;108;g3e5183ed5d7_1_0" title="upscalemedia-transformed.png"/>
          <p:cNvPicPr preferRelativeResize="0"/>
          <p:nvPr/>
        </p:nvPicPr>
        <p:blipFill rotWithShape="1">
          <a:blip r:embed="rId3">
            <a:alphaModFix/>
          </a:blip>
          <a:srcRect b="0" l="20" r="10" t="0"/>
          <a:stretch/>
        </p:blipFill>
        <p:spPr>
          <a:xfrm>
            <a:off x="1467088" y="1167252"/>
            <a:ext cx="9257825" cy="52183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g3e5183ed5d7_1_0" title="Hospital-Sírio-Libanês-logo-removebg-preview (1).png"/>
          <p:cNvPicPr preferRelativeResize="0"/>
          <p:nvPr/>
        </p:nvPicPr>
        <p:blipFill rotWithShape="1">
          <a:blip r:embed="rId4">
            <a:alphaModFix/>
          </a:blip>
          <a:srcRect b="36159" l="21436" r="22330" t="35811"/>
          <a:stretch/>
        </p:blipFill>
        <p:spPr>
          <a:xfrm>
            <a:off x="9784075" y="292602"/>
            <a:ext cx="2057399" cy="6159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5" name="Google Shape;115;g3e590c21d2e_1_545"/>
          <p:cNvCxnSpPr/>
          <p:nvPr/>
        </p:nvCxnSpPr>
        <p:spPr>
          <a:xfrm>
            <a:off x="320040" y="182880"/>
            <a:ext cx="0" cy="6355200"/>
          </a:xfrm>
          <a:prstGeom prst="straightConnector1">
            <a:avLst/>
          </a:prstGeom>
          <a:noFill/>
          <a:ln cap="flat" cmpd="sng" w="38100">
            <a:solidFill>
              <a:srgbClr val="00A6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6" name="Google Shape;116;g3e590c21d2e_1_545"/>
          <p:cNvSpPr/>
          <p:nvPr/>
        </p:nvSpPr>
        <p:spPr>
          <a:xfrm>
            <a:off x="594360" y="292608"/>
            <a:ext cx="7498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A70"/>
              </a:buClr>
              <a:buSzPts val="2200"/>
              <a:buFont typeface="Arial"/>
              <a:buNone/>
            </a:pPr>
            <a:r>
              <a:rPr b="1" lang="en-US" sz="2200">
                <a:solidFill>
                  <a:srgbClr val="003A70"/>
                </a:solidFill>
              </a:rPr>
              <a:t>Código de Conduta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g3e590c21d2e_1_545"/>
          <p:cNvSpPr/>
          <p:nvPr/>
        </p:nvSpPr>
        <p:spPr>
          <a:xfrm>
            <a:off x="11475720" y="6492240"/>
            <a:ext cx="3657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72BC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0072BC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8" name="Google Shape;118;g3e590c21d2e_1_545" title="Hospital-Sírio-Libanês-logo-removebg-preview (1).png"/>
          <p:cNvPicPr preferRelativeResize="0"/>
          <p:nvPr/>
        </p:nvPicPr>
        <p:blipFill rotWithShape="1">
          <a:blip r:embed="rId4">
            <a:alphaModFix/>
          </a:blip>
          <a:srcRect b="36159" l="21436" r="22330" t="35811"/>
          <a:stretch/>
        </p:blipFill>
        <p:spPr>
          <a:xfrm>
            <a:off x="9784075" y="292602"/>
            <a:ext cx="2057399" cy="61599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9" name="Google Shape;119;g3e590c21d2e_1_545"/>
          <p:cNvGrpSpPr/>
          <p:nvPr/>
        </p:nvGrpSpPr>
        <p:grpSpPr>
          <a:xfrm>
            <a:off x="619125" y="1333500"/>
            <a:ext cx="10953900" cy="4572000"/>
            <a:chOff x="619125" y="1333500"/>
            <a:chExt cx="10953900" cy="4572000"/>
          </a:xfrm>
        </p:grpSpPr>
        <p:sp>
          <p:nvSpPr>
            <p:cNvPr id="120" name="Google Shape;120;g3e590c21d2e_1_545"/>
            <p:cNvSpPr/>
            <p:nvPr/>
          </p:nvSpPr>
          <p:spPr>
            <a:xfrm>
              <a:off x="619125" y="1333500"/>
              <a:ext cx="10953900" cy="4572000"/>
            </a:xfrm>
            <a:prstGeom prst="roundRect">
              <a:avLst>
                <a:gd fmla="val 4166" name="adj"/>
              </a:avLst>
            </a:prstGeom>
            <a:solidFill>
              <a:srgbClr val="FFFFFF"/>
            </a:solidFill>
            <a:ln cap="flat" cmpd="sng" w="9525">
              <a:solidFill>
                <a:srgbClr val="DDEAF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21" name="Google Shape;121;g3e590c21d2e_1_545"/>
            <p:cNvGrpSpPr/>
            <p:nvPr/>
          </p:nvGrpSpPr>
          <p:grpSpPr>
            <a:xfrm>
              <a:off x="952500" y="1619250"/>
              <a:ext cx="5524500" cy="615315"/>
              <a:chOff x="952500" y="1619250"/>
              <a:chExt cx="5524500" cy="615315"/>
            </a:xfrm>
          </p:grpSpPr>
          <p:sp>
            <p:nvSpPr>
              <p:cNvPr id="122" name="Google Shape;122;g3e590c21d2e_1_545"/>
              <p:cNvSpPr/>
              <p:nvPr/>
            </p:nvSpPr>
            <p:spPr>
              <a:xfrm>
                <a:off x="952500" y="1619250"/>
                <a:ext cx="571500" cy="571500"/>
              </a:xfrm>
              <a:prstGeom prst="roundRect">
                <a:avLst>
                  <a:gd fmla="val 50000" name="adj"/>
                </a:avLst>
              </a:prstGeom>
              <a:solidFill>
                <a:srgbClr val="003A7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" name="Google Shape;123;g3e590c21d2e_1_545"/>
              <p:cNvSpPr txBox="1"/>
              <p:nvPr/>
            </p:nvSpPr>
            <p:spPr>
              <a:xfrm>
                <a:off x="952500" y="1663065"/>
                <a:ext cx="5715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3000">
                    <a:solidFill>
                      <a:srgbClr val="FFFFFF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gavel</a:t>
                </a:r>
                <a:endParaRPr sz="3000">
                  <a:solidFill>
                    <a:srgbClr val="FFFFFF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124" name="Google Shape;124;g3e590c21d2e_1_545"/>
              <p:cNvSpPr txBox="1"/>
              <p:nvPr/>
            </p:nvSpPr>
            <p:spPr>
              <a:xfrm>
                <a:off x="1714500" y="1619250"/>
                <a:ext cx="47625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400">
                    <a:solidFill>
                      <a:srgbClr val="14304A"/>
                    </a:solidFill>
                    <a:latin typeface="Arial"/>
                    <a:ea typeface="Arial"/>
                    <a:cs typeface="Arial"/>
                    <a:sym typeface="Arial"/>
                  </a:rPr>
                  <a:t>Código de Conduta</a:t>
                </a:r>
                <a:endParaRPr b="1" sz="2400">
                  <a:solidFill>
                    <a:srgbClr val="14304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125" name="Google Shape;125;g3e590c21d2e_1_545"/>
            <p:cNvCxnSpPr/>
            <p:nvPr/>
          </p:nvCxnSpPr>
          <p:spPr>
            <a:xfrm>
              <a:off x="952500" y="2333625"/>
              <a:ext cx="96678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26" name="Google Shape;126;g3e590c21d2e_1_545"/>
            <p:cNvGrpSpPr/>
            <p:nvPr/>
          </p:nvGrpSpPr>
          <p:grpSpPr>
            <a:xfrm>
              <a:off x="952500" y="2571750"/>
              <a:ext cx="9429900" cy="2667150"/>
              <a:chOff x="952500" y="2571750"/>
              <a:chExt cx="9429900" cy="2667150"/>
            </a:xfrm>
          </p:grpSpPr>
          <p:grpSp>
            <p:nvGrpSpPr>
              <p:cNvPr id="127" name="Google Shape;127;g3e590c21d2e_1_545"/>
              <p:cNvGrpSpPr/>
              <p:nvPr/>
            </p:nvGrpSpPr>
            <p:grpSpPr>
              <a:xfrm>
                <a:off x="952500" y="2571750"/>
                <a:ext cx="3048000" cy="1428900"/>
                <a:chOff x="952500" y="2571750"/>
                <a:chExt cx="3048000" cy="1428900"/>
              </a:xfrm>
            </p:grpSpPr>
            <p:sp>
              <p:nvSpPr>
                <p:cNvPr id="128" name="Google Shape;128;g3e590c21d2e_1_545"/>
                <p:cNvSpPr/>
                <p:nvPr/>
              </p:nvSpPr>
              <p:spPr>
                <a:xfrm>
                  <a:off x="952500" y="2571750"/>
                  <a:ext cx="3048000" cy="1428900"/>
                </a:xfrm>
                <a:prstGeom prst="roundRect">
                  <a:avLst>
                    <a:gd fmla="val 8000" name="adj"/>
                  </a:avLst>
                </a:prstGeom>
                <a:solidFill>
                  <a:srgbClr val="F8FAFC"/>
                </a:solidFill>
                <a:ln cap="flat" cmpd="sng" w="9525">
                  <a:solidFill>
                    <a:srgbClr val="00A6D6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9" name="Google Shape;129;g3e590c21d2e_1_545"/>
                <p:cNvSpPr txBox="1"/>
                <p:nvPr/>
              </p:nvSpPr>
              <p:spPr>
                <a:xfrm>
                  <a:off x="1095375" y="2667000"/>
                  <a:ext cx="2762400" cy="1238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1500">
                      <a:solidFill>
                        <a:srgbClr val="003A7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Guia de Princípios</a:t>
                  </a:r>
                  <a:endParaRPr b="1" sz="1500">
                    <a:solidFill>
                      <a:srgbClr val="003A7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indent="0" lvl="0" marL="0" rtl="0" algn="l">
                    <a:spcBef>
                      <a:spcPts val="600"/>
                    </a:spcBef>
                    <a:spcAft>
                      <a:spcPts val="0"/>
                    </a:spcAft>
                    <a:buNone/>
                  </a:pPr>
                  <a:r>
                    <a:rPr lang="en-US" sz="1300">
                      <a:solidFill>
                        <a:srgbClr val="1F2933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Ações e decisões baseadas em </a:t>
                  </a:r>
                  <a:r>
                    <a:rPr b="1" lang="en-US" sz="1300">
                      <a:solidFill>
                        <a:srgbClr val="1F2933"/>
                      </a:solidFill>
                    </a:rPr>
                    <a:t>respeito, ética, integridade e transparência</a:t>
                  </a:r>
                  <a:r>
                    <a:rPr lang="en-US" sz="1300">
                      <a:solidFill>
                        <a:srgbClr val="1F2933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 (3ª versão, 2024).</a:t>
                  </a:r>
                  <a:endParaRPr sz="1300">
                    <a:solidFill>
                      <a:srgbClr val="1F2933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30" name="Google Shape;130;g3e590c21d2e_1_545"/>
              <p:cNvGrpSpPr/>
              <p:nvPr/>
            </p:nvGrpSpPr>
            <p:grpSpPr>
              <a:xfrm>
                <a:off x="4143375" y="2571750"/>
                <a:ext cx="3048000" cy="1428900"/>
                <a:chOff x="4143375" y="2571750"/>
                <a:chExt cx="3048000" cy="1428900"/>
              </a:xfrm>
            </p:grpSpPr>
            <p:sp>
              <p:nvSpPr>
                <p:cNvPr id="131" name="Google Shape;131;g3e590c21d2e_1_545"/>
                <p:cNvSpPr/>
                <p:nvPr/>
              </p:nvSpPr>
              <p:spPr>
                <a:xfrm>
                  <a:off x="4143375" y="2571750"/>
                  <a:ext cx="3048000" cy="1428900"/>
                </a:xfrm>
                <a:prstGeom prst="roundRect">
                  <a:avLst>
                    <a:gd fmla="val 8000" name="adj"/>
                  </a:avLst>
                </a:prstGeom>
                <a:solidFill>
                  <a:srgbClr val="F8FAFC"/>
                </a:solidFill>
                <a:ln cap="flat" cmpd="sng" w="9525">
                  <a:solidFill>
                    <a:srgbClr val="00A6D6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2" name="Google Shape;132;g3e590c21d2e_1_545"/>
                <p:cNvSpPr txBox="1"/>
                <p:nvPr/>
              </p:nvSpPr>
              <p:spPr>
                <a:xfrm>
                  <a:off x="4286250" y="2667000"/>
                  <a:ext cx="2762400" cy="1238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1500">
                      <a:solidFill>
                        <a:srgbClr val="003A7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Governança</a:t>
                  </a:r>
                  <a:endParaRPr b="1" sz="1500">
                    <a:solidFill>
                      <a:srgbClr val="003A7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indent="0" lvl="0" marL="0" rtl="0" algn="l">
                    <a:spcBef>
                      <a:spcPts val="600"/>
                    </a:spcBef>
                    <a:spcAft>
                      <a:spcPts val="0"/>
                    </a:spcAft>
                    <a:buNone/>
                  </a:pPr>
                  <a:r>
                    <a:rPr lang="en-US" sz="1300">
                      <a:solidFill>
                        <a:srgbClr val="1F2933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Comitê de Integridade e Conduta e Programa de Compliance dedicados.</a:t>
                  </a:r>
                  <a:endParaRPr sz="1300">
                    <a:solidFill>
                      <a:srgbClr val="1F2933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33" name="Google Shape;133;g3e590c21d2e_1_545"/>
              <p:cNvGrpSpPr/>
              <p:nvPr/>
            </p:nvGrpSpPr>
            <p:grpSpPr>
              <a:xfrm>
                <a:off x="7334250" y="2571750"/>
                <a:ext cx="3048000" cy="1428900"/>
                <a:chOff x="7334250" y="2571750"/>
                <a:chExt cx="3048000" cy="1428900"/>
              </a:xfrm>
            </p:grpSpPr>
            <p:sp>
              <p:nvSpPr>
                <p:cNvPr id="134" name="Google Shape;134;g3e590c21d2e_1_545"/>
                <p:cNvSpPr/>
                <p:nvPr/>
              </p:nvSpPr>
              <p:spPr>
                <a:xfrm>
                  <a:off x="7334250" y="2571750"/>
                  <a:ext cx="3048000" cy="1428900"/>
                </a:xfrm>
                <a:prstGeom prst="roundRect">
                  <a:avLst>
                    <a:gd fmla="val 8000" name="adj"/>
                  </a:avLst>
                </a:prstGeom>
                <a:solidFill>
                  <a:srgbClr val="F8FAFC"/>
                </a:solidFill>
                <a:ln cap="flat" cmpd="sng" w="9525">
                  <a:solidFill>
                    <a:srgbClr val="00A6D6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5" name="Google Shape;135;g3e590c21d2e_1_545"/>
                <p:cNvSpPr txBox="1"/>
                <p:nvPr/>
              </p:nvSpPr>
              <p:spPr>
                <a:xfrm>
                  <a:off x="7477125" y="2667000"/>
                  <a:ext cx="2762400" cy="1238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1500">
                      <a:solidFill>
                        <a:srgbClr val="003A7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Transparência</a:t>
                  </a:r>
                  <a:endParaRPr b="1" sz="1500">
                    <a:solidFill>
                      <a:srgbClr val="003A7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indent="0" lvl="0" marL="0" rtl="0" algn="l">
                    <a:spcBef>
                      <a:spcPts val="600"/>
                    </a:spcBef>
                    <a:spcAft>
                      <a:spcPts val="0"/>
                    </a:spcAft>
                    <a:buNone/>
                  </a:pPr>
                  <a:r>
                    <a:rPr lang="en-US" sz="1300">
                      <a:solidFill>
                        <a:srgbClr val="1F2933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Canal de Denúncia confidencial e anônimo para condutas antiéticas.</a:t>
                  </a:r>
                  <a:endParaRPr sz="1300">
                    <a:solidFill>
                      <a:srgbClr val="1F2933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36" name="Google Shape;136;g3e590c21d2e_1_545"/>
              <p:cNvGrpSpPr/>
              <p:nvPr/>
            </p:nvGrpSpPr>
            <p:grpSpPr>
              <a:xfrm>
                <a:off x="952500" y="4191000"/>
                <a:ext cx="4667400" cy="1047900"/>
                <a:chOff x="952500" y="4191000"/>
                <a:chExt cx="4667400" cy="1047900"/>
              </a:xfrm>
            </p:grpSpPr>
            <p:sp>
              <p:nvSpPr>
                <p:cNvPr id="137" name="Google Shape;137;g3e590c21d2e_1_545"/>
                <p:cNvSpPr/>
                <p:nvPr/>
              </p:nvSpPr>
              <p:spPr>
                <a:xfrm>
                  <a:off x="952500" y="4191000"/>
                  <a:ext cx="4667400" cy="1047900"/>
                </a:xfrm>
                <a:prstGeom prst="roundRect">
                  <a:avLst>
                    <a:gd fmla="val 10909" name="adj"/>
                  </a:avLst>
                </a:prstGeom>
                <a:solidFill>
                  <a:srgbClr val="F8FAFC"/>
                </a:solidFill>
                <a:ln cap="flat" cmpd="sng" w="9525">
                  <a:solidFill>
                    <a:srgbClr val="00A6D6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8" name="Google Shape;138;g3e590c21d2e_1_545"/>
                <p:cNvSpPr txBox="1"/>
                <p:nvPr/>
              </p:nvSpPr>
              <p:spPr>
                <a:xfrm>
                  <a:off x="1095375" y="4286250"/>
                  <a:ext cx="4381500" cy="857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1500">
                      <a:solidFill>
                        <a:srgbClr val="003A7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Inclusão e Respeito</a:t>
                  </a:r>
                  <a:endParaRPr b="1" sz="1500">
                    <a:solidFill>
                      <a:srgbClr val="003A7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indent="0" lvl="0" marL="0" rtl="0" algn="l">
                    <a:spcBef>
                      <a:spcPts val="300"/>
                    </a:spcBef>
                    <a:spcAft>
                      <a:spcPts val="0"/>
                    </a:spcAft>
                    <a:buNone/>
                  </a:pPr>
                  <a:r>
                    <a:rPr lang="en-US" sz="1300">
                      <a:solidFill>
                        <a:srgbClr val="1F2933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Promoção de diversidade; proibição de discriminação e assédio.</a:t>
                  </a:r>
                  <a:endParaRPr sz="1300">
                    <a:solidFill>
                      <a:srgbClr val="1F2933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39" name="Google Shape;139;g3e590c21d2e_1_545"/>
              <p:cNvGrpSpPr/>
              <p:nvPr/>
            </p:nvGrpSpPr>
            <p:grpSpPr>
              <a:xfrm>
                <a:off x="5715000" y="4191000"/>
                <a:ext cx="4667400" cy="1047900"/>
                <a:chOff x="5715000" y="4191000"/>
                <a:chExt cx="4667400" cy="1047900"/>
              </a:xfrm>
            </p:grpSpPr>
            <p:sp>
              <p:nvSpPr>
                <p:cNvPr id="140" name="Google Shape;140;g3e590c21d2e_1_545"/>
                <p:cNvSpPr/>
                <p:nvPr/>
              </p:nvSpPr>
              <p:spPr>
                <a:xfrm>
                  <a:off x="5715000" y="4191000"/>
                  <a:ext cx="4667400" cy="1047900"/>
                </a:xfrm>
                <a:prstGeom prst="roundRect">
                  <a:avLst>
                    <a:gd fmla="val 10909" name="adj"/>
                  </a:avLst>
                </a:prstGeom>
                <a:solidFill>
                  <a:srgbClr val="F8FAFC"/>
                </a:solidFill>
                <a:ln cap="flat" cmpd="sng" w="9525">
                  <a:solidFill>
                    <a:srgbClr val="00A6D6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1" name="Google Shape;141;g3e590c21d2e_1_545"/>
                <p:cNvSpPr txBox="1"/>
                <p:nvPr/>
              </p:nvSpPr>
              <p:spPr>
                <a:xfrm>
                  <a:off x="5857875" y="4286250"/>
                  <a:ext cx="4381500" cy="857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1500">
                      <a:solidFill>
                        <a:srgbClr val="003A7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Privacidade (LGPD)</a:t>
                  </a:r>
                  <a:endParaRPr b="1" sz="1500">
                    <a:solidFill>
                      <a:srgbClr val="003A7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indent="0" lvl="0" marL="0" rtl="0" algn="l">
                    <a:spcBef>
                      <a:spcPts val="300"/>
                    </a:spcBef>
                    <a:spcAft>
                      <a:spcPts val="0"/>
                    </a:spcAft>
                    <a:buNone/>
                  </a:pPr>
                  <a:r>
                    <a:rPr lang="en-US" sz="1300">
                      <a:solidFill>
                        <a:srgbClr val="1F2933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Proteção de dados com DPO responsável.</a:t>
                  </a:r>
                  <a:endParaRPr sz="1300">
                    <a:solidFill>
                      <a:srgbClr val="1F2933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7" name="Google Shape;147;g3e590c21d2e_1_519"/>
          <p:cNvCxnSpPr/>
          <p:nvPr/>
        </p:nvCxnSpPr>
        <p:spPr>
          <a:xfrm>
            <a:off x="320040" y="182880"/>
            <a:ext cx="0" cy="6355200"/>
          </a:xfrm>
          <a:prstGeom prst="straightConnector1">
            <a:avLst/>
          </a:prstGeom>
          <a:noFill/>
          <a:ln cap="flat" cmpd="sng" w="38100">
            <a:solidFill>
              <a:srgbClr val="00A6D6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48" name="Google Shape;148;g3e590c21d2e_1_519"/>
          <p:cNvGrpSpPr/>
          <p:nvPr/>
        </p:nvGrpSpPr>
        <p:grpSpPr>
          <a:xfrm>
            <a:off x="594360" y="1333500"/>
            <a:ext cx="11001300" cy="4000500"/>
            <a:chOff x="594360" y="1333500"/>
            <a:chExt cx="11001300" cy="4000500"/>
          </a:xfrm>
        </p:grpSpPr>
        <p:sp>
          <p:nvSpPr>
            <p:cNvPr id="149" name="Google Shape;149;g3e590c21d2e_1_519"/>
            <p:cNvSpPr/>
            <p:nvPr/>
          </p:nvSpPr>
          <p:spPr>
            <a:xfrm>
              <a:off x="594360" y="1333500"/>
              <a:ext cx="11001300" cy="4000500"/>
            </a:xfrm>
            <a:prstGeom prst="roundRect">
              <a:avLst>
                <a:gd fmla="val 4761" name="adj"/>
              </a:avLst>
            </a:prstGeom>
            <a:solidFill>
              <a:srgbClr val="FFFFFF"/>
            </a:solidFill>
            <a:ln cap="flat" cmpd="sng" w="9525">
              <a:solidFill>
                <a:srgbClr val="DDEAF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50" name="Google Shape;150;g3e590c21d2e_1_5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752975" y="1895475"/>
              <a:ext cx="2686200" cy="26862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1" name="Google Shape;151;g3e590c21d2e_1_519"/>
          <p:cNvSpPr/>
          <p:nvPr/>
        </p:nvSpPr>
        <p:spPr>
          <a:xfrm>
            <a:off x="594360" y="292608"/>
            <a:ext cx="7498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A7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03A70"/>
                </a:solidFill>
                <a:latin typeface="Arial"/>
                <a:ea typeface="Arial"/>
                <a:cs typeface="Arial"/>
                <a:sym typeface="Arial"/>
              </a:rPr>
              <a:t>Pilares propostos da cultura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2" name="Google Shape;152;g3e590c21d2e_1_519"/>
          <p:cNvGrpSpPr/>
          <p:nvPr/>
        </p:nvGrpSpPr>
        <p:grpSpPr>
          <a:xfrm>
            <a:off x="4667250" y="2095500"/>
            <a:ext cx="2857500" cy="2095500"/>
            <a:chOff x="4667250" y="2095500"/>
            <a:chExt cx="2857500" cy="2095500"/>
          </a:xfrm>
        </p:grpSpPr>
        <p:cxnSp>
          <p:nvCxnSpPr>
            <p:cNvPr id="153" name="Google Shape;153;g3e590c21d2e_1_519"/>
            <p:cNvCxnSpPr/>
            <p:nvPr/>
          </p:nvCxnSpPr>
          <p:spPr>
            <a:xfrm>
              <a:off x="6096000" y="2095500"/>
              <a:ext cx="0" cy="285900"/>
            </a:xfrm>
            <a:prstGeom prst="straightConnector1">
              <a:avLst/>
            </a:prstGeom>
            <a:solidFill>
              <a:srgbClr val="FFFFFF"/>
            </a:solidFill>
            <a:ln cap="flat" cmpd="sng" w="19050">
              <a:solidFill>
                <a:srgbClr val="00A6D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4" name="Google Shape;154;g3e590c21d2e_1_519"/>
            <p:cNvCxnSpPr/>
            <p:nvPr/>
          </p:nvCxnSpPr>
          <p:spPr>
            <a:xfrm>
              <a:off x="4762500" y="2667000"/>
              <a:ext cx="476400" cy="571500"/>
            </a:xfrm>
            <a:prstGeom prst="straightConnector1">
              <a:avLst/>
            </a:prstGeom>
            <a:solidFill>
              <a:srgbClr val="FFFFFF"/>
            </a:solidFill>
            <a:ln cap="flat" cmpd="sng" w="19050">
              <a:solidFill>
                <a:srgbClr val="0072B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5" name="Google Shape;155;g3e590c21d2e_1_519"/>
            <p:cNvCxnSpPr/>
            <p:nvPr/>
          </p:nvCxnSpPr>
          <p:spPr>
            <a:xfrm flipH="1">
              <a:off x="6953100" y="2667000"/>
              <a:ext cx="476400" cy="571500"/>
            </a:xfrm>
            <a:prstGeom prst="straightConnector1">
              <a:avLst/>
            </a:prstGeom>
            <a:solidFill>
              <a:srgbClr val="FFFFFF"/>
            </a:solidFill>
            <a:ln cap="flat" cmpd="sng" w="19050">
              <a:solidFill>
                <a:srgbClr val="003A7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6" name="Google Shape;156;g3e590c21d2e_1_519"/>
            <p:cNvCxnSpPr/>
            <p:nvPr/>
          </p:nvCxnSpPr>
          <p:spPr>
            <a:xfrm flipH="1" rot="10800000">
              <a:off x="4667250" y="3810000"/>
              <a:ext cx="762000" cy="381000"/>
            </a:xfrm>
            <a:prstGeom prst="straightConnector1">
              <a:avLst/>
            </a:prstGeom>
            <a:solidFill>
              <a:srgbClr val="FFFFFF"/>
            </a:solidFill>
            <a:ln cap="flat" cmpd="sng" w="19050">
              <a:solidFill>
                <a:srgbClr val="006AA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7" name="Google Shape;157;g3e590c21d2e_1_519"/>
            <p:cNvCxnSpPr/>
            <p:nvPr/>
          </p:nvCxnSpPr>
          <p:spPr>
            <a:xfrm rot="10800000">
              <a:off x="6762750" y="3810000"/>
              <a:ext cx="762000" cy="381000"/>
            </a:xfrm>
            <a:prstGeom prst="straightConnector1">
              <a:avLst/>
            </a:prstGeom>
            <a:solidFill>
              <a:srgbClr val="FFFFFF"/>
            </a:solidFill>
            <a:ln cap="flat" cmpd="sng" w="19050">
              <a:solidFill>
                <a:srgbClr val="68BFE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58" name="Google Shape;158;g3e590c21d2e_1_519"/>
          <p:cNvSpPr/>
          <p:nvPr/>
        </p:nvSpPr>
        <p:spPr>
          <a:xfrm>
            <a:off x="5238750" y="1524000"/>
            <a:ext cx="1714500" cy="571500"/>
          </a:xfrm>
          <a:prstGeom prst="rect">
            <a:avLst/>
          </a:prstGeom>
          <a:solidFill>
            <a:srgbClr val="00A6D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Excelência</a:t>
            </a:r>
            <a:endParaRPr b="1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g3e590c21d2e_1_519"/>
          <p:cNvSpPr/>
          <p:nvPr/>
        </p:nvSpPr>
        <p:spPr>
          <a:xfrm>
            <a:off x="3048000" y="2381250"/>
            <a:ext cx="1714500" cy="571500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Impacto social</a:t>
            </a:r>
            <a:endParaRPr b="1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g3e590c21d2e_1_519"/>
          <p:cNvSpPr/>
          <p:nvPr/>
        </p:nvSpPr>
        <p:spPr>
          <a:xfrm>
            <a:off x="11475720" y="6492240"/>
            <a:ext cx="3657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72BC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0072BC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g3e590c21d2e_1_519"/>
          <p:cNvSpPr/>
          <p:nvPr/>
        </p:nvSpPr>
        <p:spPr>
          <a:xfrm>
            <a:off x="7429500" y="2381250"/>
            <a:ext cx="1714500" cy="571500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Resultado sustentável</a:t>
            </a:r>
            <a:endParaRPr b="1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2" name="Google Shape;162;g3e590c21d2e_1_519" title="Hospital-Sírio-Libanês-logo-removebg-preview (1).png"/>
          <p:cNvPicPr preferRelativeResize="0"/>
          <p:nvPr/>
        </p:nvPicPr>
        <p:blipFill rotWithShape="1">
          <a:blip r:embed="rId5">
            <a:alphaModFix/>
          </a:blip>
          <a:srcRect b="36159" l="21436" r="22330" t="35811"/>
          <a:stretch/>
        </p:blipFill>
        <p:spPr>
          <a:xfrm>
            <a:off x="9784075" y="292602"/>
            <a:ext cx="2057399" cy="615998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g3e590c21d2e_1_519"/>
          <p:cNvSpPr/>
          <p:nvPr/>
        </p:nvSpPr>
        <p:spPr>
          <a:xfrm>
            <a:off x="3810000" y="4191000"/>
            <a:ext cx="1714500" cy="571500"/>
          </a:xfrm>
          <a:prstGeom prst="rect">
            <a:avLst/>
          </a:prstGeom>
          <a:solidFill>
            <a:srgbClr val="006AA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Cuidado com pessoas</a:t>
            </a:r>
            <a:endParaRPr b="1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g3e590c21d2e_1_519"/>
          <p:cNvSpPr/>
          <p:nvPr/>
        </p:nvSpPr>
        <p:spPr>
          <a:xfrm>
            <a:off x="6667500" y="4191000"/>
            <a:ext cx="1714500" cy="571500"/>
          </a:xfrm>
          <a:prstGeom prst="rect">
            <a:avLst/>
          </a:prstGeom>
          <a:solidFill>
            <a:srgbClr val="68BFE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Ética e inclusão</a:t>
            </a:r>
            <a:endParaRPr b="1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g3e590c21d2e_1_519"/>
          <p:cNvSpPr/>
          <p:nvPr/>
        </p:nvSpPr>
        <p:spPr>
          <a:xfrm>
            <a:off x="5238750" y="2381250"/>
            <a:ext cx="1714500" cy="17145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0072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3A70"/>
                </a:solidFill>
                <a:latin typeface="Arial"/>
                <a:ea typeface="Arial"/>
                <a:cs typeface="Arial"/>
                <a:sym typeface="Arial"/>
              </a:rPr>
              <a:t>SER +</a:t>
            </a:r>
            <a:endParaRPr b="1" sz="2400">
              <a:solidFill>
                <a:srgbClr val="003A7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0">
                <a:solidFill>
                  <a:srgbClr val="526B7A"/>
                </a:solidFill>
                <a:latin typeface="Arial"/>
                <a:ea typeface="Arial"/>
                <a:cs typeface="Arial"/>
                <a:sym typeface="Arial"/>
              </a:rPr>
              <a:t>cultura vivida</a:t>
            </a:r>
            <a:endParaRPr b="0" sz="1900">
              <a:solidFill>
                <a:srgbClr val="526B7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AFD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1" name="Google Shape;171;g3e26f490cf4_0_4"/>
          <p:cNvCxnSpPr/>
          <p:nvPr/>
        </p:nvCxnSpPr>
        <p:spPr>
          <a:xfrm>
            <a:off x="320040" y="182880"/>
            <a:ext cx="0" cy="6355200"/>
          </a:xfrm>
          <a:prstGeom prst="straightConnector1">
            <a:avLst/>
          </a:prstGeom>
          <a:noFill/>
          <a:ln cap="flat" cmpd="sng" w="38100">
            <a:solidFill>
              <a:srgbClr val="00A6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2" name="Google Shape;172;g3e26f490cf4_0_4"/>
          <p:cNvSpPr/>
          <p:nvPr/>
        </p:nvSpPr>
        <p:spPr>
          <a:xfrm>
            <a:off x="594360" y="292608"/>
            <a:ext cx="7498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A70"/>
              </a:buClr>
              <a:buSzPts val="2200"/>
              <a:buFont typeface="Arial"/>
              <a:buNone/>
            </a:pPr>
            <a:r>
              <a:rPr b="1" lang="en-US" sz="2200">
                <a:solidFill>
                  <a:srgbClr val="003A70"/>
                </a:solidFill>
              </a:rPr>
              <a:t>Conhecendo a estrutura da empresa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g3e26f490cf4_0_4"/>
          <p:cNvSpPr/>
          <p:nvPr/>
        </p:nvSpPr>
        <p:spPr>
          <a:xfrm>
            <a:off x="11475720" y="6492240"/>
            <a:ext cx="3657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72BC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0072BC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4" name="Google Shape;174;g3e26f490cf4_0_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7725" y="1138325"/>
            <a:ext cx="9072449" cy="458135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g3e26f490cf4_0_4"/>
          <p:cNvSpPr/>
          <p:nvPr/>
        </p:nvSpPr>
        <p:spPr>
          <a:xfrm>
            <a:off x="10119600" y="2615050"/>
            <a:ext cx="1721700" cy="181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A70"/>
              </a:buClr>
              <a:buSzPts val="1230"/>
              <a:buFont typeface="Arial"/>
              <a:buNone/>
            </a:pPr>
            <a:r>
              <a:rPr b="0" i="0" lang="en-US" sz="1330" u="none" cap="none" strike="noStrike">
                <a:solidFill>
                  <a:srgbClr val="003A70"/>
                </a:solidFill>
                <a:latin typeface="Arial"/>
                <a:ea typeface="Arial"/>
                <a:cs typeface="Arial"/>
                <a:sym typeface="Arial"/>
              </a:rPr>
              <a:t>Integração, especialização, alta exigência técnica e forte dependência de coordenação entre áreas. Essa estrutura favorece excelência, mas pode gerar complexidade, silos e variação na experiência dos colaboradores.</a:t>
            </a:r>
            <a:endParaRPr b="0" i="0" sz="133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g3e26f490cf4_0_4"/>
          <p:cNvSpPr/>
          <p:nvPr/>
        </p:nvSpPr>
        <p:spPr>
          <a:xfrm>
            <a:off x="10119600" y="2055099"/>
            <a:ext cx="1593300" cy="5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6D6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A6D6"/>
                </a:solidFill>
                <a:latin typeface="Arial"/>
                <a:ea typeface="Arial"/>
                <a:cs typeface="Arial"/>
                <a:sym typeface="Arial"/>
              </a:rPr>
              <a:t>O que a estrutura transm</a:t>
            </a:r>
            <a:r>
              <a:rPr b="1" i="0" lang="en-US" sz="1500" u="none" cap="none" strike="noStrike">
                <a:solidFill>
                  <a:srgbClr val="00A6D6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1" i="0" lang="en-US" sz="1500" u="none" cap="none" strike="noStrike">
                <a:solidFill>
                  <a:srgbClr val="00A6D6"/>
                </a:solidFill>
                <a:latin typeface="Arial"/>
                <a:ea typeface="Arial"/>
                <a:cs typeface="Arial"/>
                <a:sym typeface="Arial"/>
              </a:rPr>
              <a:t>te?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7" name="Google Shape;177;g3e26f490cf4_0_4" title="Hospital-Sírio-Libanês-logo-removebg-preview (1).png"/>
          <p:cNvPicPr preferRelativeResize="0"/>
          <p:nvPr/>
        </p:nvPicPr>
        <p:blipFill rotWithShape="1">
          <a:blip r:embed="rId4">
            <a:alphaModFix/>
          </a:blip>
          <a:srcRect b="36159" l="21436" r="22330" t="35811"/>
          <a:stretch/>
        </p:blipFill>
        <p:spPr>
          <a:xfrm>
            <a:off x="9784075" y="292602"/>
            <a:ext cx="2057399" cy="6159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AFD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3" name="Google Shape;183;g3e590c21d2e_175_0"/>
          <p:cNvCxnSpPr/>
          <p:nvPr/>
        </p:nvCxnSpPr>
        <p:spPr>
          <a:xfrm>
            <a:off x="320040" y="182880"/>
            <a:ext cx="0" cy="6355200"/>
          </a:xfrm>
          <a:prstGeom prst="straightConnector1">
            <a:avLst/>
          </a:prstGeom>
          <a:noFill/>
          <a:ln cap="flat" cmpd="sng" w="38100">
            <a:solidFill>
              <a:srgbClr val="00A6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4" name="Google Shape;184;g3e590c21d2e_175_0"/>
          <p:cNvSpPr/>
          <p:nvPr/>
        </p:nvSpPr>
        <p:spPr>
          <a:xfrm>
            <a:off x="594360" y="292608"/>
            <a:ext cx="7498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A70"/>
              </a:buClr>
              <a:buSzPts val="2200"/>
              <a:buFont typeface="Arial"/>
              <a:buNone/>
            </a:pPr>
            <a:r>
              <a:rPr b="1" lang="en-US" sz="2200">
                <a:solidFill>
                  <a:srgbClr val="003A70"/>
                </a:solidFill>
              </a:rPr>
              <a:t>Conhecendo a estrutura da empresa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g3e590c21d2e_175_0"/>
          <p:cNvSpPr/>
          <p:nvPr/>
        </p:nvSpPr>
        <p:spPr>
          <a:xfrm>
            <a:off x="11475720" y="6492240"/>
            <a:ext cx="3657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72BC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0072BC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6" name="Google Shape;186;g3e590c21d2e_175_0" title="Hospital-Sírio-Libanês-logo-removebg-preview (1).png"/>
          <p:cNvPicPr preferRelativeResize="0"/>
          <p:nvPr/>
        </p:nvPicPr>
        <p:blipFill rotWithShape="1">
          <a:blip r:embed="rId3">
            <a:alphaModFix/>
          </a:blip>
          <a:srcRect b="36159" l="21436" r="22330" t="35811"/>
          <a:stretch/>
        </p:blipFill>
        <p:spPr>
          <a:xfrm>
            <a:off x="9784075" y="292602"/>
            <a:ext cx="2057399" cy="6159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g3e590c21d2e_175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4566" y="1117950"/>
            <a:ext cx="10244575" cy="4947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3" name="Google Shape;193;g3e590c21d2e_68_0"/>
          <p:cNvCxnSpPr/>
          <p:nvPr/>
        </p:nvCxnSpPr>
        <p:spPr>
          <a:xfrm>
            <a:off x="320040" y="182880"/>
            <a:ext cx="0" cy="6355200"/>
          </a:xfrm>
          <a:prstGeom prst="straightConnector1">
            <a:avLst/>
          </a:prstGeom>
          <a:noFill/>
          <a:ln cap="flat" cmpd="sng" w="38100">
            <a:solidFill>
              <a:srgbClr val="00A6D6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94" name="Google Shape;194;g3e590c21d2e_68_0"/>
          <p:cNvPicPr preferRelativeResize="0"/>
          <p:nvPr/>
        </p:nvPicPr>
        <p:blipFill rotWithShape="1">
          <a:blip r:embed="rId4">
            <a:alphaModFix/>
          </a:blip>
          <a:srcRect b="25570" l="0" r="0" t="25566"/>
          <a:stretch/>
        </p:blipFill>
        <p:spPr>
          <a:xfrm>
            <a:off x="9784080" y="292608"/>
            <a:ext cx="2057400" cy="6159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5" name="Google Shape;195;g3e590c21d2e_68_0"/>
          <p:cNvGrpSpPr/>
          <p:nvPr/>
        </p:nvGrpSpPr>
        <p:grpSpPr>
          <a:xfrm>
            <a:off x="594360" y="1428750"/>
            <a:ext cx="10264140" cy="4381500"/>
            <a:chOff x="594360" y="1428750"/>
            <a:chExt cx="10264140" cy="4381500"/>
          </a:xfrm>
        </p:grpSpPr>
        <p:pic>
          <p:nvPicPr>
            <p:cNvPr id="196" name="Google Shape;196;g3e590c21d2e_68_0"/>
            <p:cNvPicPr preferRelativeResize="0"/>
            <p:nvPr/>
          </p:nvPicPr>
          <p:blipFill rotWithShape="1">
            <a:blip r:embed="rId5">
              <a:alphaModFix/>
            </a:blip>
            <a:srcRect b="0" l="12468" r="12468" t="0"/>
            <a:stretch/>
          </p:blipFill>
          <p:spPr>
            <a:xfrm>
              <a:off x="594360" y="1428750"/>
              <a:ext cx="4286400" cy="3810000"/>
            </a:xfrm>
            <a:prstGeom prst="roundRect">
              <a:avLst>
                <a:gd fmla="val 3000" name="adj"/>
              </a:avLst>
            </a:prstGeom>
            <a:noFill/>
            <a:ln>
              <a:noFill/>
            </a:ln>
          </p:spPr>
        </p:pic>
        <p:pic>
          <p:nvPicPr>
            <p:cNvPr id="197" name="Google Shape;197;g3e590c21d2e_68_0"/>
            <p:cNvPicPr preferRelativeResize="0"/>
            <p:nvPr/>
          </p:nvPicPr>
          <p:blipFill rotWithShape="1">
            <a:blip r:embed="rId6">
              <a:alphaModFix/>
            </a:blip>
            <a:srcRect b="19339" l="0" r="0" t="19345"/>
            <a:stretch/>
          </p:blipFill>
          <p:spPr>
            <a:xfrm>
              <a:off x="5143500" y="1428750"/>
              <a:ext cx="5715000" cy="1809600"/>
            </a:xfrm>
            <a:prstGeom prst="roundRect">
              <a:avLst>
                <a:gd fmla="val 6315" name="adj"/>
              </a:avLst>
            </a:prstGeom>
            <a:noFill/>
            <a:ln>
              <a:noFill/>
            </a:ln>
          </p:spPr>
        </p:pic>
        <p:pic>
          <p:nvPicPr>
            <p:cNvPr id="198" name="Google Shape;198;g3e590c21d2e_68_0"/>
            <p:cNvPicPr preferRelativeResize="0"/>
            <p:nvPr/>
          </p:nvPicPr>
          <p:blipFill rotWithShape="1">
            <a:blip r:embed="rId7">
              <a:alphaModFix/>
            </a:blip>
            <a:srcRect b="26253" l="0" r="0" t="26248"/>
            <a:stretch/>
          </p:blipFill>
          <p:spPr>
            <a:xfrm>
              <a:off x="5143500" y="3429000"/>
              <a:ext cx="5715000" cy="1809600"/>
            </a:xfrm>
            <a:prstGeom prst="roundRect">
              <a:avLst>
                <a:gd fmla="val 6315" name="adj"/>
              </a:avLst>
            </a:prstGeom>
            <a:noFill/>
            <a:ln>
              <a:noFill/>
            </a:ln>
          </p:spPr>
        </p:pic>
        <p:sp>
          <p:nvSpPr>
            <p:cNvPr id="199" name="Google Shape;199;g3e590c21d2e_68_0"/>
            <p:cNvSpPr/>
            <p:nvPr/>
          </p:nvSpPr>
          <p:spPr>
            <a:xfrm>
              <a:off x="594360" y="5429250"/>
              <a:ext cx="62865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90">
                <a:solidFill>
                  <a:srgbClr val="53616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0" name="Google Shape;200;g3e590c21d2e_68_0"/>
          <p:cNvSpPr/>
          <p:nvPr/>
        </p:nvSpPr>
        <p:spPr>
          <a:xfrm>
            <a:off x="11475720" y="6492240"/>
            <a:ext cx="3657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72BC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0072BC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g3e590c21d2e_68_0"/>
          <p:cNvSpPr/>
          <p:nvPr/>
        </p:nvSpPr>
        <p:spPr>
          <a:xfrm>
            <a:off x="594360" y="292608"/>
            <a:ext cx="7498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A70"/>
              </a:buClr>
              <a:buSzPts val="2200"/>
              <a:buFont typeface="Arial"/>
              <a:buNone/>
            </a:pPr>
            <a:r>
              <a:rPr b="1" lang="en-US" sz="2200">
                <a:solidFill>
                  <a:srgbClr val="003A70"/>
                </a:solidFill>
              </a:rPr>
              <a:t>Conhecendo a estrutura da empresa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7" name="Google Shape;207;g3e590c21d2e_52_816"/>
          <p:cNvCxnSpPr/>
          <p:nvPr/>
        </p:nvCxnSpPr>
        <p:spPr>
          <a:xfrm>
            <a:off x="320040" y="182880"/>
            <a:ext cx="0" cy="6355200"/>
          </a:xfrm>
          <a:prstGeom prst="straightConnector1">
            <a:avLst/>
          </a:prstGeom>
          <a:noFill/>
          <a:ln cap="flat" cmpd="sng" w="38100">
            <a:solidFill>
              <a:srgbClr val="00A6D6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08" name="Google Shape;208;g3e590c21d2e_52_816"/>
          <p:cNvPicPr preferRelativeResize="0"/>
          <p:nvPr/>
        </p:nvPicPr>
        <p:blipFill rotWithShape="1">
          <a:blip r:embed="rId4">
            <a:alphaModFix/>
          </a:blip>
          <a:srcRect b="25570" l="0" r="0" t="25566"/>
          <a:stretch/>
        </p:blipFill>
        <p:spPr>
          <a:xfrm>
            <a:off x="9784080" y="292608"/>
            <a:ext cx="2057400" cy="6159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g3e590c21d2e_52_816"/>
          <p:cNvSpPr/>
          <p:nvPr/>
        </p:nvSpPr>
        <p:spPr>
          <a:xfrm>
            <a:off x="11475720" y="6492240"/>
            <a:ext cx="3657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72BC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0072BC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g3e590c21d2e_52_816"/>
          <p:cNvSpPr/>
          <p:nvPr/>
        </p:nvSpPr>
        <p:spPr>
          <a:xfrm>
            <a:off x="594360" y="292608"/>
            <a:ext cx="7498200" cy="384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003A70"/>
                </a:solidFill>
                <a:latin typeface="Arial"/>
                <a:ea typeface="Arial"/>
                <a:cs typeface="Arial"/>
                <a:sym typeface="Arial"/>
              </a:rPr>
              <a:t>Conhecendo a estrutura da empresa</a:t>
            </a:r>
            <a:endParaRPr b="1" sz="2200">
              <a:solidFill>
                <a:srgbClr val="003A7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1" name="Google Shape;211;g3e590c21d2e_52_816"/>
          <p:cNvPicPr preferRelativeResize="0"/>
          <p:nvPr/>
        </p:nvPicPr>
        <p:blipFill rotWithShape="1">
          <a:blip r:embed="rId5">
            <a:alphaModFix/>
          </a:blip>
          <a:srcRect b="13095" l="0" r="0" t="13088"/>
          <a:stretch/>
        </p:blipFill>
        <p:spPr>
          <a:xfrm>
            <a:off x="590550" y="1143000"/>
            <a:ext cx="5143500" cy="4572000"/>
          </a:xfrm>
          <a:prstGeom prst="roundRect">
            <a:avLst>
              <a:gd fmla="val 5000" name="adj"/>
            </a:avLst>
          </a:prstGeom>
          <a:noFill/>
          <a:ln>
            <a:noFill/>
          </a:ln>
        </p:spPr>
      </p:pic>
      <p:pic>
        <p:nvPicPr>
          <p:cNvPr id="212" name="Google Shape;212;g3e590c21d2e_52_816"/>
          <p:cNvPicPr preferRelativeResize="0"/>
          <p:nvPr/>
        </p:nvPicPr>
        <p:blipFill rotWithShape="1">
          <a:blip r:embed="rId6">
            <a:alphaModFix/>
          </a:blip>
          <a:srcRect b="30916" l="0" r="0" t="30912"/>
          <a:stretch/>
        </p:blipFill>
        <p:spPr>
          <a:xfrm>
            <a:off x="6019800" y="1143000"/>
            <a:ext cx="5524500" cy="4572000"/>
          </a:xfrm>
          <a:prstGeom prst="roundRect">
            <a:avLst>
              <a:gd fmla="val 500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8" name="Google Shape;218;g3e590c21d2e_176_0"/>
          <p:cNvCxnSpPr/>
          <p:nvPr/>
        </p:nvCxnSpPr>
        <p:spPr>
          <a:xfrm>
            <a:off x="320040" y="182880"/>
            <a:ext cx="0" cy="6355200"/>
          </a:xfrm>
          <a:prstGeom prst="straightConnector1">
            <a:avLst/>
          </a:prstGeom>
          <a:noFill/>
          <a:ln cap="flat" cmpd="sng" w="38100">
            <a:solidFill>
              <a:srgbClr val="00A6D6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19" name="Google Shape;219;g3e590c21d2e_176_0"/>
          <p:cNvPicPr preferRelativeResize="0"/>
          <p:nvPr/>
        </p:nvPicPr>
        <p:blipFill rotWithShape="1">
          <a:blip r:embed="rId4">
            <a:alphaModFix/>
          </a:blip>
          <a:srcRect b="25570" l="0" r="0" t="25566"/>
          <a:stretch/>
        </p:blipFill>
        <p:spPr>
          <a:xfrm>
            <a:off x="9784080" y="292608"/>
            <a:ext cx="2057400" cy="61590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g3e590c21d2e_176_0"/>
          <p:cNvSpPr/>
          <p:nvPr/>
        </p:nvSpPr>
        <p:spPr>
          <a:xfrm>
            <a:off x="11475720" y="6492240"/>
            <a:ext cx="3657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72BC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0072BC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g3e590c21d2e_176_0"/>
          <p:cNvSpPr/>
          <p:nvPr/>
        </p:nvSpPr>
        <p:spPr>
          <a:xfrm>
            <a:off x="594360" y="292608"/>
            <a:ext cx="7498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A70"/>
              </a:buClr>
              <a:buSzPts val="2200"/>
              <a:buFont typeface="Arial"/>
              <a:buNone/>
            </a:pPr>
            <a:r>
              <a:rPr b="1" lang="en-US" sz="2200">
                <a:solidFill>
                  <a:srgbClr val="003A70"/>
                </a:solidFill>
              </a:rPr>
              <a:t>Conhecendo a estrutura da empresa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2" name="Google Shape;222;g3e590c21d2e_176_0"/>
          <p:cNvGrpSpPr/>
          <p:nvPr/>
        </p:nvGrpSpPr>
        <p:grpSpPr>
          <a:xfrm>
            <a:off x="590550" y="1143000"/>
            <a:ext cx="10287000" cy="4572150"/>
            <a:chOff x="590550" y="1143000"/>
            <a:chExt cx="10287000" cy="4572150"/>
          </a:xfrm>
        </p:grpSpPr>
        <p:pic>
          <p:nvPicPr>
            <p:cNvPr id="223" name="Google Shape;223;g3e590c21d2e_176_0"/>
            <p:cNvPicPr preferRelativeResize="0"/>
            <p:nvPr/>
          </p:nvPicPr>
          <p:blipFill rotWithShape="1">
            <a:blip r:embed="rId5">
              <a:alphaModFix/>
            </a:blip>
            <a:srcRect b="0" l="16684" r="16684" t="0"/>
            <a:stretch/>
          </p:blipFill>
          <p:spPr>
            <a:xfrm>
              <a:off x="590550" y="1143000"/>
              <a:ext cx="4572000" cy="4572000"/>
            </a:xfrm>
            <a:prstGeom prst="roundRect">
              <a:avLst>
                <a:gd fmla="val 5000" name="adj"/>
              </a:avLst>
            </a:prstGeom>
            <a:noFill/>
            <a:ln>
              <a:noFill/>
            </a:ln>
          </p:spPr>
        </p:pic>
        <p:pic>
          <p:nvPicPr>
            <p:cNvPr id="224" name="Google Shape;224;g3e590c21d2e_176_0"/>
            <p:cNvPicPr preferRelativeResize="0"/>
            <p:nvPr/>
          </p:nvPicPr>
          <p:blipFill rotWithShape="1">
            <a:blip r:embed="rId6">
              <a:alphaModFix/>
            </a:blip>
            <a:srcRect b="15618" l="0" r="0" t="15611"/>
            <a:stretch/>
          </p:blipFill>
          <p:spPr>
            <a:xfrm>
              <a:off x="5353050" y="1143000"/>
              <a:ext cx="5524500" cy="2190900"/>
            </a:xfrm>
            <a:prstGeom prst="roundRect">
              <a:avLst>
                <a:gd fmla="val 10434" name="adj"/>
              </a:avLst>
            </a:prstGeom>
            <a:noFill/>
            <a:ln>
              <a:noFill/>
            </a:ln>
          </p:spPr>
        </p:pic>
        <p:pic>
          <p:nvPicPr>
            <p:cNvPr id="225" name="Google Shape;225;g3e590c21d2e_176_0"/>
            <p:cNvPicPr preferRelativeResize="0"/>
            <p:nvPr/>
          </p:nvPicPr>
          <p:blipFill rotWithShape="1">
            <a:blip r:embed="rId7">
              <a:alphaModFix/>
            </a:blip>
            <a:srcRect b="2236" l="0" r="0" t="2226"/>
            <a:stretch/>
          </p:blipFill>
          <p:spPr>
            <a:xfrm>
              <a:off x="5353050" y="3524250"/>
              <a:ext cx="5524500" cy="2190900"/>
            </a:xfrm>
            <a:prstGeom prst="roundRect">
              <a:avLst>
                <a:gd fmla="val 10434" name="adj"/>
              </a:avLst>
            </a:prstGeom>
            <a:noFill/>
            <a:ln>
              <a:noFill/>
            </a:ln>
          </p:spPr>
        </p:pic>
      </p:grpSp>
      <p:sp>
        <p:nvSpPr>
          <p:cNvPr id="226" name="Google Shape;226;g3e590c21d2e_176_0"/>
          <p:cNvSpPr/>
          <p:nvPr/>
        </p:nvSpPr>
        <p:spPr>
          <a:xfrm>
            <a:off x="590550" y="5905500"/>
            <a:ext cx="10287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2" name="Google Shape;232;g3e590c21d2e_68_13"/>
          <p:cNvCxnSpPr/>
          <p:nvPr/>
        </p:nvCxnSpPr>
        <p:spPr>
          <a:xfrm>
            <a:off x="320040" y="182880"/>
            <a:ext cx="0" cy="6355200"/>
          </a:xfrm>
          <a:prstGeom prst="straightConnector1">
            <a:avLst/>
          </a:prstGeom>
          <a:noFill/>
          <a:ln cap="flat" cmpd="sng" w="38100">
            <a:solidFill>
              <a:srgbClr val="00A6D6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33" name="Google Shape;233;g3e590c21d2e_68_13"/>
          <p:cNvPicPr preferRelativeResize="0"/>
          <p:nvPr/>
        </p:nvPicPr>
        <p:blipFill rotWithShape="1">
          <a:blip r:embed="rId4">
            <a:alphaModFix/>
          </a:blip>
          <a:srcRect b="25570" l="0" r="0" t="25566"/>
          <a:stretch/>
        </p:blipFill>
        <p:spPr>
          <a:xfrm>
            <a:off x="9784080" y="292608"/>
            <a:ext cx="2057400" cy="6159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g3e590c21d2e_68_13"/>
          <p:cNvSpPr/>
          <p:nvPr/>
        </p:nvSpPr>
        <p:spPr>
          <a:xfrm>
            <a:off x="11475720" y="6492240"/>
            <a:ext cx="3657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72BC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0072BC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g3e590c21d2e_68_13"/>
          <p:cNvSpPr/>
          <p:nvPr/>
        </p:nvSpPr>
        <p:spPr>
          <a:xfrm>
            <a:off x="749828" y="1600200"/>
            <a:ext cx="3154800" cy="1326000"/>
          </a:xfrm>
          <a:prstGeom prst="roundRect">
            <a:avLst>
              <a:gd fmla="val 8276" name="adj"/>
            </a:avLst>
          </a:prstGeom>
          <a:solidFill>
            <a:srgbClr val="F3FAFE"/>
          </a:solidFill>
          <a:ln cap="flat" cmpd="sng" w="15225">
            <a:solidFill>
              <a:srgbClr val="31A9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g3e590c21d2e_68_13"/>
          <p:cNvSpPr/>
          <p:nvPr/>
        </p:nvSpPr>
        <p:spPr>
          <a:xfrm>
            <a:off x="932713" y="1728216"/>
            <a:ext cx="2788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3A70"/>
              </a:buClr>
              <a:buSzPts val="1600"/>
              <a:buFont typeface="Arial"/>
              <a:buNone/>
            </a:pPr>
            <a:r>
              <a:rPr b="1" i="0" lang="en-US" sz="1800" u="none" cap="none" strike="noStrike">
                <a:solidFill>
                  <a:srgbClr val="003A70"/>
                </a:solidFill>
                <a:latin typeface="Arial"/>
                <a:ea typeface="Arial"/>
                <a:cs typeface="Arial"/>
                <a:sym typeface="Arial"/>
              </a:rPr>
              <a:t>Ambiente físico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g3e590c21d2e_68_13"/>
          <p:cNvSpPr/>
          <p:nvPr/>
        </p:nvSpPr>
        <p:spPr>
          <a:xfrm>
            <a:off x="876275" y="2075025"/>
            <a:ext cx="27888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A33"/>
              </a:buClr>
              <a:buSzPts val="1320"/>
              <a:buFont typeface="Arial"/>
              <a:buNone/>
            </a:pPr>
            <a:r>
              <a:rPr b="0" i="0" lang="en-US" sz="1520" u="none" cap="none" strike="noStrike">
                <a:solidFill>
                  <a:srgbClr val="1F2A33"/>
                </a:solidFill>
                <a:latin typeface="Arial"/>
                <a:ea typeface="Arial"/>
                <a:cs typeface="Arial"/>
                <a:sym typeface="Arial"/>
              </a:rPr>
              <a:t>recepção • circulação • refeitório • escritórios • cores • decoração</a:t>
            </a:r>
            <a:endParaRPr b="0" i="0" sz="15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g3e590c21d2e_68_13"/>
          <p:cNvSpPr/>
          <p:nvPr/>
        </p:nvSpPr>
        <p:spPr>
          <a:xfrm>
            <a:off x="4517256" y="1600200"/>
            <a:ext cx="3154800" cy="1326000"/>
          </a:xfrm>
          <a:prstGeom prst="roundRect">
            <a:avLst>
              <a:gd fmla="val 8276" name="adj"/>
            </a:avLst>
          </a:prstGeom>
          <a:solidFill>
            <a:srgbClr val="EAF5FB"/>
          </a:solidFill>
          <a:ln cap="flat" cmpd="sng" w="15225">
            <a:solidFill>
              <a:srgbClr val="31A9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g3e590c21d2e_68_13"/>
          <p:cNvSpPr/>
          <p:nvPr/>
        </p:nvSpPr>
        <p:spPr>
          <a:xfrm>
            <a:off x="4700141" y="1728216"/>
            <a:ext cx="2788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3A70"/>
              </a:buClr>
              <a:buSzPts val="1600"/>
              <a:buFont typeface="Arial"/>
              <a:buNone/>
            </a:pPr>
            <a:r>
              <a:rPr b="1" i="0" lang="en-US" sz="1800" u="none" cap="none" strike="noStrike">
                <a:solidFill>
                  <a:srgbClr val="003A70"/>
                </a:solidFill>
                <a:latin typeface="Arial"/>
                <a:ea typeface="Arial"/>
                <a:cs typeface="Arial"/>
                <a:sym typeface="Arial"/>
              </a:rPr>
              <a:t>Mensagens culturais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g3e590c21d2e_68_13"/>
          <p:cNvSpPr/>
          <p:nvPr/>
        </p:nvSpPr>
        <p:spPr>
          <a:xfrm>
            <a:off x="4639075" y="2103125"/>
            <a:ext cx="28956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A33"/>
              </a:buClr>
              <a:buSzPts val="1320"/>
              <a:buFont typeface="Arial"/>
              <a:buNone/>
            </a:pPr>
            <a:r>
              <a:rPr b="0" i="0" lang="en-US" sz="1520" u="none" cap="none" strike="noStrike">
                <a:solidFill>
                  <a:srgbClr val="1F2A33"/>
                </a:solidFill>
                <a:latin typeface="Arial"/>
                <a:ea typeface="Arial"/>
                <a:cs typeface="Arial"/>
                <a:sym typeface="Arial"/>
              </a:rPr>
              <a:t>ordem • segurança • excelência • acolhimento • padronização</a:t>
            </a:r>
            <a:endParaRPr b="0" i="0" sz="15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g3e590c21d2e_68_13"/>
          <p:cNvSpPr/>
          <p:nvPr/>
        </p:nvSpPr>
        <p:spPr>
          <a:xfrm>
            <a:off x="8284685" y="1600200"/>
            <a:ext cx="3154800" cy="1326000"/>
          </a:xfrm>
          <a:prstGeom prst="roundRect">
            <a:avLst>
              <a:gd fmla="val 8276" name="adj"/>
            </a:avLst>
          </a:prstGeom>
          <a:solidFill>
            <a:srgbClr val="F6FBF8"/>
          </a:solidFill>
          <a:ln cap="flat" cmpd="sng" w="15225">
            <a:solidFill>
              <a:srgbClr val="5D8C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g3e590c21d2e_68_13"/>
          <p:cNvSpPr/>
          <p:nvPr/>
        </p:nvSpPr>
        <p:spPr>
          <a:xfrm>
            <a:off x="8467570" y="1728216"/>
            <a:ext cx="2788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3A7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3A7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="1" i="0" lang="en-US" sz="1600" u="none" cap="none" strike="noStrike">
                <a:solidFill>
                  <a:srgbClr val="003A70"/>
                </a:solidFill>
                <a:latin typeface="Arial"/>
                <a:ea typeface="Arial"/>
                <a:cs typeface="Arial"/>
                <a:sym typeface="Arial"/>
              </a:rPr>
              <a:t>om</a:t>
            </a:r>
            <a:r>
              <a:rPr b="1" i="0" lang="en-US" sz="1600" u="none" cap="none" strike="noStrike">
                <a:solidFill>
                  <a:srgbClr val="003A70"/>
                </a:solidFill>
                <a:latin typeface="Arial"/>
                <a:ea typeface="Arial"/>
                <a:cs typeface="Arial"/>
                <a:sym typeface="Arial"/>
              </a:rPr>
              <a:t>portamentos esperados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g3e590c21d2e_68_13"/>
          <p:cNvSpPr/>
          <p:nvPr/>
        </p:nvSpPr>
        <p:spPr>
          <a:xfrm>
            <a:off x="8422100" y="2103125"/>
            <a:ext cx="28956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A33"/>
              </a:buClr>
              <a:buSzPts val="1320"/>
              <a:buFont typeface="Arial"/>
              <a:buNone/>
            </a:pPr>
            <a:r>
              <a:rPr b="0" i="0" lang="en-US" sz="1520" u="none" cap="none" strike="noStrike">
                <a:solidFill>
                  <a:srgbClr val="1F2A33"/>
                </a:solidFill>
                <a:latin typeface="Arial"/>
                <a:ea typeface="Arial"/>
                <a:cs typeface="Arial"/>
                <a:sym typeface="Arial"/>
              </a:rPr>
              <a:t>postura profissional • disciplina • atenção aos detalhes • respeito aos protocolos</a:t>
            </a:r>
            <a:endParaRPr b="0" i="0" sz="15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4" name="Google Shape;244;g3e590c21d2e_68_13"/>
          <p:cNvCxnSpPr/>
          <p:nvPr/>
        </p:nvCxnSpPr>
        <p:spPr>
          <a:xfrm>
            <a:off x="3986890" y="2267712"/>
            <a:ext cx="438900" cy="0"/>
          </a:xfrm>
          <a:prstGeom prst="straightConnector1">
            <a:avLst/>
          </a:prstGeom>
          <a:noFill/>
          <a:ln cap="flat" cmpd="sng" w="29200">
            <a:solidFill>
              <a:srgbClr val="31A9E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5" name="Google Shape;245;g3e590c21d2e_68_13"/>
          <p:cNvCxnSpPr/>
          <p:nvPr/>
        </p:nvCxnSpPr>
        <p:spPr>
          <a:xfrm>
            <a:off x="7754319" y="2267712"/>
            <a:ext cx="438900" cy="0"/>
          </a:xfrm>
          <a:prstGeom prst="straightConnector1">
            <a:avLst/>
          </a:prstGeom>
          <a:noFill/>
          <a:ln cap="flat" cmpd="sng" w="29200">
            <a:solidFill>
              <a:srgbClr val="31A9E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46" name="Google Shape;246;g3e590c21d2e_68_13"/>
          <p:cNvSpPr/>
          <p:nvPr/>
        </p:nvSpPr>
        <p:spPr>
          <a:xfrm>
            <a:off x="407253" y="3479315"/>
            <a:ext cx="10698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3A70"/>
              </a:buClr>
              <a:buSzPts val="1850"/>
              <a:buFont typeface="Arial"/>
              <a:buNone/>
            </a:pPr>
            <a:r>
              <a:rPr b="1" i="0" lang="en-US" sz="2050" u="none" cap="none" strike="noStrike">
                <a:solidFill>
                  <a:srgbClr val="003A70"/>
                </a:solidFill>
                <a:latin typeface="Arial"/>
                <a:ea typeface="Arial"/>
                <a:cs typeface="Arial"/>
                <a:sym typeface="Arial"/>
              </a:rPr>
              <a:t>Efeitos práticos no dia a dia dos colaboradores</a:t>
            </a:r>
            <a:endParaRPr b="0" i="0" sz="2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g3e590c21d2e_68_13"/>
          <p:cNvSpPr/>
          <p:nvPr/>
        </p:nvSpPr>
        <p:spPr>
          <a:xfrm>
            <a:off x="1352378" y="4069080"/>
            <a:ext cx="567000" cy="567000"/>
          </a:xfrm>
          <a:prstGeom prst="ellipse">
            <a:avLst/>
          </a:prstGeom>
          <a:solidFill>
            <a:srgbClr val="31A9E1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g3e590c21d2e_68_13"/>
          <p:cNvSpPr/>
          <p:nvPr/>
        </p:nvSpPr>
        <p:spPr>
          <a:xfrm>
            <a:off x="1352378" y="4204862"/>
            <a:ext cx="567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g3e590c21d2e_68_13"/>
          <p:cNvSpPr/>
          <p:nvPr/>
        </p:nvSpPr>
        <p:spPr>
          <a:xfrm>
            <a:off x="758002" y="4736592"/>
            <a:ext cx="1783200" cy="67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A33"/>
              </a:buClr>
              <a:buSzPts val="1230"/>
              <a:buFont typeface="Arial"/>
              <a:buNone/>
            </a:pPr>
            <a:r>
              <a:rPr b="0" i="0" lang="en-US" sz="1530" u="none" cap="none" strike="noStrike">
                <a:solidFill>
                  <a:srgbClr val="1F2A33"/>
                </a:solidFill>
                <a:latin typeface="Arial"/>
                <a:ea typeface="Arial"/>
                <a:cs typeface="Arial"/>
                <a:sym typeface="Arial"/>
              </a:rPr>
              <a:t>Mais aderência a normas, fluxos e protocolos</a:t>
            </a:r>
            <a:endParaRPr b="0" i="0" sz="15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0" name="Google Shape;250;g3e590c21d2e_68_13"/>
          <p:cNvCxnSpPr/>
          <p:nvPr/>
        </p:nvCxnSpPr>
        <p:spPr>
          <a:xfrm>
            <a:off x="2038196" y="4352544"/>
            <a:ext cx="1874400" cy="0"/>
          </a:xfrm>
          <a:prstGeom prst="straightConnector1">
            <a:avLst/>
          </a:prstGeom>
          <a:noFill/>
          <a:ln cap="flat" cmpd="sng" w="17775">
            <a:solidFill>
              <a:srgbClr val="B9DDE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1" name="Google Shape;251;g3e590c21d2e_68_13"/>
          <p:cNvSpPr/>
          <p:nvPr/>
        </p:nvSpPr>
        <p:spPr>
          <a:xfrm>
            <a:off x="4095651" y="4069080"/>
            <a:ext cx="567000" cy="567000"/>
          </a:xfrm>
          <a:prstGeom prst="ellipse">
            <a:avLst/>
          </a:prstGeom>
          <a:solidFill>
            <a:srgbClr val="31A9E1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g3e590c21d2e_68_13"/>
          <p:cNvSpPr/>
          <p:nvPr/>
        </p:nvSpPr>
        <p:spPr>
          <a:xfrm>
            <a:off x="4095651" y="4220520"/>
            <a:ext cx="567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g3e590c21d2e_68_13"/>
          <p:cNvSpPr/>
          <p:nvPr/>
        </p:nvSpPr>
        <p:spPr>
          <a:xfrm>
            <a:off x="3414765" y="4736600"/>
            <a:ext cx="1960800" cy="67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A33"/>
              </a:buClr>
              <a:buSzPts val="1230"/>
              <a:buFont typeface="Arial"/>
              <a:buNone/>
            </a:pPr>
            <a:r>
              <a:rPr b="0" i="0" lang="en-US" sz="1530" u="none" cap="none" strike="noStrike">
                <a:solidFill>
                  <a:srgbClr val="1F2A33"/>
                </a:solidFill>
                <a:latin typeface="Arial"/>
                <a:ea typeface="Arial"/>
                <a:cs typeface="Arial"/>
                <a:sym typeface="Arial"/>
              </a:rPr>
              <a:t>Postura mais formal, cuidadosa e responsável</a:t>
            </a:r>
            <a:endParaRPr b="0" i="0" sz="15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4" name="Google Shape;254;g3e590c21d2e_68_13"/>
          <p:cNvCxnSpPr/>
          <p:nvPr/>
        </p:nvCxnSpPr>
        <p:spPr>
          <a:xfrm>
            <a:off x="4781469" y="4352544"/>
            <a:ext cx="1874400" cy="0"/>
          </a:xfrm>
          <a:prstGeom prst="straightConnector1">
            <a:avLst/>
          </a:prstGeom>
          <a:noFill/>
          <a:ln cap="flat" cmpd="sng" w="17775">
            <a:solidFill>
              <a:srgbClr val="B9DDE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5" name="Google Shape;255;g3e590c21d2e_68_13"/>
          <p:cNvSpPr/>
          <p:nvPr/>
        </p:nvSpPr>
        <p:spPr>
          <a:xfrm>
            <a:off x="6838924" y="4069080"/>
            <a:ext cx="567000" cy="567000"/>
          </a:xfrm>
          <a:prstGeom prst="ellipse">
            <a:avLst/>
          </a:prstGeom>
          <a:solidFill>
            <a:srgbClr val="31A9E1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g3e590c21d2e_68_13"/>
          <p:cNvSpPr/>
          <p:nvPr/>
        </p:nvSpPr>
        <p:spPr>
          <a:xfrm>
            <a:off x="6838924" y="4220520"/>
            <a:ext cx="567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g3e590c21d2e_68_13"/>
          <p:cNvSpPr/>
          <p:nvPr/>
        </p:nvSpPr>
        <p:spPr>
          <a:xfrm>
            <a:off x="6147940" y="4736600"/>
            <a:ext cx="2057400" cy="67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A33"/>
              </a:buClr>
              <a:buSzPts val="1230"/>
              <a:buFont typeface="Arial"/>
              <a:buNone/>
            </a:pPr>
            <a:r>
              <a:rPr b="0" i="0" lang="en-US" sz="1530" u="none" cap="none" strike="noStrike">
                <a:solidFill>
                  <a:srgbClr val="1F2A33"/>
                </a:solidFill>
                <a:latin typeface="Arial"/>
                <a:ea typeface="Arial"/>
                <a:cs typeface="Arial"/>
                <a:sym typeface="Arial"/>
              </a:rPr>
              <a:t>Sensação de pertencimento e orgulho institucional</a:t>
            </a:r>
            <a:endParaRPr b="0" i="0" sz="15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8" name="Google Shape;258;g3e590c21d2e_68_13"/>
          <p:cNvCxnSpPr/>
          <p:nvPr/>
        </p:nvCxnSpPr>
        <p:spPr>
          <a:xfrm>
            <a:off x="7524742" y="4352544"/>
            <a:ext cx="1874400" cy="0"/>
          </a:xfrm>
          <a:prstGeom prst="straightConnector1">
            <a:avLst/>
          </a:prstGeom>
          <a:noFill/>
          <a:ln cap="flat" cmpd="sng" w="17775">
            <a:solidFill>
              <a:srgbClr val="B9DDE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9" name="Google Shape;259;g3e590c21d2e_68_13"/>
          <p:cNvSpPr/>
          <p:nvPr/>
        </p:nvSpPr>
        <p:spPr>
          <a:xfrm>
            <a:off x="9582197" y="4069080"/>
            <a:ext cx="567000" cy="567000"/>
          </a:xfrm>
          <a:prstGeom prst="ellipse">
            <a:avLst/>
          </a:prstGeom>
          <a:solidFill>
            <a:srgbClr val="5D8C73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g3e590c21d2e_68_13"/>
          <p:cNvSpPr/>
          <p:nvPr/>
        </p:nvSpPr>
        <p:spPr>
          <a:xfrm>
            <a:off x="9582197" y="4236177"/>
            <a:ext cx="567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g3e590c21d2e_68_13"/>
          <p:cNvSpPr/>
          <p:nvPr/>
        </p:nvSpPr>
        <p:spPr>
          <a:xfrm>
            <a:off x="8891215" y="4736600"/>
            <a:ext cx="2057400" cy="67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A33"/>
              </a:buClr>
              <a:buSzPts val="1230"/>
              <a:buFont typeface="Arial"/>
              <a:buNone/>
            </a:pPr>
            <a:r>
              <a:rPr b="0" i="0" lang="en-US" sz="1530" u="none" cap="none" strike="noStrike">
                <a:solidFill>
                  <a:srgbClr val="1F2A33"/>
                </a:solidFill>
                <a:latin typeface="Arial"/>
                <a:ea typeface="Arial"/>
                <a:cs typeface="Arial"/>
                <a:sym typeface="Arial"/>
              </a:rPr>
              <a:t>Maior pressão por desempenho, precisão e qualidade</a:t>
            </a:r>
            <a:endParaRPr b="0" i="0" sz="15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g3e590c21d2e_68_13"/>
          <p:cNvSpPr/>
          <p:nvPr/>
        </p:nvSpPr>
        <p:spPr>
          <a:xfrm>
            <a:off x="594360" y="292608"/>
            <a:ext cx="7498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A70"/>
              </a:buClr>
              <a:buSzPts val="2200"/>
              <a:buFont typeface="Arial"/>
              <a:buNone/>
            </a:pPr>
            <a:r>
              <a:rPr b="1" lang="en-US" sz="2300">
                <a:solidFill>
                  <a:srgbClr val="003A70"/>
                </a:solidFill>
              </a:rPr>
              <a:t>Conhecendo a estrutura da empresa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AFD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8" name="Google Shape;268;g3e26f490cf4_0_121"/>
          <p:cNvCxnSpPr/>
          <p:nvPr/>
        </p:nvCxnSpPr>
        <p:spPr>
          <a:xfrm>
            <a:off x="320040" y="182880"/>
            <a:ext cx="0" cy="6355200"/>
          </a:xfrm>
          <a:prstGeom prst="straightConnector1">
            <a:avLst/>
          </a:prstGeom>
          <a:noFill/>
          <a:ln cap="flat" cmpd="sng" w="38100">
            <a:solidFill>
              <a:srgbClr val="00A6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9" name="Google Shape;269;g3e26f490cf4_0_121"/>
          <p:cNvSpPr/>
          <p:nvPr/>
        </p:nvSpPr>
        <p:spPr>
          <a:xfrm>
            <a:off x="594360" y="292608"/>
            <a:ext cx="7498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A70"/>
              </a:buClr>
              <a:buSzPts val="2200"/>
              <a:buFont typeface="Arial"/>
              <a:buNone/>
            </a:pPr>
            <a:r>
              <a:rPr b="1" lang="en-US" sz="2200">
                <a:solidFill>
                  <a:srgbClr val="003A70"/>
                </a:solidFill>
              </a:rPr>
              <a:t>Identificando modelos de gestão 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g3e26f490cf4_0_121"/>
          <p:cNvSpPr/>
          <p:nvPr/>
        </p:nvSpPr>
        <p:spPr>
          <a:xfrm>
            <a:off x="594360" y="6537960"/>
            <a:ext cx="96927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087"/>
              </a:buClr>
              <a:buSzPts val="570"/>
              <a:buFont typeface="Arial"/>
              <a:buNone/>
            </a:pPr>
            <a:r>
              <a:rPr b="0" i="0" lang="en-US" sz="570" u="none" cap="none" strike="noStrike">
                <a:solidFill>
                  <a:srgbClr val="7A8087"/>
                </a:solidFill>
                <a:latin typeface="Arial"/>
                <a:ea typeface="Arial"/>
                <a:cs typeface="Arial"/>
                <a:sym typeface="Arial"/>
              </a:rPr>
              <a:t>Fonte: Relato Integrado 2025, linhas 289-302, 328-342, 363-372.</a:t>
            </a:r>
            <a:endParaRPr b="0" i="0" sz="5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g3e26f490cf4_0_121"/>
          <p:cNvSpPr/>
          <p:nvPr/>
        </p:nvSpPr>
        <p:spPr>
          <a:xfrm>
            <a:off x="11475720" y="6492240"/>
            <a:ext cx="3657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72BC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0072BC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g3e26f490cf4_0_121"/>
          <p:cNvSpPr/>
          <p:nvPr/>
        </p:nvSpPr>
        <p:spPr>
          <a:xfrm rot="-5400000">
            <a:off x="81953" y="5236300"/>
            <a:ext cx="1830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0"/>
              <a:buFont typeface="Arial"/>
              <a:buNone/>
            </a:pPr>
            <a:r>
              <a:rPr b="1" i="0" lang="en-US" sz="78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GESTÃO</a:t>
            </a:r>
            <a:endParaRPr b="0" i="0" sz="78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g3e26f490cf4_0_121"/>
          <p:cNvSpPr/>
          <p:nvPr/>
        </p:nvSpPr>
        <p:spPr>
          <a:xfrm>
            <a:off x="978094" y="1624508"/>
            <a:ext cx="347400" cy="347400"/>
          </a:xfrm>
          <a:prstGeom prst="rect">
            <a:avLst/>
          </a:prstGeom>
          <a:solidFill>
            <a:srgbClr val="003A70"/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1"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g3e26f490cf4_0_121"/>
          <p:cNvSpPr/>
          <p:nvPr/>
        </p:nvSpPr>
        <p:spPr>
          <a:xfrm>
            <a:off x="1526735" y="1642798"/>
            <a:ext cx="29718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A70"/>
              </a:buClr>
              <a:buSzPts val="1350"/>
              <a:buFont typeface="Arial"/>
              <a:buNone/>
            </a:pPr>
            <a:r>
              <a:rPr b="1" i="0" lang="en-US" sz="1850" u="none" cap="none" strike="noStrike">
                <a:solidFill>
                  <a:srgbClr val="003A70"/>
                </a:solidFill>
                <a:latin typeface="Arial"/>
                <a:ea typeface="Arial"/>
                <a:cs typeface="Arial"/>
                <a:sym typeface="Arial"/>
              </a:rPr>
              <a:t>Gestão por excelência</a:t>
            </a:r>
            <a:endParaRPr b="0" i="0" sz="1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g3e26f490cf4_0_121"/>
          <p:cNvSpPr/>
          <p:nvPr/>
        </p:nvSpPr>
        <p:spPr>
          <a:xfrm>
            <a:off x="4772854" y="1624498"/>
            <a:ext cx="5989500" cy="310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53616C"/>
                </a:solidFill>
                <a:latin typeface="Arial"/>
                <a:ea typeface="Arial"/>
                <a:cs typeface="Arial"/>
                <a:sym typeface="Arial"/>
              </a:rPr>
              <a:t>Padrões assistenciais, segurança, ensino, pesquisa, inovação e melhoria contínua.</a:t>
            </a:r>
            <a:endParaRPr b="0" sz="1500">
              <a:solidFill>
                <a:srgbClr val="53616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g3e26f490cf4_0_121"/>
          <p:cNvSpPr/>
          <p:nvPr/>
        </p:nvSpPr>
        <p:spPr>
          <a:xfrm>
            <a:off x="978094" y="2337740"/>
            <a:ext cx="347400" cy="347400"/>
          </a:xfrm>
          <a:prstGeom prst="rect">
            <a:avLst/>
          </a:prstGeom>
          <a:solidFill>
            <a:srgbClr val="00A6D6"/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1"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g3e26f490cf4_0_121"/>
          <p:cNvSpPr/>
          <p:nvPr/>
        </p:nvSpPr>
        <p:spPr>
          <a:xfrm>
            <a:off x="1526735" y="2356030"/>
            <a:ext cx="29718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A70"/>
              </a:buClr>
              <a:buSzPts val="1350"/>
              <a:buFont typeface="Arial"/>
              <a:buNone/>
            </a:pPr>
            <a:r>
              <a:rPr b="1" i="0" lang="en-US" sz="1850" u="none" cap="none" strike="noStrike">
                <a:solidFill>
                  <a:srgbClr val="003A70"/>
                </a:solidFill>
                <a:latin typeface="Arial"/>
                <a:ea typeface="Arial"/>
                <a:cs typeface="Arial"/>
                <a:sym typeface="Arial"/>
              </a:rPr>
              <a:t>Gestão por governança</a:t>
            </a:r>
            <a:endParaRPr b="0" i="0" sz="1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g3e26f490cf4_0_121"/>
          <p:cNvSpPr/>
          <p:nvPr/>
        </p:nvSpPr>
        <p:spPr>
          <a:xfrm>
            <a:off x="4772854" y="2337749"/>
            <a:ext cx="5930400" cy="310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53616C"/>
                </a:solidFill>
                <a:latin typeface="Arial"/>
                <a:ea typeface="Arial"/>
                <a:cs typeface="Arial"/>
                <a:sym typeface="Arial"/>
              </a:rPr>
              <a:t>Código de Conduta, compliance, comitês, canal de denúncia e transparência.</a:t>
            </a:r>
            <a:endParaRPr b="0" sz="1500">
              <a:solidFill>
                <a:srgbClr val="53616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g3e26f490cf4_0_121"/>
          <p:cNvSpPr/>
          <p:nvPr/>
        </p:nvSpPr>
        <p:spPr>
          <a:xfrm>
            <a:off x="978094" y="3050972"/>
            <a:ext cx="347400" cy="347400"/>
          </a:xfrm>
          <a:prstGeom prst="rect">
            <a:avLst/>
          </a:prstGeom>
          <a:solidFill>
            <a:srgbClr val="003A70"/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1"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g3e26f490cf4_0_121"/>
          <p:cNvSpPr/>
          <p:nvPr/>
        </p:nvSpPr>
        <p:spPr>
          <a:xfrm>
            <a:off x="1526735" y="3069262"/>
            <a:ext cx="29718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A70"/>
              </a:buClr>
              <a:buSzPts val="1350"/>
              <a:buFont typeface="Arial"/>
              <a:buNone/>
            </a:pPr>
            <a:r>
              <a:rPr b="1" i="0" lang="en-US" sz="1850" u="none" cap="none" strike="noStrike">
                <a:solidFill>
                  <a:srgbClr val="003A70"/>
                </a:solidFill>
                <a:latin typeface="Arial"/>
                <a:ea typeface="Arial"/>
                <a:cs typeface="Arial"/>
                <a:sym typeface="Arial"/>
              </a:rPr>
              <a:t>Gestão participativa</a:t>
            </a:r>
            <a:endParaRPr b="0" i="0" sz="1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g3e26f490cf4_0_121"/>
          <p:cNvSpPr/>
          <p:nvPr/>
        </p:nvSpPr>
        <p:spPr>
          <a:xfrm>
            <a:off x="4772854" y="3050972"/>
            <a:ext cx="5806200" cy="310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53616C"/>
                </a:solidFill>
                <a:latin typeface="Arial"/>
                <a:ea typeface="Arial"/>
                <a:cs typeface="Arial"/>
                <a:sym typeface="Arial"/>
              </a:rPr>
              <a:t>Cultura Justa, SEGURA, Trabalho com Alegria e escuta das equipes.</a:t>
            </a:r>
            <a:endParaRPr b="0" sz="1500">
              <a:solidFill>
                <a:srgbClr val="53616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g3e26f490cf4_0_121"/>
          <p:cNvSpPr/>
          <p:nvPr/>
        </p:nvSpPr>
        <p:spPr>
          <a:xfrm>
            <a:off x="978094" y="3764204"/>
            <a:ext cx="347400" cy="347400"/>
          </a:xfrm>
          <a:prstGeom prst="rect">
            <a:avLst/>
          </a:prstGeom>
          <a:solidFill>
            <a:srgbClr val="00A6D6"/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1"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g3e26f490cf4_0_121"/>
          <p:cNvSpPr/>
          <p:nvPr/>
        </p:nvSpPr>
        <p:spPr>
          <a:xfrm>
            <a:off x="1526735" y="3782494"/>
            <a:ext cx="29718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A70"/>
              </a:buClr>
              <a:buSzPts val="1350"/>
              <a:buFont typeface="Arial"/>
              <a:buNone/>
            </a:pPr>
            <a:r>
              <a:rPr b="1" i="0" lang="en-US" sz="1850" u="none" cap="none" strike="noStrike">
                <a:solidFill>
                  <a:srgbClr val="003A70"/>
                </a:solidFill>
                <a:latin typeface="Arial"/>
                <a:ea typeface="Arial"/>
                <a:cs typeface="Arial"/>
                <a:sym typeface="Arial"/>
              </a:rPr>
              <a:t>Gestão por resultado</a:t>
            </a:r>
            <a:endParaRPr b="0" i="0" sz="1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g3e26f490cf4_0_121"/>
          <p:cNvSpPr/>
          <p:nvPr/>
        </p:nvSpPr>
        <p:spPr>
          <a:xfrm>
            <a:off x="4772854" y="3764204"/>
            <a:ext cx="5989500" cy="310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53616C"/>
                </a:solidFill>
                <a:latin typeface="Arial"/>
                <a:ea typeface="Arial"/>
                <a:cs typeface="Arial"/>
                <a:sym typeface="Arial"/>
              </a:rPr>
              <a:t>Sustentabilidade, valor em saúde, eficiência, metas e capacidade de reinvestimento.</a:t>
            </a:r>
            <a:endParaRPr b="0" sz="1500">
              <a:solidFill>
                <a:srgbClr val="53616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5" name="Google Shape;285;g3e26f490cf4_0_121" title="Hospital-Sírio-Libanês-logo-removebg-preview (1).png"/>
          <p:cNvPicPr preferRelativeResize="0"/>
          <p:nvPr/>
        </p:nvPicPr>
        <p:blipFill rotWithShape="1">
          <a:blip r:embed="rId3">
            <a:alphaModFix/>
          </a:blip>
          <a:srcRect b="36159" l="21436" r="22330" t="35811"/>
          <a:stretch/>
        </p:blipFill>
        <p:spPr>
          <a:xfrm>
            <a:off x="9784075" y="292602"/>
            <a:ext cx="2057399" cy="6159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AFD"/>
        </a:solid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1" name="Google Shape;291;g3e590c21d2e_52_660"/>
          <p:cNvCxnSpPr/>
          <p:nvPr/>
        </p:nvCxnSpPr>
        <p:spPr>
          <a:xfrm>
            <a:off x="320040" y="182880"/>
            <a:ext cx="0" cy="6355200"/>
          </a:xfrm>
          <a:prstGeom prst="straightConnector1">
            <a:avLst/>
          </a:prstGeom>
          <a:noFill/>
          <a:ln cap="flat" cmpd="sng" w="38100">
            <a:solidFill>
              <a:srgbClr val="00A6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2" name="Google Shape;292;g3e590c21d2e_52_660"/>
          <p:cNvSpPr/>
          <p:nvPr/>
        </p:nvSpPr>
        <p:spPr>
          <a:xfrm>
            <a:off x="594360" y="292608"/>
            <a:ext cx="7498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A70"/>
              </a:buClr>
              <a:buSzPts val="2200"/>
              <a:buFont typeface="Arial"/>
              <a:buNone/>
            </a:pPr>
            <a:r>
              <a:rPr b="1" lang="en-US" sz="2200">
                <a:solidFill>
                  <a:srgbClr val="003A70"/>
                </a:solidFill>
              </a:rPr>
              <a:t>Diversidade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g3e590c21d2e_52_660"/>
          <p:cNvSpPr/>
          <p:nvPr/>
        </p:nvSpPr>
        <p:spPr>
          <a:xfrm>
            <a:off x="594360" y="6537960"/>
            <a:ext cx="96927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087"/>
              </a:buClr>
              <a:buSzPts val="570"/>
              <a:buFont typeface="Arial"/>
              <a:buNone/>
            </a:pPr>
            <a:r>
              <a:rPr b="0" i="0" lang="en-US" sz="570" u="none" cap="none" strike="noStrike">
                <a:solidFill>
                  <a:srgbClr val="7A8087"/>
                </a:solidFill>
                <a:latin typeface="Arial"/>
                <a:ea typeface="Arial"/>
                <a:cs typeface="Arial"/>
                <a:sym typeface="Arial"/>
              </a:rPr>
              <a:t>Fontes: Relato Integrado 2025, Hospital Sírio-Libanês; Glassdoor; roteiro analítico fornecido.</a:t>
            </a:r>
            <a:endParaRPr b="0" i="0" sz="5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g3e590c21d2e_52_660"/>
          <p:cNvSpPr/>
          <p:nvPr/>
        </p:nvSpPr>
        <p:spPr>
          <a:xfrm>
            <a:off x="11475720" y="6492240"/>
            <a:ext cx="3657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72BC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0072BC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5" name="Google Shape;295;g3e590c21d2e_52_6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4900" y="1063900"/>
            <a:ext cx="8436799" cy="464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g3e590c21d2e_52_660" title="Hospital-Sírio-Libanês-logo-removebg-preview (1).png"/>
          <p:cNvPicPr preferRelativeResize="0"/>
          <p:nvPr/>
        </p:nvPicPr>
        <p:blipFill rotWithShape="1">
          <a:blip r:embed="rId4">
            <a:alphaModFix/>
          </a:blip>
          <a:srcRect b="36159" l="21436" r="22330" t="35811"/>
          <a:stretch/>
        </p:blipFill>
        <p:spPr>
          <a:xfrm>
            <a:off x="9784075" y="292602"/>
            <a:ext cx="2057399" cy="6159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AFD"/>
        </a:solidFill>
      </p:bgPr>
    </p:bg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2" name="Google Shape;302;g3e590c21d2e_52_670"/>
          <p:cNvCxnSpPr/>
          <p:nvPr/>
        </p:nvCxnSpPr>
        <p:spPr>
          <a:xfrm>
            <a:off x="320040" y="182880"/>
            <a:ext cx="0" cy="6355200"/>
          </a:xfrm>
          <a:prstGeom prst="straightConnector1">
            <a:avLst/>
          </a:prstGeom>
          <a:noFill/>
          <a:ln cap="flat" cmpd="sng" w="38100">
            <a:solidFill>
              <a:srgbClr val="00A6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3" name="Google Shape;303;g3e590c21d2e_52_670"/>
          <p:cNvSpPr/>
          <p:nvPr/>
        </p:nvSpPr>
        <p:spPr>
          <a:xfrm>
            <a:off x="594360" y="292608"/>
            <a:ext cx="7498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A70"/>
              </a:buClr>
              <a:buSzPts val="2200"/>
              <a:buFont typeface="Arial"/>
              <a:buNone/>
            </a:pPr>
            <a:r>
              <a:rPr b="1" lang="en-US" sz="2200">
                <a:solidFill>
                  <a:srgbClr val="003A70"/>
                </a:solidFill>
              </a:rPr>
              <a:t>Diversidade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g3e590c21d2e_52_670"/>
          <p:cNvSpPr/>
          <p:nvPr/>
        </p:nvSpPr>
        <p:spPr>
          <a:xfrm>
            <a:off x="594360" y="6537960"/>
            <a:ext cx="96927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087"/>
              </a:buClr>
              <a:buSzPts val="570"/>
              <a:buFont typeface="Arial"/>
              <a:buNone/>
            </a:pPr>
            <a:r>
              <a:rPr b="0" i="0" lang="en-US" sz="570" u="none" cap="none" strike="noStrike">
                <a:solidFill>
                  <a:srgbClr val="7A8087"/>
                </a:solidFill>
                <a:latin typeface="Arial"/>
                <a:ea typeface="Arial"/>
                <a:cs typeface="Arial"/>
                <a:sym typeface="Arial"/>
              </a:rPr>
              <a:t>Fontes: Relato Integrado 2025, Hospital Sírio-Libanês; Glassdoor; roteiro analítico fornecido.</a:t>
            </a:r>
            <a:endParaRPr b="0" i="0" sz="5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g3e590c21d2e_52_670"/>
          <p:cNvSpPr/>
          <p:nvPr/>
        </p:nvSpPr>
        <p:spPr>
          <a:xfrm>
            <a:off x="11475720" y="6492240"/>
            <a:ext cx="3657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72BC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0072BC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6" name="Google Shape;306;g3e590c21d2e_52_6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1950" y="1404951"/>
            <a:ext cx="9534525" cy="447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g3e590c21d2e_52_670" title="Hospital-Sírio-Libanês-logo-removebg-preview (1).png"/>
          <p:cNvPicPr preferRelativeResize="0"/>
          <p:nvPr/>
        </p:nvPicPr>
        <p:blipFill rotWithShape="1">
          <a:blip r:embed="rId4">
            <a:alphaModFix/>
          </a:blip>
          <a:srcRect b="36159" l="21436" r="22330" t="35811"/>
          <a:stretch/>
        </p:blipFill>
        <p:spPr>
          <a:xfrm>
            <a:off x="9784075" y="292602"/>
            <a:ext cx="2057399" cy="6159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AFD"/>
        </a:solid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3" name="Google Shape;313;g3e590c21d2e_52_680"/>
          <p:cNvCxnSpPr/>
          <p:nvPr/>
        </p:nvCxnSpPr>
        <p:spPr>
          <a:xfrm>
            <a:off x="320040" y="182880"/>
            <a:ext cx="0" cy="6355200"/>
          </a:xfrm>
          <a:prstGeom prst="straightConnector1">
            <a:avLst/>
          </a:prstGeom>
          <a:noFill/>
          <a:ln cap="flat" cmpd="sng" w="38100">
            <a:solidFill>
              <a:srgbClr val="00A6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4" name="Google Shape;314;g3e590c21d2e_52_680"/>
          <p:cNvSpPr/>
          <p:nvPr/>
        </p:nvSpPr>
        <p:spPr>
          <a:xfrm>
            <a:off x="594360" y="292608"/>
            <a:ext cx="7498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A70"/>
              </a:buClr>
              <a:buSzPts val="2200"/>
              <a:buFont typeface="Arial"/>
              <a:buNone/>
            </a:pPr>
            <a:r>
              <a:rPr b="1" lang="en-US" sz="2200">
                <a:solidFill>
                  <a:srgbClr val="003A70"/>
                </a:solidFill>
              </a:rPr>
              <a:t>Diversidade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g3e590c21d2e_52_680"/>
          <p:cNvSpPr/>
          <p:nvPr/>
        </p:nvSpPr>
        <p:spPr>
          <a:xfrm>
            <a:off x="11475720" y="6492240"/>
            <a:ext cx="3657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72BC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0072BC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6" name="Google Shape;316;g3e590c21d2e_52_680"/>
          <p:cNvPicPr preferRelativeResize="0"/>
          <p:nvPr/>
        </p:nvPicPr>
        <p:blipFill rotWithShape="1">
          <a:blip r:embed="rId3">
            <a:alphaModFix/>
          </a:blip>
          <a:srcRect b="720" l="-4290" r="4290" t="-720"/>
          <a:stretch/>
        </p:blipFill>
        <p:spPr>
          <a:xfrm>
            <a:off x="471800" y="1111249"/>
            <a:ext cx="10601001" cy="492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g3e590c21d2e_52_680" title="Hospital-Sírio-Libanês-logo-removebg-preview (1).png"/>
          <p:cNvPicPr preferRelativeResize="0"/>
          <p:nvPr/>
        </p:nvPicPr>
        <p:blipFill rotWithShape="1">
          <a:blip r:embed="rId4">
            <a:alphaModFix/>
          </a:blip>
          <a:srcRect b="36159" l="21436" r="22330" t="35811"/>
          <a:stretch/>
        </p:blipFill>
        <p:spPr>
          <a:xfrm>
            <a:off x="9784075" y="292602"/>
            <a:ext cx="2057399" cy="6159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AFD"/>
        </a:solidFill>
      </p:bgPr>
    </p:bg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3" name="Google Shape;323;g3e590c21d2e_52_690"/>
          <p:cNvCxnSpPr/>
          <p:nvPr/>
        </p:nvCxnSpPr>
        <p:spPr>
          <a:xfrm>
            <a:off x="320040" y="182880"/>
            <a:ext cx="0" cy="6355200"/>
          </a:xfrm>
          <a:prstGeom prst="straightConnector1">
            <a:avLst/>
          </a:prstGeom>
          <a:noFill/>
          <a:ln cap="flat" cmpd="sng" w="38100">
            <a:solidFill>
              <a:srgbClr val="00A6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4" name="Google Shape;324;g3e590c21d2e_52_690"/>
          <p:cNvSpPr/>
          <p:nvPr/>
        </p:nvSpPr>
        <p:spPr>
          <a:xfrm>
            <a:off x="594360" y="292608"/>
            <a:ext cx="7498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A70"/>
              </a:buClr>
              <a:buSzPts val="2200"/>
              <a:buFont typeface="Arial"/>
              <a:buNone/>
            </a:pPr>
            <a:r>
              <a:rPr b="1" lang="en-US" sz="2200">
                <a:solidFill>
                  <a:srgbClr val="003A70"/>
                </a:solidFill>
              </a:rPr>
              <a:t>Diversidade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g3e590c21d2e_52_690"/>
          <p:cNvSpPr/>
          <p:nvPr/>
        </p:nvSpPr>
        <p:spPr>
          <a:xfrm>
            <a:off x="11475720" y="6492240"/>
            <a:ext cx="3657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72BC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0072BC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6" name="Google Shape;326;g3e590c21d2e_52_6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6325" y="1240314"/>
            <a:ext cx="9753600" cy="4733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g3e590c21d2e_52_690" title="Hospital-Sírio-Libanês-logo-removebg-preview (1).png"/>
          <p:cNvPicPr preferRelativeResize="0"/>
          <p:nvPr/>
        </p:nvPicPr>
        <p:blipFill rotWithShape="1">
          <a:blip r:embed="rId4">
            <a:alphaModFix/>
          </a:blip>
          <a:srcRect b="36159" l="21436" r="22330" t="35811"/>
          <a:stretch/>
        </p:blipFill>
        <p:spPr>
          <a:xfrm>
            <a:off x="9784075" y="292602"/>
            <a:ext cx="2057399" cy="615998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g3e590c21d2e_52_6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0437" y="1330084"/>
            <a:ext cx="9753600" cy="4733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AFD"/>
        </a:solidFill>
      </p:bgPr>
    </p:bg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4" name="Google Shape;334;g3e590c21d2e_215_29"/>
          <p:cNvCxnSpPr/>
          <p:nvPr/>
        </p:nvCxnSpPr>
        <p:spPr>
          <a:xfrm>
            <a:off x="320040" y="182880"/>
            <a:ext cx="0" cy="6355200"/>
          </a:xfrm>
          <a:prstGeom prst="straightConnector1">
            <a:avLst/>
          </a:prstGeom>
          <a:noFill/>
          <a:ln cap="flat" cmpd="sng" w="38100">
            <a:solidFill>
              <a:srgbClr val="00A6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5" name="Google Shape;335;g3e590c21d2e_215_29"/>
          <p:cNvSpPr/>
          <p:nvPr/>
        </p:nvSpPr>
        <p:spPr>
          <a:xfrm>
            <a:off x="594360" y="292608"/>
            <a:ext cx="7498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A70"/>
              </a:buClr>
              <a:buSzPts val="2200"/>
              <a:buFont typeface="Arial"/>
              <a:buNone/>
            </a:pPr>
            <a:r>
              <a:rPr b="1" lang="en-US" sz="2200">
                <a:solidFill>
                  <a:srgbClr val="003A70"/>
                </a:solidFill>
              </a:rPr>
              <a:t>Diversidade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g3e590c21d2e_215_29"/>
          <p:cNvSpPr/>
          <p:nvPr/>
        </p:nvSpPr>
        <p:spPr>
          <a:xfrm>
            <a:off x="594360" y="6537960"/>
            <a:ext cx="96927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087"/>
              </a:buClr>
              <a:buSzPts val="570"/>
              <a:buFont typeface="Arial"/>
              <a:buNone/>
            </a:pPr>
            <a:r>
              <a:rPr b="0" i="0" lang="en-US" sz="570" u="none" cap="none" strike="noStrike">
                <a:solidFill>
                  <a:srgbClr val="7A8087"/>
                </a:solidFill>
                <a:latin typeface="Arial"/>
                <a:ea typeface="Arial"/>
                <a:cs typeface="Arial"/>
                <a:sym typeface="Arial"/>
              </a:rPr>
              <a:t>Fontes: Relato Integrado 2025, Hospital Sírio-Libanês; Glassdoor; roteiro analítico fornecido.</a:t>
            </a:r>
            <a:endParaRPr b="0" i="0" sz="5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g3e590c21d2e_215_29"/>
          <p:cNvSpPr/>
          <p:nvPr/>
        </p:nvSpPr>
        <p:spPr>
          <a:xfrm>
            <a:off x="11475720" y="6492240"/>
            <a:ext cx="3657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72BC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0072BC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8" name="Google Shape;338;g3e590c21d2e_215_29" title="Hospital-Sírio-Libanês-logo-removebg-preview (1).png"/>
          <p:cNvPicPr preferRelativeResize="0"/>
          <p:nvPr/>
        </p:nvPicPr>
        <p:blipFill rotWithShape="1">
          <a:blip r:embed="rId3">
            <a:alphaModFix/>
          </a:blip>
          <a:srcRect b="36159" l="21436" r="22330" t="35811"/>
          <a:stretch/>
        </p:blipFill>
        <p:spPr>
          <a:xfrm>
            <a:off x="9784075" y="292602"/>
            <a:ext cx="2057399" cy="615998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g3e590c21d2e_215_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68825" y="829008"/>
            <a:ext cx="2837314" cy="55565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g3e590c21d2e_215_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58539" y="1061000"/>
            <a:ext cx="8081060" cy="44146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AFD"/>
        </a:solidFill>
      </p:bgPr>
    </p:bg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6" name="Google Shape;346;g3e590c21d2e_215_41"/>
          <p:cNvCxnSpPr/>
          <p:nvPr/>
        </p:nvCxnSpPr>
        <p:spPr>
          <a:xfrm>
            <a:off x="320040" y="182880"/>
            <a:ext cx="0" cy="6355200"/>
          </a:xfrm>
          <a:prstGeom prst="straightConnector1">
            <a:avLst/>
          </a:prstGeom>
          <a:noFill/>
          <a:ln cap="flat" cmpd="sng" w="38100">
            <a:solidFill>
              <a:srgbClr val="00A6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7" name="Google Shape;347;g3e590c21d2e_215_41"/>
          <p:cNvSpPr/>
          <p:nvPr/>
        </p:nvSpPr>
        <p:spPr>
          <a:xfrm>
            <a:off x="594360" y="292608"/>
            <a:ext cx="7498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A70"/>
              </a:buClr>
              <a:buSzPts val="2200"/>
              <a:buFont typeface="Arial"/>
              <a:buNone/>
            </a:pPr>
            <a:r>
              <a:rPr b="1" lang="en-US" sz="2200">
                <a:solidFill>
                  <a:srgbClr val="003A70"/>
                </a:solidFill>
              </a:rPr>
              <a:t>Diversidade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g3e590c21d2e_215_41"/>
          <p:cNvSpPr/>
          <p:nvPr/>
        </p:nvSpPr>
        <p:spPr>
          <a:xfrm>
            <a:off x="594360" y="6537960"/>
            <a:ext cx="96927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087"/>
              </a:buClr>
              <a:buSzPts val="570"/>
              <a:buFont typeface="Arial"/>
              <a:buNone/>
            </a:pPr>
            <a:r>
              <a:rPr b="0" i="0" lang="en-US" sz="570" u="none" cap="none" strike="noStrike">
                <a:solidFill>
                  <a:srgbClr val="7A8087"/>
                </a:solidFill>
                <a:latin typeface="Arial"/>
                <a:ea typeface="Arial"/>
                <a:cs typeface="Arial"/>
                <a:sym typeface="Arial"/>
              </a:rPr>
              <a:t>Fontes: Relato Integrado 2025, Hospital Sírio-Libanês; Glassdoor; roteiro analítico fornecido.</a:t>
            </a:r>
            <a:endParaRPr b="0" i="0" sz="5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g3e590c21d2e_215_41"/>
          <p:cNvSpPr/>
          <p:nvPr/>
        </p:nvSpPr>
        <p:spPr>
          <a:xfrm>
            <a:off x="11475720" y="6492240"/>
            <a:ext cx="3657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72BC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0072BC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0" name="Google Shape;350;g3e590c21d2e_215_41" title="Hospital-Sírio-Libanês-logo-removebg-preview (1).png"/>
          <p:cNvPicPr preferRelativeResize="0"/>
          <p:nvPr/>
        </p:nvPicPr>
        <p:blipFill rotWithShape="1">
          <a:blip r:embed="rId3">
            <a:alphaModFix/>
          </a:blip>
          <a:srcRect b="36159" l="21436" r="22330" t="35811"/>
          <a:stretch/>
        </p:blipFill>
        <p:spPr>
          <a:xfrm>
            <a:off x="9784075" y="292602"/>
            <a:ext cx="2057399" cy="615998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g3e590c21d2e_215_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63875" y="1035650"/>
            <a:ext cx="3556725" cy="4958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2" name="Google Shape;352;g3e590c21d2e_215_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73000" y="1061000"/>
            <a:ext cx="7366599" cy="48532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AFD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8" name="Google Shape;358;g3e590c21d2e_52_706"/>
          <p:cNvCxnSpPr/>
          <p:nvPr/>
        </p:nvCxnSpPr>
        <p:spPr>
          <a:xfrm>
            <a:off x="320040" y="182880"/>
            <a:ext cx="0" cy="6355200"/>
          </a:xfrm>
          <a:prstGeom prst="straightConnector1">
            <a:avLst/>
          </a:prstGeom>
          <a:noFill/>
          <a:ln cap="flat" cmpd="sng" w="38100">
            <a:solidFill>
              <a:srgbClr val="00A6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9" name="Google Shape;359;g3e590c21d2e_52_706"/>
          <p:cNvSpPr/>
          <p:nvPr/>
        </p:nvSpPr>
        <p:spPr>
          <a:xfrm>
            <a:off x="594360" y="292608"/>
            <a:ext cx="7498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A70"/>
              </a:buClr>
              <a:buSzPts val="2200"/>
              <a:buFont typeface="Arial"/>
              <a:buNone/>
            </a:pPr>
            <a:r>
              <a:rPr b="1" lang="en-US" sz="2200">
                <a:solidFill>
                  <a:srgbClr val="003A70"/>
                </a:solidFill>
              </a:rPr>
              <a:t>Desenvolvimento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g3e590c21d2e_52_706"/>
          <p:cNvSpPr/>
          <p:nvPr/>
        </p:nvSpPr>
        <p:spPr>
          <a:xfrm>
            <a:off x="594360" y="6537960"/>
            <a:ext cx="96927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087"/>
              </a:buClr>
              <a:buSzPts val="570"/>
              <a:buFont typeface="Arial"/>
              <a:buNone/>
            </a:pPr>
            <a:r>
              <a:rPr b="0" i="0" lang="en-US" sz="570" u="none" cap="none" strike="noStrike">
                <a:solidFill>
                  <a:srgbClr val="7A8087"/>
                </a:solidFill>
                <a:latin typeface="Arial"/>
                <a:ea typeface="Arial"/>
                <a:cs typeface="Arial"/>
                <a:sym typeface="Arial"/>
              </a:rPr>
              <a:t>Fontes: Relato Integrado 2025, Hospital Sírio-Libanês; Glassdoor; roteiro analítico fornecido.</a:t>
            </a:r>
            <a:endParaRPr b="0" i="0" sz="5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g3e590c21d2e_52_706"/>
          <p:cNvSpPr/>
          <p:nvPr/>
        </p:nvSpPr>
        <p:spPr>
          <a:xfrm>
            <a:off x="11475720" y="6492240"/>
            <a:ext cx="3657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72BC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0072BC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2" name="Google Shape;362;g3e590c21d2e_52_70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9750" y="1275701"/>
            <a:ext cx="9953625" cy="4857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3" name="Google Shape;363;g3e590c21d2e_52_706" title="Hospital-Sírio-Libanês-logo-removebg-preview (1).png"/>
          <p:cNvPicPr preferRelativeResize="0"/>
          <p:nvPr/>
        </p:nvPicPr>
        <p:blipFill rotWithShape="1">
          <a:blip r:embed="rId4">
            <a:alphaModFix/>
          </a:blip>
          <a:srcRect b="36159" l="21436" r="22330" t="35811"/>
          <a:stretch/>
        </p:blipFill>
        <p:spPr>
          <a:xfrm>
            <a:off x="9784075" y="292602"/>
            <a:ext cx="2057399" cy="6159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AFD"/>
        </a:solidFill>
      </p:bgPr>
    </p:bg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9" name="Google Shape;369;g3e590c21d2e_52_716"/>
          <p:cNvCxnSpPr/>
          <p:nvPr/>
        </p:nvCxnSpPr>
        <p:spPr>
          <a:xfrm>
            <a:off x="320040" y="182880"/>
            <a:ext cx="0" cy="6355200"/>
          </a:xfrm>
          <a:prstGeom prst="straightConnector1">
            <a:avLst/>
          </a:prstGeom>
          <a:noFill/>
          <a:ln cap="flat" cmpd="sng" w="38100">
            <a:solidFill>
              <a:srgbClr val="00A6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0" name="Google Shape;370;g3e590c21d2e_52_716"/>
          <p:cNvSpPr/>
          <p:nvPr/>
        </p:nvSpPr>
        <p:spPr>
          <a:xfrm>
            <a:off x="594360" y="292608"/>
            <a:ext cx="7498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A70"/>
              </a:buClr>
              <a:buSzPts val="2200"/>
              <a:buFont typeface="Arial"/>
              <a:buNone/>
            </a:pPr>
            <a:r>
              <a:rPr b="1" lang="en-US" sz="2200">
                <a:solidFill>
                  <a:srgbClr val="003A70"/>
                </a:solidFill>
              </a:rPr>
              <a:t>Desenvolvimento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g3e590c21d2e_52_716"/>
          <p:cNvSpPr/>
          <p:nvPr/>
        </p:nvSpPr>
        <p:spPr>
          <a:xfrm>
            <a:off x="594360" y="6537960"/>
            <a:ext cx="96927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087"/>
              </a:buClr>
              <a:buSzPts val="570"/>
              <a:buFont typeface="Arial"/>
              <a:buNone/>
            </a:pPr>
            <a:r>
              <a:rPr b="0" i="0" lang="en-US" sz="570" u="none" cap="none" strike="noStrike">
                <a:solidFill>
                  <a:srgbClr val="7A8087"/>
                </a:solidFill>
                <a:latin typeface="Arial"/>
                <a:ea typeface="Arial"/>
                <a:cs typeface="Arial"/>
                <a:sym typeface="Arial"/>
              </a:rPr>
              <a:t>Fontes: Relato Integrado 2025, Hospital Sírio-Libanês; Glassdoor; roteiro analítico fornecido.</a:t>
            </a:r>
            <a:endParaRPr b="0" i="0" sz="5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g3e590c21d2e_52_716"/>
          <p:cNvSpPr/>
          <p:nvPr/>
        </p:nvSpPr>
        <p:spPr>
          <a:xfrm>
            <a:off x="11475720" y="6492240"/>
            <a:ext cx="3657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72BC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0072BC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3" name="Google Shape;373;g3e590c21d2e_52_7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5739" y="1282165"/>
            <a:ext cx="9715500" cy="4752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g3e590c21d2e_52_716" title="Hospital-Sírio-Libanês-logo-removebg-preview (1).png"/>
          <p:cNvPicPr preferRelativeResize="0"/>
          <p:nvPr/>
        </p:nvPicPr>
        <p:blipFill rotWithShape="1">
          <a:blip r:embed="rId4">
            <a:alphaModFix/>
          </a:blip>
          <a:srcRect b="36159" l="21436" r="22330" t="35811"/>
          <a:stretch/>
        </p:blipFill>
        <p:spPr>
          <a:xfrm>
            <a:off x="9784075" y="292602"/>
            <a:ext cx="2057399" cy="6159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AFD"/>
        </a:solidFill>
      </p:bgPr>
    </p:bg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80" name="Google Shape;380;g3e590c21d2e_52_726"/>
          <p:cNvCxnSpPr/>
          <p:nvPr/>
        </p:nvCxnSpPr>
        <p:spPr>
          <a:xfrm>
            <a:off x="320040" y="182880"/>
            <a:ext cx="0" cy="6355200"/>
          </a:xfrm>
          <a:prstGeom prst="straightConnector1">
            <a:avLst/>
          </a:prstGeom>
          <a:noFill/>
          <a:ln cap="flat" cmpd="sng" w="38100">
            <a:solidFill>
              <a:srgbClr val="00A6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1" name="Google Shape;381;g3e590c21d2e_52_726"/>
          <p:cNvSpPr/>
          <p:nvPr/>
        </p:nvSpPr>
        <p:spPr>
          <a:xfrm>
            <a:off x="594360" y="292608"/>
            <a:ext cx="7498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A70"/>
              </a:buClr>
              <a:buSzPts val="2200"/>
              <a:buFont typeface="Arial"/>
              <a:buNone/>
            </a:pPr>
            <a:r>
              <a:rPr b="1" lang="en-US" sz="2200">
                <a:solidFill>
                  <a:srgbClr val="003A70"/>
                </a:solidFill>
              </a:rPr>
              <a:t>Desenvolvimento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g3e590c21d2e_52_726"/>
          <p:cNvSpPr/>
          <p:nvPr/>
        </p:nvSpPr>
        <p:spPr>
          <a:xfrm>
            <a:off x="594360" y="6537960"/>
            <a:ext cx="96927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087"/>
              </a:buClr>
              <a:buSzPts val="570"/>
              <a:buFont typeface="Arial"/>
              <a:buNone/>
            </a:pPr>
            <a:r>
              <a:rPr b="0" i="0" lang="en-US" sz="570" u="none" cap="none" strike="noStrike">
                <a:solidFill>
                  <a:srgbClr val="7A8087"/>
                </a:solidFill>
                <a:latin typeface="Arial"/>
                <a:ea typeface="Arial"/>
                <a:cs typeface="Arial"/>
                <a:sym typeface="Arial"/>
              </a:rPr>
              <a:t>Fontes: Relato Integrado 2025, Hospital Sírio-Libanês; Glassdoor; roteiro analítico fornecido.</a:t>
            </a:r>
            <a:endParaRPr b="0" i="0" sz="5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g3e590c21d2e_52_726"/>
          <p:cNvSpPr/>
          <p:nvPr/>
        </p:nvSpPr>
        <p:spPr>
          <a:xfrm>
            <a:off x="11475720" y="6492240"/>
            <a:ext cx="3657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72BC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0072BC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4" name="Google Shape;384;g3e590c21d2e_52_7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4188" y="1035450"/>
            <a:ext cx="10303624" cy="4899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5" name="Google Shape;385;g3e590c21d2e_52_726" title="Hospital-Sírio-Libanês-logo-removebg-preview (1).png"/>
          <p:cNvPicPr preferRelativeResize="0"/>
          <p:nvPr/>
        </p:nvPicPr>
        <p:blipFill rotWithShape="1">
          <a:blip r:embed="rId4">
            <a:alphaModFix/>
          </a:blip>
          <a:srcRect b="36159" l="21436" r="22330" t="35811"/>
          <a:stretch/>
        </p:blipFill>
        <p:spPr>
          <a:xfrm>
            <a:off x="9784075" y="292602"/>
            <a:ext cx="2057399" cy="6159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1" name="Google Shape;391;g3e590c21d2e_52_736"/>
          <p:cNvCxnSpPr/>
          <p:nvPr/>
        </p:nvCxnSpPr>
        <p:spPr>
          <a:xfrm>
            <a:off x="320040" y="182880"/>
            <a:ext cx="0" cy="6355200"/>
          </a:xfrm>
          <a:prstGeom prst="straightConnector1">
            <a:avLst/>
          </a:prstGeom>
          <a:noFill/>
          <a:ln cap="flat" cmpd="sng" w="38100">
            <a:solidFill>
              <a:srgbClr val="00A6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2" name="Google Shape;392;g3e590c21d2e_52_736"/>
          <p:cNvSpPr/>
          <p:nvPr/>
        </p:nvSpPr>
        <p:spPr>
          <a:xfrm>
            <a:off x="590550" y="1333500"/>
            <a:ext cx="5143500" cy="4000500"/>
          </a:xfrm>
          <a:prstGeom prst="roundRect">
            <a:avLst>
              <a:gd fmla="val 357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g3e590c21d2e_52_736"/>
          <p:cNvSpPr/>
          <p:nvPr/>
        </p:nvSpPr>
        <p:spPr>
          <a:xfrm>
            <a:off x="6457950" y="1333500"/>
            <a:ext cx="5143500" cy="4000500"/>
          </a:xfrm>
          <a:prstGeom prst="roundRect">
            <a:avLst>
              <a:gd fmla="val 357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g3e590c21d2e_52_736"/>
          <p:cNvSpPr/>
          <p:nvPr/>
        </p:nvSpPr>
        <p:spPr>
          <a:xfrm>
            <a:off x="594360" y="6537960"/>
            <a:ext cx="96927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087"/>
              </a:buClr>
              <a:buSzPts val="570"/>
              <a:buFont typeface="Arial"/>
              <a:buNone/>
            </a:pPr>
            <a:r>
              <a:rPr b="0" i="0" lang="en-US" sz="570" u="none" cap="none" strike="noStrike">
                <a:solidFill>
                  <a:srgbClr val="7A8087"/>
                </a:solidFill>
                <a:latin typeface="Arial"/>
                <a:ea typeface="Arial"/>
                <a:cs typeface="Arial"/>
                <a:sym typeface="Arial"/>
              </a:rPr>
              <a:t>Fontes: Relato Integrado 2025, Hospital Sírio-Libanês; Glassdoor; roteiro analítico fornecido.</a:t>
            </a:r>
            <a:endParaRPr b="0" i="0" sz="5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g3e590c21d2e_52_736"/>
          <p:cNvSpPr/>
          <p:nvPr/>
        </p:nvSpPr>
        <p:spPr>
          <a:xfrm>
            <a:off x="594360" y="292608"/>
            <a:ext cx="7498200" cy="384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80">
                <a:solidFill>
                  <a:srgbClr val="003A70"/>
                </a:solidFill>
                <a:latin typeface="Arial"/>
                <a:ea typeface="Arial"/>
                <a:cs typeface="Arial"/>
                <a:sym typeface="Arial"/>
              </a:rPr>
              <a:t>Desenvolvimento</a:t>
            </a:r>
            <a:endParaRPr b="1" sz="2380">
              <a:solidFill>
                <a:srgbClr val="003A7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g3e590c21d2e_52_736"/>
          <p:cNvSpPr/>
          <p:nvPr/>
        </p:nvSpPr>
        <p:spPr>
          <a:xfrm>
            <a:off x="11475720" y="6492240"/>
            <a:ext cx="3657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72BC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0072BC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7" name="Google Shape;397;g3e590c21d2e_52_736"/>
          <p:cNvPicPr preferRelativeResize="0"/>
          <p:nvPr/>
        </p:nvPicPr>
        <p:blipFill rotWithShape="1">
          <a:blip r:embed="rId4">
            <a:alphaModFix/>
          </a:blip>
          <a:srcRect b="22256" l="0" r="0" t="22256"/>
          <a:stretch/>
        </p:blipFill>
        <p:spPr>
          <a:xfrm>
            <a:off x="781050" y="1524000"/>
            <a:ext cx="4762500" cy="2667000"/>
          </a:xfrm>
          <a:prstGeom prst="roundRect">
            <a:avLst>
              <a:gd fmla="val 3571" name="adj"/>
            </a:avLst>
          </a:prstGeom>
          <a:noFill/>
          <a:ln>
            <a:noFill/>
          </a:ln>
        </p:spPr>
      </p:pic>
      <p:pic>
        <p:nvPicPr>
          <p:cNvPr id="398" name="Google Shape;398;g3e590c21d2e_52_736" title="Hospital-Sírio-Libanês-logo-removebg-preview (1).png"/>
          <p:cNvPicPr preferRelativeResize="0"/>
          <p:nvPr/>
        </p:nvPicPr>
        <p:blipFill rotWithShape="1">
          <a:blip r:embed="rId5">
            <a:alphaModFix/>
          </a:blip>
          <a:srcRect b="36159" l="21436" r="22330" t="35811"/>
          <a:stretch/>
        </p:blipFill>
        <p:spPr>
          <a:xfrm>
            <a:off x="9784075" y="292602"/>
            <a:ext cx="2057399" cy="615998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g3e590c21d2e_52_736"/>
          <p:cNvSpPr txBox="1"/>
          <p:nvPr/>
        </p:nvSpPr>
        <p:spPr>
          <a:xfrm>
            <a:off x="781050" y="4381500"/>
            <a:ext cx="4762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03A70"/>
                </a:solidFill>
                <a:latin typeface="Arial"/>
                <a:ea typeface="Arial"/>
                <a:cs typeface="Arial"/>
                <a:sym typeface="Arial"/>
              </a:rPr>
              <a:t>Programa SER Agente</a:t>
            </a:r>
            <a:endParaRPr b="1" sz="1600">
              <a:solidFill>
                <a:srgbClr val="003A7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Inscrições abertas para Agentes de Comunicação. Uma oportunidade de integrar o grupo que potencializa nossa cultura institucional.</a:t>
            </a:r>
            <a:endParaRPr b="0" sz="12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0" name="Google Shape;400;g3e590c21d2e_52_736"/>
          <p:cNvPicPr preferRelativeResize="0"/>
          <p:nvPr/>
        </p:nvPicPr>
        <p:blipFill rotWithShape="1">
          <a:blip r:embed="rId6">
            <a:alphaModFix/>
          </a:blip>
          <a:srcRect b="16506" l="0" r="0" t="16506"/>
          <a:stretch/>
        </p:blipFill>
        <p:spPr>
          <a:xfrm>
            <a:off x="6648450" y="1524000"/>
            <a:ext cx="4762500" cy="2667000"/>
          </a:xfrm>
          <a:prstGeom prst="roundRect">
            <a:avLst>
              <a:gd fmla="val 3571" name="adj"/>
            </a:avLst>
          </a:prstGeom>
          <a:noFill/>
          <a:ln>
            <a:noFill/>
          </a:ln>
        </p:spPr>
      </p:pic>
      <p:sp>
        <p:nvSpPr>
          <p:cNvPr id="401" name="Google Shape;401;g3e590c21d2e_52_736"/>
          <p:cNvSpPr txBox="1"/>
          <p:nvPr/>
        </p:nvSpPr>
        <p:spPr>
          <a:xfrm>
            <a:off x="6648450" y="4381500"/>
            <a:ext cx="4762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03A70"/>
                </a:solidFill>
                <a:latin typeface="Arial"/>
                <a:ea typeface="Arial"/>
                <a:cs typeface="Arial"/>
                <a:sym typeface="Arial"/>
              </a:rPr>
              <a:t>Espaço do Colaborador em Brasília</a:t>
            </a:r>
            <a:endParaRPr b="1" sz="1600">
              <a:solidFill>
                <a:srgbClr val="003A7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Inauguração de novo ambiente voltado ao bem-estar e integração dos nossos colaboradores na capital federal.</a:t>
            </a:r>
            <a:endParaRPr b="0" sz="12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7" name="Google Shape;407;g3e590c21d2e_52_748"/>
          <p:cNvCxnSpPr/>
          <p:nvPr/>
        </p:nvCxnSpPr>
        <p:spPr>
          <a:xfrm>
            <a:off x="320040" y="182880"/>
            <a:ext cx="0" cy="6355200"/>
          </a:xfrm>
          <a:prstGeom prst="straightConnector1">
            <a:avLst/>
          </a:prstGeom>
          <a:noFill/>
          <a:ln cap="flat" cmpd="sng" w="38100">
            <a:solidFill>
              <a:srgbClr val="00A6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8" name="Google Shape;408;g3e590c21d2e_52_748"/>
          <p:cNvSpPr/>
          <p:nvPr/>
        </p:nvSpPr>
        <p:spPr>
          <a:xfrm>
            <a:off x="590550" y="1333500"/>
            <a:ext cx="5334000" cy="4381500"/>
          </a:xfrm>
          <a:prstGeom prst="roundRect">
            <a:avLst>
              <a:gd fmla="val 326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g3e590c21d2e_52_748"/>
          <p:cNvSpPr/>
          <p:nvPr/>
        </p:nvSpPr>
        <p:spPr>
          <a:xfrm>
            <a:off x="594360" y="292608"/>
            <a:ext cx="7498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A70"/>
              </a:buClr>
              <a:buSzPts val="2200"/>
              <a:buFont typeface="Arial"/>
              <a:buNone/>
            </a:pPr>
            <a:r>
              <a:rPr b="1" lang="en-US" sz="2200">
                <a:solidFill>
                  <a:srgbClr val="003A70"/>
                </a:solidFill>
              </a:rPr>
              <a:t>Desenvolvimento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g3e590c21d2e_52_748"/>
          <p:cNvSpPr/>
          <p:nvPr/>
        </p:nvSpPr>
        <p:spPr>
          <a:xfrm>
            <a:off x="6267450" y="1333500"/>
            <a:ext cx="5334000" cy="4381500"/>
          </a:xfrm>
          <a:prstGeom prst="roundRect">
            <a:avLst>
              <a:gd fmla="val 326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g3e590c21d2e_52_748"/>
          <p:cNvSpPr/>
          <p:nvPr/>
        </p:nvSpPr>
        <p:spPr>
          <a:xfrm>
            <a:off x="594360" y="6537960"/>
            <a:ext cx="96927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087"/>
              </a:buClr>
              <a:buSzPts val="570"/>
              <a:buFont typeface="Arial"/>
              <a:buNone/>
            </a:pPr>
            <a:r>
              <a:rPr b="0" i="0" lang="en-US" sz="570" u="none" cap="none" strike="noStrike">
                <a:solidFill>
                  <a:srgbClr val="7A8087"/>
                </a:solidFill>
                <a:latin typeface="Arial"/>
                <a:ea typeface="Arial"/>
                <a:cs typeface="Arial"/>
                <a:sym typeface="Arial"/>
              </a:rPr>
              <a:t>Fontes: Relato Integrado 2025, Hospital Sírio-Libanês; Glassdoor; roteiro analítico fornecido.</a:t>
            </a:r>
            <a:endParaRPr b="0" i="0" sz="5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2" name="Google Shape;412;g3e590c21d2e_52_748"/>
          <p:cNvPicPr preferRelativeResize="0"/>
          <p:nvPr/>
        </p:nvPicPr>
        <p:blipFill rotWithShape="1">
          <a:blip r:embed="rId4">
            <a:alphaModFix/>
          </a:blip>
          <a:srcRect b="17231" l="0" r="0" t="17225"/>
          <a:stretch/>
        </p:blipFill>
        <p:spPr>
          <a:xfrm>
            <a:off x="781050" y="1524000"/>
            <a:ext cx="4953000" cy="2762400"/>
          </a:xfrm>
          <a:prstGeom prst="roundRect">
            <a:avLst>
              <a:gd fmla="val 3448" name="adj"/>
            </a:avLst>
          </a:prstGeom>
          <a:noFill/>
          <a:ln>
            <a:noFill/>
          </a:ln>
        </p:spPr>
      </p:pic>
      <p:sp>
        <p:nvSpPr>
          <p:cNvPr id="413" name="Google Shape;413;g3e590c21d2e_52_748"/>
          <p:cNvSpPr/>
          <p:nvPr/>
        </p:nvSpPr>
        <p:spPr>
          <a:xfrm>
            <a:off x="11475720" y="6492240"/>
            <a:ext cx="3657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72BC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0072BC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4" name="Google Shape;414;g3e590c21d2e_52_748"/>
          <p:cNvPicPr preferRelativeResize="0"/>
          <p:nvPr/>
        </p:nvPicPr>
        <p:blipFill rotWithShape="1">
          <a:blip r:embed="rId5">
            <a:alphaModFix/>
          </a:blip>
          <a:srcRect b="21322" l="0" r="0" t="21316"/>
          <a:stretch/>
        </p:blipFill>
        <p:spPr>
          <a:xfrm>
            <a:off x="6457950" y="1524000"/>
            <a:ext cx="4953000" cy="2762400"/>
          </a:xfrm>
          <a:prstGeom prst="roundRect">
            <a:avLst>
              <a:gd fmla="val 3448" name="adj"/>
            </a:avLst>
          </a:prstGeom>
          <a:noFill/>
          <a:ln>
            <a:noFill/>
          </a:ln>
        </p:spPr>
      </p:pic>
      <p:pic>
        <p:nvPicPr>
          <p:cNvPr id="415" name="Google Shape;415;g3e590c21d2e_52_748" title="Hospital-Sírio-Libanês-logo-removebg-preview (1).png"/>
          <p:cNvPicPr preferRelativeResize="0"/>
          <p:nvPr/>
        </p:nvPicPr>
        <p:blipFill rotWithShape="1">
          <a:blip r:embed="rId6">
            <a:alphaModFix/>
          </a:blip>
          <a:srcRect b="36159" l="21436" r="22330" t="35811"/>
          <a:stretch/>
        </p:blipFill>
        <p:spPr>
          <a:xfrm>
            <a:off x="9784075" y="292602"/>
            <a:ext cx="2057399" cy="615998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g3e590c21d2e_52_748"/>
          <p:cNvSpPr txBox="1"/>
          <p:nvPr/>
        </p:nvSpPr>
        <p:spPr>
          <a:xfrm>
            <a:off x="781050" y="4429125"/>
            <a:ext cx="4953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3A70"/>
                </a:solidFill>
                <a:latin typeface="Arial"/>
                <a:ea typeface="Arial"/>
                <a:cs typeface="Arial"/>
                <a:sym typeface="Arial"/>
              </a:rPr>
              <a:t>Conheça os finalistas da mobilização 📢</a:t>
            </a:r>
            <a:endParaRPr b="1" sz="1800">
              <a:solidFill>
                <a:srgbClr val="003A7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Na Copa da Segurança, o placar ideal é o Dano Zero. Confira os colaboradores que se destacaram na busca pela excelência e segurança do paciente.</a:t>
            </a:r>
            <a:endParaRPr b="0" sz="12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g3e590c21d2e_52_748"/>
          <p:cNvSpPr txBox="1"/>
          <p:nvPr/>
        </p:nvSpPr>
        <p:spPr>
          <a:xfrm>
            <a:off x="6457950" y="4429125"/>
            <a:ext cx="4953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3A70"/>
                </a:solidFill>
                <a:latin typeface="Arial"/>
                <a:ea typeface="Arial"/>
                <a:cs typeface="Arial"/>
                <a:sym typeface="Arial"/>
              </a:rPr>
              <a:t>Nossos Processos: Respeito e Ética</a:t>
            </a:r>
            <a:endParaRPr b="1" sz="1800">
              <a:solidFill>
                <a:srgbClr val="003A7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Respeito, ética, ação: você é protagonista na construção de um ambiente seguro e livre de assédio e discriminação.</a:t>
            </a:r>
            <a:endParaRPr b="0" sz="12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AFD"/>
        </a:solidFill>
      </p:bgPr>
    </p:bg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23" name="Google Shape;423;g3e590c21d2e_52_761"/>
          <p:cNvCxnSpPr/>
          <p:nvPr/>
        </p:nvCxnSpPr>
        <p:spPr>
          <a:xfrm>
            <a:off x="320040" y="182880"/>
            <a:ext cx="0" cy="6355200"/>
          </a:xfrm>
          <a:prstGeom prst="straightConnector1">
            <a:avLst/>
          </a:prstGeom>
          <a:noFill/>
          <a:ln cap="flat" cmpd="sng" w="38100">
            <a:solidFill>
              <a:srgbClr val="00A6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4" name="Google Shape;424;g3e590c21d2e_52_761"/>
          <p:cNvSpPr/>
          <p:nvPr/>
        </p:nvSpPr>
        <p:spPr>
          <a:xfrm>
            <a:off x="594360" y="292608"/>
            <a:ext cx="7498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A70"/>
              </a:buClr>
              <a:buSzPts val="2200"/>
              <a:buFont typeface="Arial"/>
              <a:buNone/>
            </a:pPr>
            <a:r>
              <a:rPr b="1" lang="en-US" sz="2200">
                <a:solidFill>
                  <a:srgbClr val="003A70"/>
                </a:solidFill>
              </a:rPr>
              <a:t>Desenvolvimento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g3e590c21d2e_52_761"/>
          <p:cNvSpPr/>
          <p:nvPr/>
        </p:nvSpPr>
        <p:spPr>
          <a:xfrm>
            <a:off x="594360" y="6537960"/>
            <a:ext cx="96927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087"/>
              </a:buClr>
              <a:buSzPts val="570"/>
              <a:buFont typeface="Arial"/>
              <a:buNone/>
            </a:pPr>
            <a:r>
              <a:rPr b="0" i="0" lang="en-US" sz="570" u="none" cap="none" strike="noStrike">
                <a:solidFill>
                  <a:srgbClr val="7A8087"/>
                </a:solidFill>
                <a:latin typeface="Arial"/>
                <a:ea typeface="Arial"/>
                <a:cs typeface="Arial"/>
                <a:sym typeface="Arial"/>
              </a:rPr>
              <a:t>Fontes: Relato Integrado 2025, Hospital Sírio-Libanês; Glassdoor; roteiro analítico fornecido.</a:t>
            </a:r>
            <a:endParaRPr b="0" i="0" sz="5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g3e590c21d2e_52_761"/>
          <p:cNvSpPr/>
          <p:nvPr/>
        </p:nvSpPr>
        <p:spPr>
          <a:xfrm>
            <a:off x="11475720" y="6492240"/>
            <a:ext cx="3657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72BC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0072BC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7" name="Google Shape;427;g3e590c21d2e_52_761" title="Hospital-Sírio-Libanês-logo-removebg-preview (1).png"/>
          <p:cNvPicPr preferRelativeResize="0"/>
          <p:nvPr/>
        </p:nvPicPr>
        <p:blipFill rotWithShape="1">
          <a:blip r:embed="rId3">
            <a:alphaModFix/>
          </a:blip>
          <a:srcRect b="36159" l="21436" r="22330" t="35811"/>
          <a:stretch/>
        </p:blipFill>
        <p:spPr>
          <a:xfrm>
            <a:off x="9784075" y="292602"/>
            <a:ext cx="2057399" cy="615998"/>
          </a:xfrm>
          <a:prstGeom prst="rect">
            <a:avLst/>
          </a:prstGeom>
          <a:noFill/>
          <a:ln>
            <a:noFill/>
          </a:ln>
        </p:spPr>
      </p:pic>
      <p:pic>
        <p:nvPicPr>
          <p:cNvPr id="428" name="Google Shape;428;g3e590c21d2e_52_7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92200" y="764608"/>
            <a:ext cx="6469841" cy="55565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AFD"/>
        </a:solidFill>
      </p:bgPr>
    </p:bg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4" name="Google Shape;434;g3e590c21d2e_52_773"/>
          <p:cNvCxnSpPr/>
          <p:nvPr/>
        </p:nvCxnSpPr>
        <p:spPr>
          <a:xfrm>
            <a:off x="320040" y="182880"/>
            <a:ext cx="0" cy="6355200"/>
          </a:xfrm>
          <a:prstGeom prst="straightConnector1">
            <a:avLst/>
          </a:prstGeom>
          <a:noFill/>
          <a:ln cap="flat" cmpd="sng" w="38100">
            <a:solidFill>
              <a:srgbClr val="00A6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5" name="Google Shape;435;g3e590c21d2e_52_773"/>
          <p:cNvSpPr/>
          <p:nvPr/>
        </p:nvSpPr>
        <p:spPr>
          <a:xfrm>
            <a:off x="594360" y="292608"/>
            <a:ext cx="7498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A70"/>
              </a:buClr>
              <a:buSzPts val="2200"/>
              <a:buFont typeface="Arial"/>
              <a:buNone/>
            </a:pPr>
            <a:r>
              <a:rPr b="1" lang="en-US" sz="2200">
                <a:solidFill>
                  <a:srgbClr val="003A70"/>
                </a:solidFill>
              </a:rPr>
              <a:t>Desenvolvimento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g3e590c21d2e_52_773"/>
          <p:cNvSpPr/>
          <p:nvPr/>
        </p:nvSpPr>
        <p:spPr>
          <a:xfrm>
            <a:off x="594360" y="6537960"/>
            <a:ext cx="96927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087"/>
              </a:buClr>
              <a:buSzPts val="570"/>
              <a:buFont typeface="Arial"/>
              <a:buNone/>
            </a:pPr>
            <a:r>
              <a:rPr b="0" i="0" lang="en-US" sz="570" u="none" cap="none" strike="noStrike">
                <a:solidFill>
                  <a:srgbClr val="7A8087"/>
                </a:solidFill>
                <a:latin typeface="Arial"/>
                <a:ea typeface="Arial"/>
                <a:cs typeface="Arial"/>
                <a:sym typeface="Arial"/>
              </a:rPr>
              <a:t>Fontes: Relato Integrado 2025, Hospital Sírio-Libanês; Glassdoor; roteiro analítico fornecido.</a:t>
            </a:r>
            <a:endParaRPr b="0" i="0" sz="5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g3e590c21d2e_52_773"/>
          <p:cNvSpPr/>
          <p:nvPr/>
        </p:nvSpPr>
        <p:spPr>
          <a:xfrm>
            <a:off x="11475720" y="6492240"/>
            <a:ext cx="3657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72BC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0072BC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8" name="Google Shape;438;g3e590c21d2e_52_773" title="Hospital-Sírio-Libanês-logo-removebg-preview (1).png"/>
          <p:cNvPicPr preferRelativeResize="0"/>
          <p:nvPr/>
        </p:nvPicPr>
        <p:blipFill rotWithShape="1">
          <a:blip r:embed="rId3">
            <a:alphaModFix/>
          </a:blip>
          <a:srcRect b="36159" l="21436" r="22330" t="35811"/>
          <a:stretch/>
        </p:blipFill>
        <p:spPr>
          <a:xfrm>
            <a:off x="9784075" y="292602"/>
            <a:ext cx="2057399" cy="615998"/>
          </a:xfrm>
          <a:prstGeom prst="rect">
            <a:avLst/>
          </a:prstGeom>
          <a:noFill/>
          <a:ln>
            <a:noFill/>
          </a:ln>
        </p:spPr>
      </p:pic>
      <p:pic>
        <p:nvPicPr>
          <p:cNvPr id="439" name="Google Shape;439;g3e590c21d2e_52_7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80275" y="1166813"/>
            <a:ext cx="4733925" cy="4524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AFD"/>
        </a:solidFill>
      </p:bgPr>
    </p:bg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45" name="Google Shape;445;g3e590c21d2e_52_784"/>
          <p:cNvCxnSpPr/>
          <p:nvPr/>
        </p:nvCxnSpPr>
        <p:spPr>
          <a:xfrm>
            <a:off x="320040" y="182880"/>
            <a:ext cx="0" cy="6355200"/>
          </a:xfrm>
          <a:prstGeom prst="straightConnector1">
            <a:avLst/>
          </a:prstGeom>
          <a:noFill/>
          <a:ln cap="flat" cmpd="sng" w="38100">
            <a:solidFill>
              <a:srgbClr val="00A6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6" name="Google Shape;446;g3e590c21d2e_52_784"/>
          <p:cNvSpPr/>
          <p:nvPr/>
        </p:nvSpPr>
        <p:spPr>
          <a:xfrm>
            <a:off x="594360" y="292608"/>
            <a:ext cx="7498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A70"/>
              </a:buClr>
              <a:buSzPts val="2200"/>
              <a:buFont typeface="Arial"/>
              <a:buNone/>
            </a:pPr>
            <a:r>
              <a:rPr b="1" lang="en-US" sz="2200">
                <a:solidFill>
                  <a:srgbClr val="003A70"/>
                </a:solidFill>
              </a:rPr>
              <a:t>Desenvolvimento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g3e590c21d2e_52_784"/>
          <p:cNvSpPr/>
          <p:nvPr/>
        </p:nvSpPr>
        <p:spPr>
          <a:xfrm>
            <a:off x="594360" y="6537960"/>
            <a:ext cx="96927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087"/>
              </a:buClr>
              <a:buSzPts val="570"/>
              <a:buFont typeface="Arial"/>
              <a:buNone/>
            </a:pPr>
            <a:r>
              <a:rPr b="0" i="0" lang="en-US" sz="570" u="none" cap="none" strike="noStrike">
                <a:solidFill>
                  <a:srgbClr val="7A8087"/>
                </a:solidFill>
                <a:latin typeface="Arial"/>
                <a:ea typeface="Arial"/>
                <a:cs typeface="Arial"/>
                <a:sym typeface="Arial"/>
              </a:rPr>
              <a:t>Fontes: Relato Integrado 2025, Hospital Sírio-Libanês; Glassdoor; roteiro analítico fornecido.</a:t>
            </a:r>
            <a:endParaRPr b="0" i="0" sz="5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g3e590c21d2e_52_784"/>
          <p:cNvSpPr/>
          <p:nvPr/>
        </p:nvSpPr>
        <p:spPr>
          <a:xfrm>
            <a:off x="11475720" y="6492240"/>
            <a:ext cx="3657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72BC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0072BC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9" name="Google Shape;449;g3e590c21d2e_52_784" title="Hospital-Sírio-Libanês-logo-removebg-preview (1).png"/>
          <p:cNvPicPr preferRelativeResize="0"/>
          <p:nvPr/>
        </p:nvPicPr>
        <p:blipFill rotWithShape="1">
          <a:blip r:embed="rId3">
            <a:alphaModFix/>
          </a:blip>
          <a:srcRect b="36159" l="21436" r="22330" t="35811"/>
          <a:stretch/>
        </p:blipFill>
        <p:spPr>
          <a:xfrm>
            <a:off x="9784075" y="292602"/>
            <a:ext cx="2057399" cy="615998"/>
          </a:xfrm>
          <a:prstGeom prst="rect">
            <a:avLst/>
          </a:prstGeom>
          <a:noFill/>
          <a:ln>
            <a:noFill/>
          </a:ln>
        </p:spPr>
      </p:pic>
      <p:pic>
        <p:nvPicPr>
          <p:cNvPr id="450" name="Google Shape;450;g3e590c21d2e_52_78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92750" y="1109663"/>
            <a:ext cx="5029200" cy="4638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1" name="Google Shape;451;g3e590c21d2e_52_78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97975" y="1307975"/>
            <a:ext cx="4743450" cy="438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AFD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7" name="Google Shape;457;g3e590c21d2e_52_800"/>
          <p:cNvCxnSpPr/>
          <p:nvPr/>
        </p:nvCxnSpPr>
        <p:spPr>
          <a:xfrm>
            <a:off x="320040" y="182880"/>
            <a:ext cx="0" cy="6355200"/>
          </a:xfrm>
          <a:prstGeom prst="straightConnector1">
            <a:avLst/>
          </a:prstGeom>
          <a:noFill/>
          <a:ln cap="flat" cmpd="sng" w="38100">
            <a:solidFill>
              <a:srgbClr val="00A6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8" name="Google Shape;458;g3e590c21d2e_52_800"/>
          <p:cNvSpPr/>
          <p:nvPr/>
        </p:nvSpPr>
        <p:spPr>
          <a:xfrm>
            <a:off x="594360" y="292608"/>
            <a:ext cx="7498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A70"/>
              </a:buClr>
              <a:buSzPts val="2200"/>
              <a:buFont typeface="Arial"/>
              <a:buNone/>
            </a:pPr>
            <a:r>
              <a:rPr b="1" lang="en-US" sz="2200">
                <a:solidFill>
                  <a:srgbClr val="003A70"/>
                </a:solidFill>
              </a:rPr>
              <a:t>Desenvolvimento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g3e590c21d2e_52_800"/>
          <p:cNvSpPr/>
          <p:nvPr/>
        </p:nvSpPr>
        <p:spPr>
          <a:xfrm>
            <a:off x="594360" y="6537960"/>
            <a:ext cx="96927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087"/>
              </a:buClr>
              <a:buSzPts val="570"/>
              <a:buFont typeface="Arial"/>
              <a:buNone/>
            </a:pPr>
            <a:r>
              <a:rPr b="0" i="0" lang="en-US" sz="570" u="none" cap="none" strike="noStrike">
                <a:solidFill>
                  <a:srgbClr val="7A8087"/>
                </a:solidFill>
                <a:latin typeface="Arial"/>
                <a:ea typeface="Arial"/>
                <a:cs typeface="Arial"/>
                <a:sym typeface="Arial"/>
              </a:rPr>
              <a:t>Fontes: Relato Integrado 2025, Hospital Sírio-Libanês; Glassdoor; roteiro analítico fornecido.</a:t>
            </a:r>
            <a:endParaRPr b="0" i="0" sz="5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g3e590c21d2e_52_800"/>
          <p:cNvSpPr/>
          <p:nvPr/>
        </p:nvSpPr>
        <p:spPr>
          <a:xfrm>
            <a:off x="11475720" y="6492240"/>
            <a:ext cx="3657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72BC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0072BC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61" name="Google Shape;461;g3e590c21d2e_52_800" title="Hospital-Sírio-Libanês-logo-removebg-preview (1).png"/>
          <p:cNvPicPr preferRelativeResize="0"/>
          <p:nvPr/>
        </p:nvPicPr>
        <p:blipFill rotWithShape="1">
          <a:blip r:embed="rId3">
            <a:alphaModFix/>
          </a:blip>
          <a:srcRect b="36159" l="21436" r="22330" t="35811"/>
          <a:stretch/>
        </p:blipFill>
        <p:spPr>
          <a:xfrm>
            <a:off x="9784075" y="292602"/>
            <a:ext cx="2057399" cy="615998"/>
          </a:xfrm>
          <a:prstGeom prst="rect">
            <a:avLst/>
          </a:prstGeom>
          <a:noFill/>
          <a:ln>
            <a:noFill/>
          </a:ln>
        </p:spPr>
      </p:pic>
      <p:pic>
        <p:nvPicPr>
          <p:cNvPr id="462" name="Google Shape;462;g3e590c21d2e_52_8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96925" y="590425"/>
            <a:ext cx="5598150" cy="6093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AFD"/>
        </a:solidFill>
      </p:bgPr>
    </p:bg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8" name="Google Shape;468;g3e590c21d2e_52_831"/>
          <p:cNvCxnSpPr/>
          <p:nvPr/>
        </p:nvCxnSpPr>
        <p:spPr>
          <a:xfrm>
            <a:off x="320040" y="182880"/>
            <a:ext cx="0" cy="6355200"/>
          </a:xfrm>
          <a:prstGeom prst="straightConnector1">
            <a:avLst/>
          </a:prstGeom>
          <a:noFill/>
          <a:ln cap="flat" cmpd="sng" w="38100">
            <a:solidFill>
              <a:srgbClr val="00A6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9" name="Google Shape;469;g3e590c21d2e_52_831"/>
          <p:cNvSpPr/>
          <p:nvPr/>
        </p:nvSpPr>
        <p:spPr>
          <a:xfrm>
            <a:off x="11475720" y="6492240"/>
            <a:ext cx="3657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72BC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0072BC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70" name="Google Shape;470;g3e590c21d2e_52_831" title="Hospital-Sírio-Libanês-logo-removebg-preview (1).png"/>
          <p:cNvPicPr preferRelativeResize="0"/>
          <p:nvPr/>
        </p:nvPicPr>
        <p:blipFill rotWithShape="1">
          <a:blip r:embed="rId3">
            <a:alphaModFix/>
          </a:blip>
          <a:srcRect b="36159" l="21436" r="22330" t="35811"/>
          <a:stretch/>
        </p:blipFill>
        <p:spPr>
          <a:xfrm>
            <a:off x="9784075" y="292602"/>
            <a:ext cx="2057399" cy="615998"/>
          </a:xfrm>
          <a:prstGeom prst="rect">
            <a:avLst/>
          </a:prstGeom>
          <a:noFill/>
          <a:ln>
            <a:noFill/>
          </a:ln>
        </p:spPr>
      </p:pic>
      <p:pic>
        <p:nvPicPr>
          <p:cNvPr id="471" name="Google Shape;471;g3e590c21d2e_52_8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4350" y="1274500"/>
            <a:ext cx="8763000" cy="417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2" name="Google Shape;472;g3e590c21d2e_52_8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63700" y="3441725"/>
            <a:ext cx="4436100" cy="3050525"/>
          </a:xfrm>
          <a:prstGeom prst="rect">
            <a:avLst/>
          </a:prstGeom>
          <a:noFill/>
          <a:ln>
            <a:noFill/>
          </a:ln>
        </p:spPr>
      </p:pic>
      <p:sp>
        <p:nvSpPr>
          <p:cNvPr id="473" name="Google Shape;473;g3e590c21d2e_52_831"/>
          <p:cNvSpPr/>
          <p:nvPr/>
        </p:nvSpPr>
        <p:spPr>
          <a:xfrm>
            <a:off x="594360" y="292608"/>
            <a:ext cx="7498200" cy="384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80">
              <a:solidFill>
                <a:srgbClr val="003A7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g3e590c21d2e_52_831"/>
          <p:cNvSpPr/>
          <p:nvPr/>
        </p:nvSpPr>
        <p:spPr>
          <a:xfrm>
            <a:off x="746760" y="445008"/>
            <a:ext cx="7498200" cy="384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80">
                <a:solidFill>
                  <a:srgbClr val="003A70"/>
                </a:solidFill>
                <a:latin typeface="Arial"/>
                <a:ea typeface="Arial"/>
                <a:cs typeface="Arial"/>
                <a:sym typeface="Arial"/>
              </a:rPr>
              <a:t>Políticas de RH</a:t>
            </a:r>
            <a:endParaRPr b="1" sz="2380">
              <a:solidFill>
                <a:srgbClr val="003A7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AFD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80" name="Google Shape;480;g3e590c21d2e_52_842"/>
          <p:cNvCxnSpPr/>
          <p:nvPr/>
        </p:nvCxnSpPr>
        <p:spPr>
          <a:xfrm>
            <a:off x="320040" y="182880"/>
            <a:ext cx="0" cy="6355200"/>
          </a:xfrm>
          <a:prstGeom prst="straightConnector1">
            <a:avLst/>
          </a:prstGeom>
          <a:noFill/>
          <a:ln cap="flat" cmpd="sng" w="38100">
            <a:solidFill>
              <a:srgbClr val="00A6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1" name="Google Shape;481;g3e590c21d2e_52_842"/>
          <p:cNvSpPr/>
          <p:nvPr/>
        </p:nvSpPr>
        <p:spPr>
          <a:xfrm>
            <a:off x="11475720" y="6492240"/>
            <a:ext cx="3657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72BC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0072BC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2" name="Google Shape;482;g3e590c21d2e_52_842" title="Hospital-Sírio-Libanês-logo-removebg-preview (1).png"/>
          <p:cNvPicPr preferRelativeResize="0"/>
          <p:nvPr/>
        </p:nvPicPr>
        <p:blipFill rotWithShape="1">
          <a:blip r:embed="rId3">
            <a:alphaModFix/>
          </a:blip>
          <a:srcRect b="36159" l="21436" r="22330" t="35811"/>
          <a:stretch/>
        </p:blipFill>
        <p:spPr>
          <a:xfrm>
            <a:off x="9784075" y="292602"/>
            <a:ext cx="2057399" cy="615998"/>
          </a:xfrm>
          <a:prstGeom prst="rect">
            <a:avLst/>
          </a:prstGeom>
          <a:noFill/>
          <a:ln>
            <a:noFill/>
          </a:ln>
        </p:spPr>
      </p:pic>
      <p:pic>
        <p:nvPicPr>
          <p:cNvPr id="483" name="Google Shape;483;g3e590c21d2e_52_8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48300" y="930237"/>
            <a:ext cx="5635075" cy="4997525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g3e590c21d2e_52_842"/>
          <p:cNvSpPr/>
          <p:nvPr/>
        </p:nvSpPr>
        <p:spPr>
          <a:xfrm>
            <a:off x="746760" y="445008"/>
            <a:ext cx="7498200" cy="384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80">
                <a:solidFill>
                  <a:srgbClr val="003A70"/>
                </a:solidFill>
                <a:latin typeface="Arial"/>
                <a:ea typeface="Arial"/>
                <a:cs typeface="Arial"/>
                <a:sym typeface="Arial"/>
              </a:rPr>
              <a:t>Políticas de RH</a:t>
            </a:r>
            <a:endParaRPr b="1" sz="2380">
              <a:solidFill>
                <a:srgbClr val="003A7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AFD"/>
        </a:solidFill>
      </p:bgPr>
    </p:bg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90" name="Google Shape;490;g3e590c21d2e_215_54"/>
          <p:cNvCxnSpPr/>
          <p:nvPr/>
        </p:nvCxnSpPr>
        <p:spPr>
          <a:xfrm>
            <a:off x="320040" y="182880"/>
            <a:ext cx="0" cy="6355200"/>
          </a:xfrm>
          <a:prstGeom prst="straightConnector1">
            <a:avLst/>
          </a:prstGeom>
          <a:noFill/>
          <a:ln cap="flat" cmpd="sng" w="38100">
            <a:solidFill>
              <a:srgbClr val="00A6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1" name="Google Shape;491;g3e590c21d2e_215_54"/>
          <p:cNvSpPr/>
          <p:nvPr/>
        </p:nvSpPr>
        <p:spPr>
          <a:xfrm>
            <a:off x="11475720" y="6492240"/>
            <a:ext cx="3657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72BC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0072BC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92" name="Google Shape;492;g3e590c21d2e_215_54" title="Hospital-Sírio-Libanês-logo-removebg-preview (1).png"/>
          <p:cNvPicPr preferRelativeResize="0"/>
          <p:nvPr/>
        </p:nvPicPr>
        <p:blipFill rotWithShape="1">
          <a:blip r:embed="rId3">
            <a:alphaModFix/>
          </a:blip>
          <a:srcRect b="36159" l="21436" r="22330" t="35811"/>
          <a:stretch/>
        </p:blipFill>
        <p:spPr>
          <a:xfrm>
            <a:off x="9784075" y="292602"/>
            <a:ext cx="2057399" cy="615998"/>
          </a:xfrm>
          <a:prstGeom prst="rect">
            <a:avLst/>
          </a:prstGeom>
          <a:noFill/>
          <a:ln>
            <a:noFill/>
          </a:ln>
        </p:spPr>
      </p:pic>
      <p:sp>
        <p:nvSpPr>
          <p:cNvPr id="493" name="Google Shape;493;g3e590c21d2e_215_54"/>
          <p:cNvSpPr/>
          <p:nvPr/>
        </p:nvSpPr>
        <p:spPr>
          <a:xfrm>
            <a:off x="746760" y="445008"/>
            <a:ext cx="7498200" cy="384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80">
                <a:solidFill>
                  <a:srgbClr val="003A70"/>
                </a:solidFill>
                <a:latin typeface="Arial"/>
                <a:ea typeface="Arial"/>
                <a:cs typeface="Arial"/>
                <a:sym typeface="Arial"/>
              </a:rPr>
              <a:t>Políticas de RH</a:t>
            </a:r>
            <a:endParaRPr b="1" sz="2380">
              <a:solidFill>
                <a:srgbClr val="003A7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94" name="Google Shape;494;g3e590c21d2e_215_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4025" y="444988"/>
            <a:ext cx="6098950" cy="5787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00" name="Google Shape;500;g3e590c21d2e_52_857"/>
          <p:cNvCxnSpPr/>
          <p:nvPr/>
        </p:nvCxnSpPr>
        <p:spPr>
          <a:xfrm>
            <a:off x="320040" y="182880"/>
            <a:ext cx="0" cy="6355200"/>
          </a:xfrm>
          <a:prstGeom prst="straightConnector1">
            <a:avLst/>
          </a:prstGeom>
          <a:solidFill>
            <a:srgbClr val="FFFFFF"/>
          </a:solidFill>
          <a:ln cap="flat" cmpd="sng" w="38100">
            <a:solidFill>
              <a:srgbClr val="00A6D6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501" name="Google Shape;501;g3e590c21d2e_52_857"/>
          <p:cNvPicPr preferRelativeResize="0"/>
          <p:nvPr/>
        </p:nvPicPr>
        <p:blipFill rotWithShape="1">
          <a:blip r:embed="rId4">
            <a:alphaModFix/>
          </a:blip>
          <a:srcRect b="35731" l="21436" r="22330" t="36794"/>
          <a:stretch/>
        </p:blipFill>
        <p:spPr>
          <a:xfrm>
            <a:off x="9784080" y="292608"/>
            <a:ext cx="2057400" cy="6159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02" name="Google Shape;502;g3e590c21d2e_52_857"/>
          <p:cNvGrpSpPr/>
          <p:nvPr/>
        </p:nvGrpSpPr>
        <p:grpSpPr>
          <a:xfrm>
            <a:off x="590550" y="1333500"/>
            <a:ext cx="5334000" cy="1428900"/>
            <a:chOff x="590550" y="1333500"/>
            <a:chExt cx="5334000" cy="1428900"/>
          </a:xfrm>
        </p:grpSpPr>
        <p:sp>
          <p:nvSpPr>
            <p:cNvPr id="503" name="Google Shape;503;g3e590c21d2e_52_857"/>
            <p:cNvSpPr/>
            <p:nvPr/>
          </p:nvSpPr>
          <p:spPr>
            <a:xfrm>
              <a:off x="590550" y="1333500"/>
              <a:ext cx="5334000" cy="1428900"/>
            </a:xfrm>
            <a:prstGeom prst="roundRect">
              <a:avLst>
                <a:gd fmla="val 8000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" name="Google Shape;504;g3e590c21d2e_52_857"/>
            <p:cNvSpPr txBox="1"/>
            <p:nvPr/>
          </p:nvSpPr>
          <p:spPr>
            <a:xfrm>
              <a:off x="1238250" y="1476375"/>
              <a:ext cx="4476900" cy="285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14304A"/>
                  </a:solidFill>
                  <a:latin typeface="Arial"/>
                  <a:ea typeface="Arial"/>
                  <a:cs typeface="Arial"/>
                  <a:sym typeface="Arial"/>
                </a:rPr>
                <a:t>Condutas de liderança</a:t>
              </a:r>
              <a:endParaRPr b="1" sz="1400">
                <a:solidFill>
                  <a:srgbClr val="14304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5" name="Google Shape;505;g3e590c21d2e_52_857"/>
            <p:cNvSpPr txBox="1"/>
            <p:nvPr/>
          </p:nvSpPr>
          <p:spPr>
            <a:xfrm>
              <a:off x="1238250" y="1809750"/>
              <a:ext cx="4476900" cy="809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530">
                  <a:solidFill>
                    <a:srgbClr val="1F2933"/>
                  </a:solidFill>
                  <a:latin typeface="Arial"/>
                  <a:ea typeface="Arial"/>
                  <a:cs typeface="Arial"/>
                  <a:sym typeface="Arial"/>
                </a:rPr>
                <a:t>Predominam líderes técnicos e referência clínica. Há ótimos exemplos de liderança humanizada, mas também relatos pontuais de microgerenciamento.</a:t>
              </a:r>
              <a:endParaRPr b="0" sz="1530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06" name="Google Shape;506;g3e590c21d2e_52_85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62000" y="1476375"/>
              <a:ext cx="333300" cy="3333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07" name="Google Shape;507;g3e590c21d2e_52_857"/>
          <p:cNvGrpSpPr/>
          <p:nvPr/>
        </p:nvGrpSpPr>
        <p:grpSpPr>
          <a:xfrm>
            <a:off x="6267450" y="1333500"/>
            <a:ext cx="5334000" cy="1428900"/>
            <a:chOff x="6267450" y="1333500"/>
            <a:chExt cx="5334000" cy="1428900"/>
          </a:xfrm>
        </p:grpSpPr>
        <p:sp>
          <p:nvSpPr>
            <p:cNvPr id="508" name="Google Shape;508;g3e590c21d2e_52_857"/>
            <p:cNvSpPr/>
            <p:nvPr/>
          </p:nvSpPr>
          <p:spPr>
            <a:xfrm>
              <a:off x="6267450" y="1333500"/>
              <a:ext cx="5334000" cy="1428900"/>
            </a:xfrm>
            <a:prstGeom prst="roundRect">
              <a:avLst>
                <a:gd fmla="val 8000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g3e590c21d2e_52_857"/>
            <p:cNvSpPr txBox="1"/>
            <p:nvPr/>
          </p:nvSpPr>
          <p:spPr>
            <a:xfrm>
              <a:off x="6905625" y="1476375"/>
              <a:ext cx="4476900" cy="285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14304A"/>
                  </a:solidFill>
                  <a:latin typeface="Arial"/>
                  <a:ea typeface="Arial"/>
                  <a:cs typeface="Arial"/>
                  <a:sym typeface="Arial"/>
                </a:rPr>
                <a:t>Cultura de equipe</a:t>
              </a:r>
              <a:endParaRPr b="1" sz="1400">
                <a:solidFill>
                  <a:srgbClr val="14304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0" name="Google Shape;510;g3e590c21d2e_52_857"/>
            <p:cNvSpPr txBox="1"/>
            <p:nvPr/>
          </p:nvSpPr>
          <p:spPr>
            <a:xfrm>
              <a:off x="6905625" y="1809750"/>
              <a:ext cx="4476900" cy="809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665">
                  <a:solidFill>
                    <a:srgbClr val="1F2933"/>
                  </a:solidFill>
                  <a:latin typeface="Arial"/>
                  <a:ea typeface="Arial"/>
                  <a:cs typeface="Arial"/>
                  <a:sym typeface="Arial"/>
                </a:rPr>
                <a:t>Espírito de equipe e "calor humano" são pontos fortes. A integração de equipes é parte essencial da cultura organizacional declarada.</a:t>
              </a:r>
              <a:endParaRPr b="0" sz="1665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11" name="Google Shape;511;g3e590c21d2e_52_85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6429375" y="1476375"/>
              <a:ext cx="333300" cy="3333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12" name="Google Shape;512;g3e590c21d2e_52_857"/>
          <p:cNvGrpSpPr/>
          <p:nvPr/>
        </p:nvGrpSpPr>
        <p:grpSpPr>
          <a:xfrm>
            <a:off x="590550" y="2952750"/>
            <a:ext cx="5334000" cy="1428900"/>
            <a:chOff x="590550" y="2952750"/>
            <a:chExt cx="5334000" cy="1428900"/>
          </a:xfrm>
        </p:grpSpPr>
        <p:sp>
          <p:nvSpPr>
            <p:cNvPr id="513" name="Google Shape;513;g3e590c21d2e_52_857"/>
            <p:cNvSpPr/>
            <p:nvPr/>
          </p:nvSpPr>
          <p:spPr>
            <a:xfrm>
              <a:off x="590550" y="2952750"/>
              <a:ext cx="5334000" cy="1428900"/>
            </a:xfrm>
            <a:prstGeom prst="roundRect">
              <a:avLst>
                <a:gd fmla="val 8000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g3e590c21d2e_52_857"/>
            <p:cNvSpPr txBox="1"/>
            <p:nvPr/>
          </p:nvSpPr>
          <p:spPr>
            <a:xfrm>
              <a:off x="1238250" y="3095625"/>
              <a:ext cx="4476900" cy="285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14304A"/>
                  </a:solidFill>
                  <a:latin typeface="Arial"/>
                  <a:ea typeface="Arial"/>
                  <a:cs typeface="Arial"/>
                  <a:sym typeface="Arial"/>
                </a:rPr>
                <a:t>Diversidade</a:t>
              </a:r>
              <a:endParaRPr b="1" sz="1400">
                <a:solidFill>
                  <a:srgbClr val="14304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5" name="Google Shape;515;g3e590c21d2e_52_857"/>
            <p:cNvSpPr txBox="1"/>
            <p:nvPr/>
          </p:nvSpPr>
          <p:spPr>
            <a:xfrm>
              <a:off x="1238250" y="3429000"/>
              <a:ext cx="4476900" cy="809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530">
                  <a:solidFill>
                    <a:srgbClr val="1F2933"/>
                  </a:solidFill>
                  <a:latin typeface="Arial"/>
                  <a:ea typeface="Arial"/>
                  <a:cs typeface="Arial"/>
                  <a:sym typeface="Arial"/>
                </a:rPr>
                <a:t>Praticada e formalizada: governança feminina, políticas de diversidade e indicadores publicados. Reconhecido como um diferencial institucional.</a:t>
              </a:r>
              <a:endParaRPr b="0" sz="1530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16" name="Google Shape;516;g3e590c21d2e_52_857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762000" y="3095625"/>
              <a:ext cx="333300" cy="3333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17" name="Google Shape;517;g3e590c21d2e_52_857"/>
          <p:cNvGrpSpPr/>
          <p:nvPr/>
        </p:nvGrpSpPr>
        <p:grpSpPr>
          <a:xfrm>
            <a:off x="6267450" y="2952750"/>
            <a:ext cx="5334000" cy="1428900"/>
            <a:chOff x="6267450" y="2952750"/>
            <a:chExt cx="5334000" cy="1428900"/>
          </a:xfrm>
        </p:grpSpPr>
        <p:sp>
          <p:nvSpPr>
            <p:cNvPr id="518" name="Google Shape;518;g3e590c21d2e_52_857"/>
            <p:cNvSpPr/>
            <p:nvPr/>
          </p:nvSpPr>
          <p:spPr>
            <a:xfrm>
              <a:off x="6267450" y="2952750"/>
              <a:ext cx="5334000" cy="1428900"/>
            </a:xfrm>
            <a:prstGeom prst="roundRect">
              <a:avLst>
                <a:gd fmla="val 8000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" name="Google Shape;519;g3e590c21d2e_52_857"/>
            <p:cNvSpPr txBox="1"/>
            <p:nvPr/>
          </p:nvSpPr>
          <p:spPr>
            <a:xfrm>
              <a:off x="6905625" y="3095625"/>
              <a:ext cx="4476900" cy="285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14304A"/>
                  </a:solidFill>
                  <a:latin typeface="Arial"/>
                  <a:ea typeface="Arial"/>
                  <a:cs typeface="Arial"/>
                  <a:sym typeface="Arial"/>
                </a:rPr>
                <a:t>Políticas de RH</a:t>
              </a:r>
              <a:endParaRPr b="1" sz="1400">
                <a:solidFill>
                  <a:srgbClr val="14304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0" name="Google Shape;520;g3e590c21d2e_52_857"/>
            <p:cNvSpPr txBox="1"/>
            <p:nvPr/>
          </p:nvSpPr>
          <p:spPr>
            <a:xfrm>
              <a:off x="6905625" y="3429000"/>
              <a:ext cx="4476900" cy="809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665">
                  <a:solidFill>
                    <a:srgbClr val="1F2933"/>
                  </a:solidFill>
                  <a:latin typeface="Arial"/>
                  <a:ea typeface="Arial"/>
                  <a:cs typeface="Arial"/>
                  <a:sym typeface="Arial"/>
                </a:rPr>
                <a:t>Programa "Cuidando de Quem Cuida", benefícios de bem-estar, formação contínua e ações de responsabilidade social.</a:t>
              </a:r>
              <a:endParaRPr b="0" sz="1665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21" name="Google Shape;521;g3e590c21d2e_52_857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6429375" y="3095625"/>
              <a:ext cx="333300" cy="3333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22" name="Google Shape;522;g3e590c21d2e_52_857"/>
          <p:cNvSpPr/>
          <p:nvPr/>
        </p:nvSpPr>
        <p:spPr>
          <a:xfrm>
            <a:off x="594360" y="292608"/>
            <a:ext cx="7498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A70"/>
              </a:buClr>
              <a:buSzPts val="2200"/>
              <a:buFont typeface="Arial"/>
              <a:buNone/>
            </a:pPr>
            <a:r>
              <a:rPr b="1" lang="en-US" sz="2400">
                <a:solidFill>
                  <a:srgbClr val="003A70"/>
                </a:solidFill>
              </a:rPr>
              <a:t>Analisando pessoas, grupos e líderes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g3e590c21d2e_52_857"/>
          <p:cNvSpPr/>
          <p:nvPr/>
        </p:nvSpPr>
        <p:spPr>
          <a:xfrm>
            <a:off x="11338560" y="6446520"/>
            <a:ext cx="457200" cy="274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sz="9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AFD"/>
        </a:solidFill>
      </p:bgPr>
    </p:bg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9" name="Google Shape;529;g3e26f490cf4_0_173"/>
          <p:cNvCxnSpPr/>
          <p:nvPr/>
        </p:nvCxnSpPr>
        <p:spPr>
          <a:xfrm>
            <a:off x="320040" y="182880"/>
            <a:ext cx="0" cy="6355200"/>
          </a:xfrm>
          <a:prstGeom prst="straightConnector1">
            <a:avLst/>
          </a:prstGeom>
          <a:noFill/>
          <a:ln cap="flat" cmpd="sng" w="38100">
            <a:solidFill>
              <a:srgbClr val="00A6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30" name="Google Shape;530;g3e26f490cf4_0_173"/>
          <p:cNvSpPr/>
          <p:nvPr/>
        </p:nvSpPr>
        <p:spPr>
          <a:xfrm>
            <a:off x="594360" y="292608"/>
            <a:ext cx="7498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A70"/>
              </a:buClr>
              <a:buSzPts val="2200"/>
              <a:buFont typeface="Arial"/>
              <a:buNone/>
            </a:pPr>
            <a:r>
              <a:rPr b="1" lang="en-US" sz="2400">
                <a:solidFill>
                  <a:srgbClr val="003A70"/>
                </a:solidFill>
              </a:rPr>
              <a:t>Analisando pessoas, grupos e líderes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g3e26f490cf4_0_173"/>
          <p:cNvSpPr/>
          <p:nvPr/>
        </p:nvSpPr>
        <p:spPr>
          <a:xfrm>
            <a:off x="11475720" y="6492240"/>
            <a:ext cx="3657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72BC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0072BC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g3e26f490cf4_0_173"/>
          <p:cNvSpPr/>
          <p:nvPr/>
        </p:nvSpPr>
        <p:spPr>
          <a:xfrm>
            <a:off x="594350" y="928300"/>
            <a:ext cx="93180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3616C"/>
              </a:buClr>
              <a:buSzPts val="1260"/>
              <a:buFont typeface="Arial"/>
              <a:buNone/>
            </a:pPr>
            <a:r>
              <a:rPr b="0" i="0" lang="en-US" sz="1560" u="none" cap="none" strike="noStrike">
                <a:solidFill>
                  <a:srgbClr val="53616C"/>
                </a:solidFill>
                <a:latin typeface="Arial"/>
                <a:ea typeface="Arial"/>
                <a:cs typeface="Arial"/>
                <a:sym typeface="Arial"/>
              </a:rPr>
              <a:t>A cultura de equipe é reconhecida, mas depende de lideranças capazes de escutar, incluir e reconhecer.</a:t>
            </a:r>
            <a:endParaRPr b="0" i="0" sz="156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33" name="Google Shape;533;g3e26f490cf4_0_173"/>
          <p:cNvGrpSpPr/>
          <p:nvPr/>
        </p:nvGrpSpPr>
        <p:grpSpPr>
          <a:xfrm>
            <a:off x="590550" y="1524000"/>
            <a:ext cx="11010900" cy="3048000"/>
            <a:chOff x="590550" y="1524000"/>
            <a:chExt cx="11010900" cy="3048000"/>
          </a:xfrm>
        </p:grpSpPr>
        <p:sp>
          <p:nvSpPr>
            <p:cNvPr id="534" name="Google Shape;534;g3e26f490cf4_0_173"/>
            <p:cNvSpPr/>
            <p:nvPr/>
          </p:nvSpPr>
          <p:spPr>
            <a:xfrm>
              <a:off x="590550" y="1524000"/>
              <a:ext cx="5334000" cy="3048000"/>
            </a:xfrm>
            <a:prstGeom prst="roundRect">
              <a:avLst>
                <a:gd fmla="val 3750" name="adj"/>
              </a:avLst>
            </a:prstGeom>
            <a:solidFill>
              <a:srgbClr val="FFFFFF"/>
            </a:solidFill>
            <a:ln cap="flat" cmpd="sng" w="14300">
              <a:solidFill>
                <a:srgbClr val="00A6D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g3e26f490cf4_0_173"/>
            <p:cNvSpPr txBox="1"/>
            <p:nvPr/>
          </p:nvSpPr>
          <p:spPr>
            <a:xfrm>
              <a:off x="781050" y="1714500"/>
              <a:ext cx="4953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00A6D6"/>
                  </a:solidFill>
                  <a:latin typeface="Arial"/>
                  <a:ea typeface="Arial"/>
                  <a:cs typeface="Arial"/>
                  <a:sym typeface="Arial"/>
                </a:rPr>
                <a:t>Forças observadas</a:t>
              </a:r>
              <a:endParaRPr b="1" sz="2000">
                <a:solidFill>
                  <a:srgbClr val="00A6D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6" name="Google Shape;536;g3e26f490cf4_0_173"/>
            <p:cNvSpPr txBox="1"/>
            <p:nvPr/>
          </p:nvSpPr>
          <p:spPr>
            <a:xfrm>
              <a:off x="781050" y="2238375"/>
              <a:ext cx="4953000" cy="219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323850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003A70"/>
                </a:buClr>
                <a:buSzPts val="1500"/>
                <a:buFont typeface="Arial"/>
                <a:buChar char="●"/>
              </a:pPr>
              <a:r>
                <a:rPr lang="en-US" sz="1500">
                  <a:solidFill>
                    <a:srgbClr val="003A70"/>
                  </a:solidFill>
                  <a:latin typeface="Arial"/>
                  <a:ea typeface="Arial"/>
                  <a:cs typeface="Arial"/>
                  <a:sym typeface="Arial"/>
                </a:rPr>
                <a:t>Cooperação entre colegas e propósito compartilhado, especialmente em áreas ligadas ao impacto social.</a:t>
              </a:r>
              <a:endParaRPr sz="1500">
                <a:solidFill>
                  <a:srgbClr val="003A7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23850" lvl="0" marL="457200" rtl="0" algn="l">
                <a:spcBef>
                  <a:spcPts val="1350"/>
                </a:spcBef>
                <a:spcAft>
                  <a:spcPts val="0"/>
                </a:spcAft>
                <a:buClr>
                  <a:srgbClr val="003A70"/>
                </a:buClr>
                <a:buSzPts val="1500"/>
                <a:buFont typeface="Arial"/>
                <a:buChar char="●"/>
              </a:pPr>
              <a:r>
                <a:rPr lang="en-US" sz="1500">
                  <a:solidFill>
                    <a:srgbClr val="003A70"/>
                  </a:solidFill>
                  <a:latin typeface="Arial"/>
                  <a:ea typeface="Arial"/>
                  <a:cs typeface="Arial"/>
                  <a:sym typeface="Arial"/>
                </a:rPr>
                <a:t>Programa de Inclusão e Diversidade desde 2021, com grupos de afinidade.</a:t>
              </a:r>
              <a:endParaRPr sz="1500">
                <a:solidFill>
                  <a:srgbClr val="003A7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23850" lvl="0" marL="457200" rtl="0" algn="l">
                <a:spcBef>
                  <a:spcPts val="1350"/>
                </a:spcBef>
                <a:spcAft>
                  <a:spcPts val="0"/>
                </a:spcAft>
                <a:buClr>
                  <a:srgbClr val="003A70"/>
                </a:buClr>
                <a:buSzPts val="1500"/>
                <a:buFont typeface="Arial"/>
                <a:buChar char="●"/>
              </a:pPr>
              <a:r>
                <a:rPr lang="en-US" sz="1500">
                  <a:solidFill>
                    <a:srgbClr val="003A70"/>
                  </a:solidFill>
                  <a:latin typeface="Arial"/>
                  <a:ea typeface="Arial"/>
                  <a:cs typeface="Arial"/>
                  <a:sym typeface="Arial"/>
                </a:rPr>
                <a:t>Políticas e canais formais de ética, compliance, denúncia e diversidade.</a:t>
              </a:r>
              <a:endParaRPr sz="1500">
                <a:solidFill>
                  <a:srgbClr val="003A7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7" name="Google Shape;537;g3e26f490cf4_0_173"/>
            <p:cNvSpPr/>
            <p:nvPr/>
          </p:nvSpPr>
          <p:spPr>
            <a:xfrm>
              <a:off x="6267450" y="1524000"/>
              <a:ext cx="5334000" cy="3048000"/>
            </a:xfrm>
            <a:prstGeom prst="roundRect">
              <a:avLst>
                <a:gd fmla="val 3750" name="adj"/>
              </a:avLst>
            </a:prstGeom>
            <a:solidFill>
              <a:srgbClr val="FFFFFF"/>
            </a:solidFill>
            <a:ln cap="flat" cmpd="sng" w="14300">
              <a:solidFill>
                <a:srgbClr val="C7462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" name="Google Shape;538;g3e26f490cf4_0_173"/>
            <p:cNvSpPr txBox="1"/>
            <p:nvPr/>
          </p:nvSpPr>
          <p:spPr>
            <a:xfrm>
              <a:off x="6457950" y="1714500"/>
              <a:ext cx="4953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C7462E"/>
                  </a:solidFill>
                  <a:latin typeface="Arial"/>
                  <a:ea typeface="Arial"/>
                  <a:cs typeface="Arial"/>
                  <a:sym typeface="Arial"/>
                </a:rPr>
                <a:t>Pontos de atenção</a:t>
              </a:r>
              <a:endParaRPr b="1" sz="2000">
                <a:solidFill>
                  <a:srgbClr val="C7462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9" name="Google Shape;539;g3e26f490cf4_0_173"/>
            <p:cNvSpPr txBox="1"/>
            <p:nvPr/>
          </p:nvSpPr>
          <p:spPr>
            <a:xfrm>
              <a:off x="6457950" y="2238375"/>
              <a:ext cx="4953000" cy="219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323850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003A70"/>
                </a:buClr>
                <a:buSzPts val="1500"/>
                <a:buFont typeface="Arial"/>
                <a:buChar char="●"/>
              </a:pPr>
              <a:r>
                <a:rPr lang="en-US" sz="1500">
                  <a:solidFill>
                    <a:srgbClr val="003A70"/>
                  </a:solidFill>
                  <a:latin typeface="Arial"/>
                  <a:ea typeface="Arial"/>
                  <a:cs typeface="Arial"/>
                  <a:sym typeface="Arial"/>
                </a:rPr>
                <a:t>Glassdoor indica alta liderança com nota 3,5, sugerindo desafio de gestão e escuta.</a:t>
              </a:r>
              <a:endParaRPr sz="1500">
                <a:solidFill>
                  <a:srgbClr val="003A7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23850" lvl="0" marL="457200" rtl="0" algn="l">
                <a:spcBef>
                  <a:spcPts val="1350"/>
                </a:spcBef>
                <a:spcAft>
                  <a:spcPts val="0"/>
                </a:spcAft>
                <a:buClr>
                  <a:srgbClr val="003A70"/>
                </a:buClr>
                <a:buSzPts val="1500"/>
                <a:buFont typeface="Arial"/>
                <a:buChar char="●"/>
              </a:pPr>
              <a:r>
                <a:rPr lang="en-US" sz="1500">
                  <a:solidFill>
                    <a:srgbClr val="003A70"/>
                  </a:solidFill>
                  <a:latin typeface="Arial"/>
                  <a:ea typeface="Arial"/>
                  <a:cs typeface="Arial"/>
                  <a:sym typeface="Arial"/>
                </a:rPr>
                <a:t>Relatos de baixa escuta, exclusão ou rejeição podem fragilizar a solidariedade interna.</a:t>
              </a:r>
              <a:endParaRPr sz="1500">
                <a:solidFill>
                  <a:srgbClr val="003A7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23850" lvl="0" marL="457200" rtl="0" algn="l">
                <a:spcBef>
                  <a:spcPts val="1350"/>
                </a:spcBef>
                <a:spcAft>
                  <a:spcPts val="0"/>
                </a:spcAft>
                <a:buClr>
                  <a:srgbClr val="003A70"/>
                </a:buClr>
                <a:buSzPts val="1500"/>
                <a:buFont typeface="Arial"/>
                <a:buChar char="●"/>
              </a:pPr>
              <a:r>
                <a:rPr lang="en-US" sz="1500">
                  <a:solidFill>
                    <a:srgbClr val="003A70"/>
                  </a:solidFill>
                  <a:latin typeface="Arial"/>
                  <a:ea typeface="Arial"/>
                  <a:cs typeface="Arial"/>
                  <a:sym typeface="Arial"/>
                </a:rPr>
                <a:t>Carreira e reconhecimento precisam ser mais claros para sustentar resultado sem sobrecarga.</a:t>
              </a:r>
              <a:endParaRPr sz="1500">
                <a:solidFill>
                  <a:srgbClr val="003A7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40" name="Google Shape;540;g3e26f490cf4_0_173"/>
          <p:cNvGrpSpPr/>
          <p:nvPr/>
        </p:nvGrpSpPr>
        <p:grpSpPr>
          <a:xfrm>
            <a:off x="590550" y="4953000"/>
            <a:ext cx="11010900" cy="762000"/>
            <a:chOff x="590550" y="4953000"/>
            <a:chExt cx="11010900" cy="762000"/>
          </a:xfrm>
        </p:grpSpPr>
        <p:sp>
          <p:nvSpPr>
            <p:cNvPr id="541" name="Google Shape;541;g3e26f490cf4_0_173"/>
            <p:cNvSpPr/>
            <p:nvPr/>
          </p:nvSpPr>
          <p:spPr>
            <a:xfrm>
              <a:off x="590550" y="4953000"/>
              <a:ext cx="11010900" cy="762000"/>
            </a:xfrm>
            <a:prstGeom prst="roundRect">
              <a:avLst>
                <a:gd fmla="val 50000" name="adj"/>
              </a:avLst>
            </a:prstGeom>
            <a:solidFill>
              <a:srgbClr val="003A7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" name="Google Shape;542;g3e26f490cf4_0_173"/>
            <p:cNvSpPr txBox="1"/>
            <p:nvPr/>
          </p:nvSpPr>
          <p:spPr>
            <a:xfrm>
              <a:off x="971550" y="4953000"/>
              <a:ext cx="102489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Mensagem da cultura: excelência, ética, segurança, impacto social e uso responsável dos recursos.</a:t>
              </a:r>
              <a:endParaRPr b="1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543" name="Google Shape;543;g3e26f490cf4_0_173" title="Hospital-Sírio-Libanês-logo-removebg-preview (1).png"/>
          <p:cNvPicPr preferRelativeResize="0"/>
          <p:nvPr/>
        </p:nvPicPr>
        <p:blipFill rotWithShape="1">
          <a:blip r:embed="rId3">
            <a:alphaModFix/>
          </a:blip>
          <a:srcRect b="36159" l="21436" r="22330" t="35811"/>
          <a:stretch/>
        </p:blipFill>
        <p:spPr>
          <a:xfrm>
            <a:off x="9784075" y="292602"/>
            <a:ext cx="2057399" cy="6159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49" name="Google Shape;549;g3e590c21d2e_1_411"/>
          <p:cNvCxnSpPr/>
          <p:nvPr/>
        </p:nvCxnSpPr>
        <p:spPr>
          <a:xfrm>
            <a:off x="320040" y="182880"/>
            <a:ext cx="0" cy="6355200"/>
          </a:xfrm>
          <a:prstGeom prst="straightConnector1">
            <a:avLst/>
          </a:prstGeom>
          <a:solidFill>
            <a:srgbClr val="FFFFFF"/>
          </a:solidFill>
          <a:ln cap="flat" cmpd="sng" w="38100">
            <a:solidFill>
              <a:srgbClr val="00A6D6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550" name="Google Shape;550;g3e590c21d2e_1_411"/>
          <p:cNvPicPr preferRelativeResize="0"/>
          <p:nvPr/>
        </p:nvPicPr>
        <p:blipFill rotWithShape="1">
          <a:blip r:embed="rId4">
            <a:alphaModFix/>
          </a:blip>
          <a:srcRect b="25570" l="0" r="0" t="25566"/>
          <a:stretch/>
        </p:blipFill>
        <p:spPr>
          <a:xfrm>
            <a:off x="9784080" y="292608"/>
            <a:ext cx="2057400" cy="6159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51" name="Google Shape;551;g3e590c21d2e_1_411"/>
          <p:cNvGrpSpPr/>
          <p:nvPr/>
        </p:nvGrpSpPr>
        <p:grpSpPr>
          <a:xfrm>
            <a:off x="594360" y="292608"/>
            <a:ext cx="8869800" cy="755292"/>
            <a:chOff x="594360" y="292608"/>
            <a:chExt cx="8869800" cy="755292"/>
          </a:xfrm>
        </p:grpSpPr>
        <p:sp>
          <p:nvSpPr>
            <p:cNvPr id="552" name="Google Shape;552;g3e590c21d2e_1_411"/>
            <p:cNvSpPr txBox="1"/>
            <p:nvPr/>
          </p:nvSpPr>
          <p:spPr>
            <a:xfrm>
              <a:off x="594360" y="292608"/>
              <a:ext cx="7498200" cy="384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003A70"/>
                  </a:solidFill>
                  <a:latin typeface="Arial"/>
                  <a:ea typeface="Arial"/>
                  <a:cs typeface="Arial"/>
                  <a:sym typeface="Arial"/>
                </a:rPr>
                <a:t>Aspectos motivacionais</a:t>
              </a:r>
              <a:endParaRPr b="1" sz="2400">
                <a:solidFill>
                  <a:srgbClr val="003A7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3" name="Google Shape;553;g3e590c21d2e_1_411"/>
            <p:cNvSpPr txBox="1"/>
            <p:nvPr/>
          </p:nvSpPr>
          <p:spPr>
            <a:xfrm>
              <a:off x="594360" y="762000"/>
              <a:ext cx="8869800" cy="285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100">
                <a:solidFill>
                  <a:srgbClr val="53616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54" name="Google Shape;554;g3e590c21d2e_1_411"/>
          <p:cNvGrpSpPr/>
          <p:nvPr/>
        </p:nvGrpSpPr>
        <p:grpSpPr>
          <a:xfrm>
            <a:off x="590550" y="1333500"/>
            <a:ext cx="3524400" cy="2286000"/>
            <a:chOff x="590550" y="1333500"/>
            <a:chExt cx="3524400" cy="2286000"/>
          </a:xfrm>
        </p:grpSpPr>
        <p:sp>
          <p:nvSpPr>
            <p:cNvPr id="555" name="Google Shape;555;g3e590c21d2e_1_411"/>
            <p:cNvSpPr/>
            <p:nvPr/>
          </p:nvSpPr>
          <p:spPr>
            <a:xfrm>
              <a:off x="590550" y="1333500"/>
              <a:ext cx="3524400" cy="2286000"/>
            </a:xfrm>
            <a:prstGeom prst="roundRect">
              <a:avLst>
                <a:gd fmla="val 5000" name="adj"/>
              </a:avLst>
            </a:prstGeom>
            <a:solidFill>
              <a:srgbClr val="FFFFFF"/>
            </a:solidFill>
            <a:ln cap="flat" cmpd="sng" w="9525">
              <a:solidFill>
                <a:srgbClr val="DDEAF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556" name="Google Shape;556;g3e590c21d2e_1_41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62000" y="1524000"/>
              <a:ext cx="333300" cy="333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7" name="Google Shape;557;g3e590c21d2e_1_411"/>
            <p:cNvSpPr txBox="1"/>
            <p:nvPr/>
          </p:nvSpPr>
          <p:spPr>
            <a:xfrm>
              <a:off x="1190625" y="1495425"/>
              <a:ext cx="2667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14304A"/>
                  </a:solidFill>
                  <a:latin typeface="Arial"/>
                  <a:ea typeface="Arial"/>
                  <a:cs typeface="Arial"/>
                  <a:sym typeface="Arial"/>
                </a:rPr>
                <a:t>Salários</a:t>
              </a:r>
              <a:endParaRPr b="1" sz="1400">
                <a:solidFill>
                  <a:srgbClr val="14304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8" name="Google Shape;558;g3e590c21d2e_1_411"/>
            <p:cNvSpPr txBox="1"/>
            <p:nvPr/>
          </p:nvSpPr>
          <p:spPr>
            <a:xfrm>
              <a:off x="762000" y="2000250"/>
              <a:ext cx="3143400" cy="1428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>
                  <a:solidFill>
                    <a:srgbClr val="1F2933"/>
                  </a:solidFill>
                  <a:latin typeface="Arial"/>
                  <a:ea typeface="Arial"/>
                  <a:cs typeface="Arial"/>
                  <a:sym typeface="Arial"/>
                </a:rPr>
                <a:t>Competitivos no ingresso para alguns cargos, mas vistos como abaixo do mercado/piso e da carga em outros (nota 3,6 em remuneração).</a:t>
              </a:r>
              <a:endParaRPr b="0" i="0" sz="1800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59" name="Google Shape;559;g3e590c21d2e_1_411"/>
          <p:cNvGrpSpPr/>
          <p:nvPr/>
        </p:nvGrpSpPr>
        <p:grpSpPr>
          <a:xfrm>
            <a:off x="4333875" y="1333500"/>
            <a:ext cx="3524400" cy="2286000"/>
            <a:chOff x="4333875" y="1333500"/>
            <a:chExt cx="3524400" cy="2286000"/>
          </a:xfrm>
        </p:grpSpPr>
        <p:sp>
          <p:nvSpPr>
            <p:cNvPr id="560" name="Google Shape;560;g3e590c21d2e_1_411"/>
            <p:cNvSpPr/>
            <p:nvPr/>
          </p:nvSpPr>
          <p:spPr>
            <a:xfrm>
              <a:off x="4333875" y="1333500"/>
              <a:ext cx="3524400" cy="2286000"/>
            </a:xfrm>
            <a:prstGeom prst="roundRect">
              <a:avLst>
                <a:gd fmla="val 5000" name="adj"/>
              </a:avLst>
            </a:prstGeom>
            <a:solidFill>
              <a:srgbClr val="FFFFFF"/>
            </a:solidFill>
            <a:ln cap="flat" cmpd="sng" w="9525">
              <a:solidFill>
                <a:srgbClr val="DDEAF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561" name="Google Shape;561;g3e590c21d2e_1_41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505325" y="1524000"/>
              <a:ext cx="333300" cy="333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2" name="Google Shape;562;g3e590c21d2e_1_411"/>
            <p:cNvSpPr txBox="1"/>
            <p:nvPr/>
          </p:nvSpPr>
          <p:spPr>
            <a:xfrm>
              <a:off x="4933950" y="1495425"/>
              <a:ext cx="2667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14304A"/>
                  </a:solidFill>
                  <a:latin typeface="Arial"/>
                  <a:ea typeface="Arial"/>
                  <a:cs typeface="Arial"/>
                  <a:sym typeface="Arial"/>
                </a:rPr>
                <a:t>Benefícios</a:t>
              </a:r>
              <a:endParaRPr b="1" sz="1400">
                <a:solidFill>
                  <a:srgbClr val="14304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3" name="Google Shape;563;g3e590c21d2e_1_411"/>
            <p:cNvSpPr txBox="1"/>
            <p:nvPr/>
          </p:nvSpPr>
          <p:spPr>
            <a:xfrm>
              <a:off x="4505325" y="2000250"/>
              <a:ext cx="3143400" cy="1428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>
                  <a:solidFill>
                    <a:srgbClr val="1F2933"/>
                  </a:solidFill>
                  <a:latin typeface="Arial"/>
                  <a:ea typeface="Arial"/>
                  <a:cs typeface="Arial"/>
                  <a:sym typeface="Arial"/>
                </a:rPr>
                <a:t>VR/VA, convênio, restaurante, creche, ambulatório do colaborador, shiatsu/reflexologia, uniformes.</a:t>
              </a:r>
              <a:endParaRPr b="0" i="0" sz="1800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64" name="Google Shape;564;g3e590c21d2e_1_411"/>
          <p:cNvGrpSpPr/>
          <p:nvPr/>
        </p:nvGrpSpPr>
        <p:grpSpPr>
          <a:xfrm>
            <a:off x="8077200" y="1333500"/>
            <a:ext cx="3524400" cy="2286000"/>
            <a:chOff x="8077200" y="1333500"/>
            <a:chExt cx="3524400" cy="2286000"/>
          </a:xfrm>
        </p:grpSpPr>
        <p:sp>
          <p:nvSpPr>
            <p:cNvPr id="565" name="Google Shape;565;g3e590c21d2e_1_411"/>
            <p:cNvSpPr/>
            <p:nvPr/>
          </p:nvSpPr>
          <p:spPr>
            <a:xfrm>
              <a:off x="8077200" y="1333500"/>
              <a:ext cx="3524400" cy="2286000"/>
            </a:xfrm>
            <a:prstGeom prst="roundRect">
              <a:avLst>
                <a:gd fmla="val 5000" name="adj"/>
              </a:avLst>
            </a:prstGeom>
            <a:solidFill>
              <a:srgbClr val="FFFFFF"/>
            </a:solidFill>
            <a:ln cap="flat" cmpd="sng" w="9525">
              <a:solidFill>
                <a:srgbClr val="DDEAF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566" name="Google Shape;566;g3e590c21d2e_1_41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8248650" y="1524000"/>
              <a:ext cx="333300" cy="333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7" name="Google Shape;567;g3e590c21d2e_1_411"/>
            <p:cNvSpPr txBox="1"/>
            <p:nvPr/>
          </p:nvSpPr>
          <p:spPr>
            <a:xfrm>
              <a:off x="8677275" y="1495425"/>
              <a:ext cx="2667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14304A"/>
                  </a:solidFill>
                  <a:latin typeface="Arial"/>
                  <a:ea typeface="Arial"/>
                  <a:cs typeface="Arial"/>
                  <a:sym typeface="Arial"/>
                </a:rPr>
                <a:t>Carreira e desenvolvimento</a:t>
              </a:r>
              <a:endParaRPr b="1" sz="1400">
                <a:solidFill>
                  <a:srgbClr val="14304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8" name="Google Shape;568;g3e590c21d2e_1_411"/>
            <p:cNvSpPr txBox="1"/>
            <p:nvPr/>
          </p:nvSpPr>
          <p:spPr>
            <a:xfrm>
              <a:off x="8248650" y="2000250"/>
              <a:ext cx="3143400" cy="1428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>
                  <a:solidFill>
                    <a:srgbClr val="1F2933"/>
                  </a:solidFill>
                  <a:latin typeface="Arial"/>
                  <a:ea typeface="Arial"/>
                  <a:cs typeface="Arial"/>
                  <a:sym typeface="Arial"/>
                </a:rPr>
                <a:t>Plano com níveis Jr/Pl/Sr e amplo estímulo a aprender (cursos, pós, residências). Promoção interna percebida como lenta.</a:t>
              </a:r>
              <a:endParaRPr b="0" i="0" sz="1800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69" name="Google Shape;569;g3e590c21d2e_1_411"/>
          <p:cNvGrpSpPr/>
          <p:nvPr/>
        </p:nvGrpSpPr>
        <p:grpSpPr>
          <a:xfrm>
            <a:off x="590550" y="3857625"/>
            <a:ext cx="3524400" cy="2286000"/>
            <a:chOff x="590550" y="3857625"/>
            <a:chExt cx="3524400" cy="2286000"/>
          </a:xfrm>
        </p:grpSpPr>
        <p:sp>
          <p:nvSpPr>
            <p:cNvPr id="570" name="Google Shape;570;g3e590c21d2e_1_411"/>
            <p:cNvSpPr/>
            <p:nvPr/>
          </p:nvSpPr>
          <p:spPr>
            <a:xfrm>
              <a:off x="590550" y="3857625"/>
              <a:ext cx="3524400" cy="2286000"/>
            </a:xfrm>
            <a:prstGeom prst="roundRect">
              <a:avLst>
                <a:gd fmla="val 5000" name="adj"/>
              </a:avLst>
            </a:prstGeom>
            <a:solidFill>
              <a:srgbClr val="FFFFFF"/>
            </a:solidFill>
            <a:ln cap="flat" cmpd="sng" w="9525">
              <a:solidFill>
                <a:srgbClr val="DDEAF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571" name="Google Shape;571;g3e590c21d2e_1_411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762000" y="4048125"/>
              <a:ext cx="333300" cy="333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2" name="Google Shape;572;g3e590c21d2e_1_411"/>
            <p:cNvSpPr txBox="1"/>
            <p:nvPr/>
          </p:nvSpPr>
          <p:spPr>
            <a:xfrm>
              <a:off x="1190625" y="4019550"/>
              <a:ext cx="2667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14304A"/>
                  </a:solidFill>
                  <a:latin typeface="Arial"/>
                  <a:ea typeface="Arial"/>
                  <a:cs typeface="Arial"/>
                  <a:sym typeface="Arial"/>
                </a:rPr>
                <a:t>Absenteísmo e rotatividade</a:t>
              </a:r>
              <a:endParaRPr b="1" sz="1400">
                <a:solidFill>
                  <a:srgbClr val="14304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3" name="Google Shape;573;g3e590c21d2e_1_411"/>
            <p:cNvSpPr txBox="1"/>
            <p:nvPr/>
          </p:nvSpPr>
          <p:spPr>
            <a:xfrm>
              <a:off x="762000" y="4524375"/>
              <a:ext cx="3143400" cy="1428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>
                  <a:solidFill>
                    <a:srgbClr val="1F2933"/>
                  </a:solidFill>
                  <a:latin typeface="Arial"/>
                  <a:ea typeface="Arial"/>
                  <a:cs typeface="Arial"/>
                  <a:sym typeface="Arial"/>
                </a:rPr>
                <a:t>Pressão e escalas (6x1, feriados) elevam o risco de desgaste; benefícios e bem-estar atuam como fatores de retenção.</a:t>
              </a:r>
              <a:endParaRPr b="0" i="0" sz="1800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74" name="Google Shape;574;g3e590c21d2e_1_411"/>
          <p:cNvGrpSpPr/>
          <p:nvPr/>
        </p:nvGrpSpPr>
        <p:grpSpPr>
          <a:xfrm>
            <a:off x="4333875" y="3857625"/>
            <a:ext cx="3524400" cy="2286000"/>
            <a:chOff x="4333875" y="3857625"/>
            <a:chExt cx="3524400" cy="2286000"/>
          </a:xfrm>
        </p:grpSpPr>
        <p:sp>
          <p:nvSpPr>
            <p:cNvPr id="575" name="Google Shape;575;g3e590c21d2e_1_411"/>
            <p:cNvSpPr/>
            <p:nvPr/>
          </p:nvSpPr>
          <p:spPr>
            <a:xfrm>
              <a:off x="4333875" y="3857625"/>
              <a:ext cx="3524400" cy="2286000"/>
            </a:xfrm>
            <a:prstGeom prst="roundRect">
              <a:avLst>
                <a:gd fmla="val 5000" name="adj"/>
              </a:avLst>
            </a:prstGeom>
            <a:solidFill>
              <a:srgbClr val="FFFFFF"/>
            </a:solidFill>
            <a:ln cap="flat" cmpd="sng" w="9525">
              <a:solidFill>
                <a:srgbClr val="DDEAF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576" name="Google Shape;576;g3e590c21d2e_1_411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4505325" y="4048125"/>
              <a:ext cx="333300" cy="333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7" name="Google Shape;577;g3e590c21d2e_1_411"/>
            <p:cNvSpPr txBox="1"/>
            <p:nvPr/>
          </p:nvSpPr>
          <p:spPr>
            <a:xfrm>
              <a:off x="4933950" y="4019550"/>
              <a:ext cx="2667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14304A"/>
                  </a:solidFill>
                  <a:latin typeface="Arial"/>
                  <a:ea typeface="Arial"/>
                  <a:cs typeface="Arial"/>
                  <a:sym typeface="Arial"/>
                </a:rPr>
                <a:t>Reconhecimento</a:t>
              </a:r>
              <a:endParaRPr b="1" sz="1400">
                <a:solidFill>
                  <a:srgbClr val="14304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8" name="Google Shape;578;g3e590c21d2e_1_411"/>
            <p:cNvSpPr txBox="1"/>
            <p:nvPr/>
          </p:nvSpPr>
          <p:spPr>
            <a:xfrm>
              <a:off x="4505325" y="4524375"/>
              <a:ext cx="3143400" cy="1428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>
                  <a:solidFill>
                    <a:srgbClr val="1F2933"/>
                  </a:solidFill>
                  <a:latin typeface="Arial"/>
                  <a:ea typeface="Arial"/>
                  <a:cs typeface="Arial"/>
                  <a:sym typeface="Arial"/>
                </a:rPr>
                <a:t>Ocorre por promoção, elogios e ações de valorização; colaboradores pedem mais mérito e menos tempo de casa como critério.</a:t>
              </a:r>
              <a:endParaRPr b="0" i="0" sz="1800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79" name="Google Shape;579;g3e590c21d2e_1_411"/>
          <p:cNvGrpSpPr/>
          <p:nvPr/>
        </p:nvGrpSpPr>
        <p:grpSpPr>
          <a:xfrm>
            <a:off x="8077200" y="3857625"/>
            <a:ext cx="3524400" cy="2286000"/>
            <a:chOff x="8077200" y="3857625"/>
            <a:chExt cx="3524400" cy="2286000"/>
          </a:xfrm>
        </p:grpSpPr>
        <p:sp>
          <p:nvSpPr>
            <p:cNvPr id="580" name="Google Shape;580;g3e590c21d2e_1_411"/>
            <p:cNvSpPr/>
            <p:nvPr/>
          </p:nvSpPr>
          <p:spPr>
            <a:xfrm>
              <a:off x="8077200" y="3857625"/>
              <a:ext cx="3524400" cy="2286000"/>
            </a:xfrm>
            <a:prstGeom prst="roundRect">
              <a:avLst>
                <a:gd fmla="val 5000" name="adj"/>
              </a:avLst>
            </a:prstGeom>
            <a:solidFill>
              <a:srgbClr val="FFFFFF"/>
            </a:solidFill>
            <a:ln cap="flat" cmpd="sng" w="9525">
              <a:solidFill>
                <a:srgbClr val="DDEAF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581" name="Google Shape;581;g3e590c21d2e_1_411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8248650" y="4048125"/>
              <a:ext cx="333300" cy="333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g3e590c21d2e_1_411"/>
            <p:cNvSpPr txBox="1"/>
            <p:nvPr/>
          </p:nvSpPr>
          <p:spPr>
            <a:xfrm>
              <a:off x="8677275" y="4019550"/>
              <a:ext cx="2667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14304A"/>
                  </a:solidFill>
                  <a:latin typeface="Arial"/>
                  <a:ea typeface="Arial"/>
                  <a:cs typeface="Arial"/>
                  <a:sym typeface="Arial"/>
                </a:rPr>
                <a:t>Estímulo ao crescimento</a:t>
              </a:r>
              <a:endParaRPr b="1" sz="1400">
                <a:solidFill>
                  <a:srgbClr val="14304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3" name="Google Shape;583;g3e590c21d2e_1_411"/>
            <p:cNvSpPr txBox="1"/>
            <p:nvPr/>
          </p:nvSpPr>
          <p:spPr>
            <a:xfrm>
              <a:off x="8248650" y="4524375"/>
              <a:ext cx="3143400" cy="1428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00">
                  <a:solidFill>
                    <a:srgbClr val="1F2933"/>
                  </a:solidFill>
                  <a:latin typeface="Arial"/>
                  <a:ea typeface="Arial"/>
                  <a:cs typeface="Arial"/>
                  <a:sym typeface="Arial"/>
                </a:rPr>
                <a:t>Cultura de ensino e pesquisa incentiva qualificação contínua e mobilidade entre áreas.</a:t>
              </a:r>
              <a:endParaRPr b="0" i="0" sz="1800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AFD"/>
        </a:solidFill>
      </p:bgPr>
    </p:bg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89" name="Google Shape;589;p6"/>
          <p:cNvCxnSpPr/>
          <p:nvPr/>
        </p:nvCxnSpPr>
        <p:spPr>
          <a:xfrm>
            <a:off x="320040" y="182880"/>
            <a:ext cx="0" cy="6355200"/>
          </a:xfrm>
          <a:prstGeom prst="straightConnector1">
            <a:avLst/>
          </a:prstGeom>
          <a:noFill/>
          <a:ln cap="flat" cmpd="sng" w="38100">
            <a:solidFill>
              <a:srgbClr val="00A6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90" name="Google Shape;590;p6"/>
          <p:cNvSpPr/>
          <p:nvPr/>
        </p:nvSpPr>
        <p:spPr>
          <a:xfrm>
            <a:off x="590550" y="1190625"/>
            <a:ext cx="2667000" cy="4429200"/>
          </a:xfrm>
          <a:prstGeom prst="roundRect">
            <a:avLst>
              <a:gd fmla="val 4285" name="adj"/>
            </a:avLst>
          </a:prstGeom>
          <a:solidFill>
            <a:srgbClr val="FFFFFF"/>
          </a:solidFill>
          <a:ln cap="flat" cmpd="sng" w="9525">
            <a:solidFill>
              <a:srgbClr val="DDEA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6"/>
          <p:cNvSpPr/>
          <p:nvPr/>
        </p:nvSpPr>
        <p:spPr>
          <a:xfrm>
            <a:off x="594360" y="292608"/>
            <a:ext cx="7498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A70"/>
              </a:buClr>
              <a:buSzPts val="2200"/>
              <a:buFont typeface="Arial"/>
              <a:buNone/>
            </a:pPr>
            <a:r>
              <a:rPr b="1" lang="en-US" sz="2200">
                <a:solidFill>
                  <a:srgbClr val="003A70"/>
                </a:solidFill>
              </a:rPr>
              <a:t>P</a:t>
            </a:r>
            <a:r>
              <a:rPr b="1" i="0" lang="en-US" sz="2200" u="none" cap="none" strike="noStrike">
                <a:solidFill>
                  <a:srgbClr val="003A70"/>
                </a:solidFill>
                <a:latin typeface="Arial"/>
                <a:ea typeface="Arial"/>
                <a:cs typeface="Arial"/>
                <a:sym typeface="Arial"/>
              </a:rPr>
              <a:t>ercepção dos colaboradores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p6"/>
          <p:cNvSpPr/>
          <p:nvPr/>
        </p:nvSpPr>
        <p:spPr>
          <a:xfrm>
            <a:off x="781050" y="1381125"/>
            <a:ext cx="22860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03A70"/>
                </a:solidFill>
                <a:latin typeface="Arial"/>
                <a:ea typeface="Arial"/>
                <a:cs typeface="Arial"/>
                <a:sym typeface="Arial"/>
              </a:rPr>
              <a:t>Avaliação geral</a:t>
            </a:r>
            <a:endParaRPr b="1" sz="1400">
              <a:solidFill>
                <a:srgbClr val="003A7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p6"/>
          <p:cNvSpPr/>
          <p:nvPr/>
        </p:nvSpPr>
        <p:spPr>
          <a:xfrm>
            <a:off x="781050" y="1714500"/>
            <a:ext cx="2286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rgbClr val="0072BC"/>
                </a:solidFill>
                <a:latin typeface="Arial"/>
                <a:ea typeface="Arial"/>
                <a:cs typeface="Arial"/>
                <a:sym typeface="Arial"/>
              </a:rPr>
              <a:t>4,1/5</a:t>
            </a:r>
            <a:endParaRPr b="1" sz="4800">
              <a:solidFill>
                <a:srgbClr val="0072B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" name="Google Shape;594;p6"/>
          <p:cNvSpPr/>
          <p:nvPr/>
        </p:nvSpPr>
        <p:spPr>
          <a:xfrm>
            <a:off x="781050" y="2571750"/>
            <a:ext cx="2286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03A70"/>
                </a:solidFill>
                <a:latin typeface="Arial"/>
                <a:ea typeface="Arial"/>
                <a:cs typeface="Arial"/>
                <a:sym typeface="Arial"/>
              </a:rPr>
              <a:t>79% recomendam</a:t>
            </a:r>
            <a:endParaRPr b="1" sz="1300">
              <a:solidFill>
                <a:srgbClr val="003A7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375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526B7A"/>
                </a:solidFill>
                <a:latin typeface="Arial"/>
                <a:ea typeface="Arial"/>
                <a:cs typeface="Arial"/>
                <a:sym typeface="Arial"/>
              </a:rPr>
              <a:t>67% perspectiva positiva</a:t>
            </a:r>
            <a:endParaRPr b="0" sz="1300">
              <a:solidFill>
                <a:srgbClr val="526B7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95" name="Google Shape;595;p6"/>
          <p:cNvCxnSpPr/>
          <p:nvPr/>
        </p:nvCxnSpPr>
        <p:spPr>
          <a:xfrm>
            <a:off x="971550" y="3333750"/>
            <a:ext cx="19050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DDEAF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96" name="Google Shape;596;p6"/>
          <p:cNvSpPr/>
          <p:nvPr/>
        </p:nvSpPr>
        <p:spPr>
          <a:xfrm>
            <a:off x="781050" y="3524250"/>
            <a:ext cx="2286000" cy="1428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95250" lIns="95250" spcFirstLastPara="1" rIns="95250" wrap="square" tIns="95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50">
                <a:solidFill>
                  <a:srgbClr val="526B7A"/>
                </a:solidFill>
                <a:latin typeface="Arial"/>
                <a:ea typeface="Arial"/>
                <a:cs typeface="Arial"/>
                <a:sym typeface="Arial"/>
              </a:rPr>
              <a:t>Observação: Glassdoor é uma fonte de percepção, com avaliações espontâneas e possível viés de seleção.</a:t>
            </a:r>
            <a:endParaRPr b="0" sz="950">
              <a:solidFill>
                <a:srgbClr val="526B7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p6"/>
          <p:cNvSpPr/>
          <p:nvPr/>
        </p:nvSpPr>
        <p:spPr>
          <a:xfrm>
            <a:off x="3619500" y="1276350"/>
            <a:ext cx="28575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03A70"/>
                </a:solidFill>
                <a:latin typeface="Arial"/>
                <a:ea typeface="Arial"/>
                <a:cs typeface="Arial"/>
                <a:sym typeface="Arial"/>
              </a:rPr>
              <a:t>Dimensões avaliadas</a:t>
            </a:r>
            <a:endParaRPr b="1" sz="1400">
              <a:solidFill>
                <a:srgbClr val="003A7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p6"/>
          <p:cNvSpPr/>
          <p:nvPr/>
        </p:nvSpPr>
        <p:spPr>
          <a:xfrm>
            <a:off x="3619500" y="1809750"/>
            <a:ext cx="1905000" cy="238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003A70"/>
                </a:solidFill>
                <a:latin typeface="Arial"/>
                <a:ea typeface="Arial"/>
                <a:cs typeface="Arial"/>
                <a:sym typeface="Arial"/>
              </a:rPr>
              <a:t>Diversidade e inclusão</a:t>
            </a:r>
            <a:endParaRPr b="0" sz="1100">
              <a:solidFill>
                <a:srgbClr val="003A7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99" name="Google Shape;599;p6"/>
          <p:cNvGrpSpPr/>
          <p:nvPr/>
        </p:nvGrpSpPr>
        <p:grpSpPr>
          <a:xfrm>
            <a:off x="5715000" y="1857375"/>
            <a:ext cx="2857500" cy="114300"/>
            <a:chOff x="5715000" y="1857375"/>
            <a:chExt cx="2857500" cy="114300"/>
          </a:xfrm>
        </p:grpSpPr>
        <p:sp>
          <p:nvSpPr>
            <p:cNvPr id="600" name="Google Shape;600;p6"/>
            <p:cNvSpPr/>
            <p:nvPr/>
          </p:nvSpPr>
          <p:spPr>
            <a:xfrm>
              <a:off x="5715000" y="1857375"/>
              <a:ext cx="2857500" cy="114300"/>
            </a:xfrm>
            <a:prstGeom prst="roundRect">
              <a:avLst>
                <a:gd fmla="val 50000" name="adj"/>
              </a:avLst>
            </a:prstGeom>
            <a:solidFill>
              <a:srgbClr val="DDEAF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" name="Google Shape;601;p6"/>
            <p:cNvSpPr/>
            <p:nvPr/>
          </p:nvSpPr>
          <p:spPr>
            <a:xfrm>
              <a:off x="5715000" y="1857375"/>
              <a:ext cx="2400300" cy="114300"/>
            </a:xfrm>
            <a:prstGeom prst="roundRect">
              <a:avLst>
                <a:gd fmla="val 50000" name="adj"/>
              </a:avLst>
            </a:prstGeom>
            <a:solidFill>
              <a:srgbClr val="00A6D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2" name="Google Shape;602;p6"/>
          <p:cNvSpPr/>
          <p:nvPr/>
        </p:nvSpPr>
        <p:spPr>
          <a:xfrm>
            <a:off x="8667750" y="1809750"/>
            <a:ext cx="476400" cy="238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526B7A"/>
                </a:solidFill>
                <a:latin typeface="Arial"/>
                <a:ea typeface="Arial"/>
                <a:cs typeface="Arial"/>
                <a:sym typeface="Arial"/>
              </a:rPr>
              <a:t>4,2</a:t>
            </a:r>
            <a:endParaRPr b="1" sz="1100">
              <a:solidFill>
                <a:srgbClr val="526B7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" name="Google Shape;603;p6"/>
          <p:cNvSpPr/>
          <p:nvPr/>
        </p:nvSpPr>
        <p:spPr>
          <a:xfrm>
            <a:off x="3619500" y="2381250"/>
            <a:ext cx="1905000" cy="238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003A70"/>
                </a:solidFill>
                <a:latin typeface="Arial"/>
                <a:ea typeface="Arial"/>
                <a:cs typeface="Arial"/>
                <a:sym typeface="Arial"/>
              </a:rPr>
              <a:t>Cultura e valores</a:t>
            </a:r>
            <a:endParaRPr b="0" sz="1100">
              <a:solidFill>
                <a:srgbClr val="003A7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04" name="Google Shape;604;p6"/>
          <p:cNvGrpSpPr/>
          <p:nvPr/>
        </p:nvGrpSpPr>
        <p:grpSpPr>
          <a:xfrm>
            <a:off x="5715000" y="2428875"/>
            <a:ext cx="2857500" cy="114300"/>
            <a:chOff x="5715000" y="2428875"/>
            <a:chExt cx="2857500" cy="114300"/>
          </a:xfrm>
        </p:grpSpPr>
        <p:sp>
          <p:nvSpPr>
            <p:cNvPr id="605" name="Google Shape;605;p6"/>
            <p:cNvSpPr/>
            <p:nvPr/>
          </p:nvSpPr>
          <p:spPr>
            <a:xfrm>
              <a:off x="5715000" y="2428875"/>
              <a:ext cx="2857500" cy="114300"/>
            </a:xfrm>
            <a:prstGeom prst="roundRect">
              <a:avLst>
                <a:gd fmla="val 50000" name="adj"/>
              </a:avLst>
            </a:prstGeom>
            <a:solidFill>
              <a:srgbClr val="DDEAF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" name="Google Shape;606;p6"/>
            <p:cNvSpPr/>
            <p:nvPr/>
          </p:nvSpPr>
          <p:spPr>
            <a:xfrm>
              <a:off x="5715000" y="2428875"/>
              <a:ext cx="2229000" cy="114300"/>
            </a:xfrm>
            <a:prstGeom prst="roundRect">
              <a:avLst>
                <a:gd fmla="val 50000" name="adj"/>
              </a:avLst>
            </a:prstGeom>
            <a:solidFill>
              <a:srgbClr val="0072B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7" name="Google Shape;607;p6"/>
          <p:cNvSpPr/>
          <p:nvPr/>
        </p:nvSpPr>
        <p:spPr>
          <a:xfrm>
            <a:off x="8667750" y="2381250"/>
            <a:ext cx="476400" cy="238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526B7A"/>
                </a:solidFill>
                <a:latin typeface="Arial"/>
                <a:ea typeface="Arial"/>
                <a:cs typeface="Arial"/>
                <a:sym typeface="Arial"/>
              </a:rPr>
              <a:t>3,9</a:t>
            </a:r>
            <a:endParaRPr b="1" sz="1100">
              <a:solidFill>
                <a:srgbClr val="526B7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p6"/>
          <p:cNvSpPr/>
          <p:nvPr/>
        </p:nvSpPr>
        <p:spPr>
          <a:xfrm>
            <a:off x="3619500" y="2952750"/>
            <a:ext cx="1905000" cy="238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003A70"/>
                </a:solidFill>
                <a:latin typeface="Arial"/>
                <a:ea typeface="Arial"/>
                <a:cs typeface="Arial"/>
                <a:sym typeface="Arial"/>
              </a:rPr>
              <a:t>Carreira</a:t>
            </a:r>
            <a:endParaRPr b="0" sz="1100">
              <a:solidFill>
                <a:srgbClr val="003A7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09" name="Google Shape;609;p6"/>
          <p:cNvGrpSpPr/>
          <p:nvPr/>
        </p:nvGrpSpPr>
        <p:grpSpPr>
          <a:xfrm>
            <a:off x="5715000" y="3000375"/>
            <a:ext cx="2857500" cy="114300"/>
            <a:chOff x="5715000" y="3000375"/>
            <a:chExt cx="2857500" cy="114300"/>
          </a:xfrm>
        </p:grpSpPr>
        <p:sp>
          <p:nvSpPr>
            <p:cNvPr id="610" name="Google Shape;610;p6"/>
            <p:cNvSpPr/>
            <p:nvPr/>
          </p:nvSpPr>
          <p:spPr>
            <a:xfrm>
              <a:off x="5715000" y="3000375"/>
              <a:ext cx="2857500" cy="114300"/>
            </a:xfrm>
            <a:prstGeom prst="roundRect">
              <a:avLst>
                <a:gd fmla="val 50000" name="adj"/>
              </a:avLst>
            </a:prstGeom>
            <a:solidFill>
              <a:srgbClr val="DDEAF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" name="Google Shape;611;p6"/>
            <p:cNvSpPr/>
            <p:nvPr/>
          </p:nvSpPr>
          <p:spPr>
            <a:xfrm>
              <a:off x="5715000" y="3000375"/>
              <a:ext cx="2057400" cy="114300"/>
            </a:xfrm>
            <a:prstGeom prst="roundRect">
              <a:avLst>
                <a:gd fmla="val 50000" name="adj"/>
              </a:avLst>
            </a:prstGeom>
            <a:solidFill>
              <a:srgbClr val="68BFE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12" name="Google Shape;612;p6"/>
          <p:cNvSpPr/>
          <p:nvPr/>
        </p:nvSpPr>
        <p:spPr>
          <a:xfrm>
            <a:off x="8667750" y="2952750"/>
            <a:ext cx="476400" cy="238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526B7A"/>
                </a:solidFill>
                <a:latin typeface="Arial"/>
                <a:ea typeface="Arial"/>
                <a:cs typeface="Arial"/>
                <a:sym typeface="Arial"/>
              </a:rPr>
              <a:t>3,6</a:t>
            </a:r>
            <a:endParaRPr b="1" sz="1100">
              <a:solidFill>
                <a:srgbClr val="526B7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p6"/>
          <p:cNvSpPr/>
          <p:nvPr/>
        </p:nvSpPr>
        <p:spPr>
          <a:xfrm>
            <a:off x="3619500" y="3524250"/>
            <a:ext cx="1905000" cy="238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003A70"/>
                </a:solidFill>
                <a:latin typeface="Arial"/>
                <a:ea typeface="Arial"/>
                <a:cs typeface="Arial"/>
                <a:sym typeface="Arial"/>
              </a:rPr>
              <a:t>Alta liderança</a:t>
            </a:r>
            <a:endParaRPr b="0" sz="1100">
              <a:solidFill>
                <a:srgbClr val="003A7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14" name="Google Shape;614;p6"/>
          <p:cNvGrpSpPr/>
          <p:nvPr/>
        </p:nvGrpSpPr>
        <p:grpSpPr>
          <a:xfrm>
            <a:off x="5715000" y="3571875"/>
            <a:ext cx="2857500" cy="114300"/>
            <a:chOff x="5715000" y="3571875"/>
            <a:chExt cx="2857500" cy="114300"/>
          </a:xfrm>
        </p:grpSpPr>
        <p:sp>
          <p:nvSpPr>
            <p:cNvPr id="615" name="Google Shape;615;p6"/>
            <p:cNvSpPr/>
            <p:nvPr/>
          </p:nvSpPr>
          <p:spPr>
            <a:xfrm>
              <a:off x="5715000" y="3571875"/>
              <a:ext cx="2857500" cy="114300"/>
            </a:xfrm>
            <a:prstGeom prst="roundRect">
              <a:avLst>
                <a:gd fmla="val 50000" name="adj"/>
              </a:avLst>
            </a:prstGeom>
            <a:solidFill>
              <a:srgbClr val="DDEAF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" name="Google Shape;616;p6"/>
            <p:cNvSpPr/>
            <p:nvPr/>
          </p:nvSpPr>
          <p:spPr>
            <a:xfrm>
              <a:off x="5715000" y="3571875"/>
              <a:ext cx="2000100" cy="114300"/>
            </a:xfrm>
            <a:prstGeom prst="roundRect">
              <a:avLst>
                <a:gd fmla="val 50000" name="adj"/>
              </a:avLst>
            </a:prstGeom>
            <a:solidFill>
              <a:srgbClr val="006AA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17" name="Google Shape;617;p6"/>
          <p:cNvSpPr/>
          <p:nvPr/>
        </p:nvSpPr>
        <p:spPr>
          <a:xfrm>
            <a:off x="8667750" y="3524250"/>
            <a:ext cx="476400" cy="238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526B7A"/>
                </a:solidFill>
                <a:latin typeface="Arial"/>
                <a:ea typeface="Arial"/>
                <a:cs typeface="Arial"/>
                <a:sym typeface="Arial"/>
              </a:rPr>
              <a:t>3,5</a:t>
            </a:r>
            <a:endParaRPr b="1" sz="1100">
              <a:solidFill>
                <a:srgbClr val="526B7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p6"/>
          <p:cNvSpPr/>
          <p:nvPr/>
        </p:nvSpPr>
        <p:spPr>
          <a:xfrm>
            <a:off x="3619500" y="4095750"/>
            <a:ext cx="1905000" cy="238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003A70"/>
                </a:solidFill>
                <a:latin typeface="Arial"/>
                <a:ea typeface="Arial"/>
                <a:cs typeface="Arial"/>
                <a:sym typeface="Arial"/>
              </a:rPr>
              <a:t>Qualidade de vida</a:t>
            </a:r>
            <a:endParaRPr b="0" sz="1100">
              <a:solidFill>
                <a:srgbClr val="003A7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19" name="Google Shape;619;p6"/>
          <p:cNvGrpSpPr/>
          <p:nvPr/>
        </p:nvGrpSpPr>
        <p:grpSpPr>
          <a:xfrm>
            <a:off x="5715000" y="4143375"/>
            <a:ext cx="2857500" cy="114300"/>
            <a:chOff x="5715000" y="4143375"/>
            <a:chExt cx="2857500" cy="114300"/>
          </a:xfrm>
        </p:grpSpPr>
        <p:sp>
          <p:nvSpPr>
            <p:cNvPr id="620" name="Google Shape;620;p6"/>
            <p:cNvSpPr/>
            <p:nvPr/>
          </p:nvSpPr>
          <p:spPr>
            <a:xfrm>
              <a:off x="5715000" y="4143375"/>
              <a:ext cx="2857500" cy="114300"/>
            </a:xfrm>
            <a:prstGeom prst="roundRect">
              <a:avLst>
                <a:gd fmla="val 50000" name="adj"/>
              </a:avLst>
            </a:prstGeom>
            <a:solidFill>
              <a:srgbClr val="DDEAF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1" name="Google Shape;621;p6"/>
            <p:cNvSpPr/>
            <p:nvPr/>
          </p:nvSpPr>
          <p:spPr>
            <a:xfrm>
              <a:off x="5715000" y="4143375"/>
              <a:ext cx="2000100" cy="114300"/>
            </a:xfrm>
            <a:prstGeom prst="roundRect">
              <a:avLst>
                <a:gd fmla="val 50000" name="adj"/>
              </a:avLst>
            </a:prstGeom>
            <a:solidFill>
              <a:srgbClr val="006AA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22" name="Google Shape;622;p6"/>
          <p:cNvSpPr/>
          <p:nvPr/>
        </p:nvSpPr>
        <p:spPr>
          <a:xfrm>
            <a:off x="8667750" y="4095750"/>
            <a:ext cx="476400" cy="238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526B7A"/>
                </a:solidFill>
                <a:latin typeface="Arial"/>
                <a:ea typeface="Arial"/>
                <a:cs typeface="Arial"/>
                <a:sym typeface="Arial"/>
              </a:rPr>
              <a:t>3,5</a:t>
            </a:r>
            <a:endParaRPr b="1" sz="1100">
              <a:solidFill>
                <a:srgbClr val="526B7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23" name="Google Shape;623;p6"/>
          <p:cNvGrpSpPr/>
          <p:nvPr/>
        </p:nvGrpSpPr>
        <p:grpSpPr>
          <a:xfrm>
            <a:off x="3619500" y="4667250"/>
            <a:ext cx="5524500" cy="952500"/>
            <a:chOff x="3619500" y="4667250"/>
            <a:chExt cx="5524500" cy="952500"/>
          </a:xfrm>
        </p:grpSpPr>
        <p:sp>
          <p:nvSpPr>
            <p:cNvPr id="624" name="Google Shape;624;p6"/>
            <p:cNvSpPr/>
            <p:nvPr/>
          </p:nvSpPr>
          <p:spPr>
            <a:xfrm>
              <a:off x="3619500" y="4667250"/>
              <a:ext cx="5524500" cy="952500"/>
            </a:xfrm>
            <a:prstGeom prst="roundRect">
              <a:avLst>
                <a:gd fmla="val 12000" name="adj"/>
              </a:avLst>
            </a:prstGeom>
            <a:solidFill>
              <a:srgbClr val="EAF5FB"/>
            </a:solidFill>
            <a:ln cap="flat" cmpd="sng" w="9525">
              <a:solidFill>
                <a:srgbClr val="31A9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5" name="Google Shape;625;p6"/>
            <p:cNvSpPr txBox="1"/>
            <p:nvPr/>
          </p:nvSpPr>
          <p:spPr>
            <a:xfrm>
              <a:off x="3714750" y="4762500"/>
              <a:ext cx="5334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5250" lIns="95250" spcFirstLastPara="1" rIns="95250" wrap="square" tIns="95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003A70"/>
                  </a:solidFill>
                  <a:latin typeface="Arial"/>
                  <a:ea typeface="Arial"/>
                  <a:cs typeface="Arial"/>
                  <a:sym typeface="Arial"/>
                </a:rPr>
                <a:t>Conclusão Principal:</a:t>
              </a:r>
              <a:endParaRPr b="1" sz="1100">
                <a:solidFill>
                  <a:srgbClr val="003A7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003A70"/>
                  </a:solidFill>
                  <a:latin typeface="Arial"/>
                  <a:ea typeface="Arial"/>
                  <a:cs typeface="Arial"/>
                  <a:sym typeface="Arial"/>
                </a:rPr>
                <a:t>A cultura vivida é positiva no conjunto, mas expõe pontos de atenção em liderança, carreira e qualidade de vida.</a:t>
              </a:r>
              <a:endParaRPr b="0" sz="1100">
                <a:solidFill>
                  <a:srgbClr val="003A7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26" name="Google Shape;626;p6"/>
          <p:cNvSpPr/>
          <p:nvPr/>
        </p:nvSpPr>
        <p:spPr>
          <a:xfrm>
            <a:off x="11475720" y="6492240"/>
            <a:ext cx="3657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72BC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0072BC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27" name="Google Shape;627;p6" title="Hospital-Sírio-Libanês-logo-removebg-preview (1).png"/>
          <p:cNvPicPr preferRelativeResize="0"/>
          <p:nvPr/>
        </p:nvPicPr>
        <p:blipFill rotWithShape="1">
          <a:blip r:embed="rId3">
            <a:alphaModFix/>
          </a:blip>
          <a:srcRect b="36159" l="21436" r="22330" t="35811"/>
          <a:stretch/>
        </p:blipFill>
        <p:spPr>
          <a:xfrm>
            <a:off x="9784075" y="292602"/>
            <a:ext cx="2057399" cy="6159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AFD"/>
        </a:solidFill>
      </p:bgPr>
    </p:bg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33" name="Google Shape;633;g3e590c21d2e_224_47"/>
          <p:cNvCxnSpPr/>
          <p:nvPr/>
        </p:nvCxnSpPr>
        <p:spPr>
          <a:xfrm>
            <a:off x="320040" y="182880"/>
            <a:ext cx="0" cy="6355200"/>
          </a:xfrm>
          <a:prstGeom prst="straightConnector1">
            <a:avLst/>
          </a:prstGeom>
          <a:noFill/>
          <a:ln cap="flat" cmpd="sng" w="38100">
            <a:solidFill>
              <a:srgbClr val="00A6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4" name="Google Shape;634;g3e590c21d2e_224_47"/>
          <p:cNvSpPr/>
          <p:nvPr/>
        </p:nvSpPr>
        <p:spPr>
          <a:xfrm>
            <a:off x="594360" y="292608"/>
            <a:ext cx="7498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A70"/>
              </a:buClr>
              <a:buSzPts val="2200"/>
              <a:buFont typeface="Arial"/>
              <a:buNone/>
            </a:pPr>
            <a:r>
              <a:rPr b="1" lang="en-US" sz="2200">
                <a:solidFill>
                  <a:srgbClr val="003A70"/>
                </a:solidFill>
              </a:rPr>
              <a:t>P</a:t>
            </a:r>
            <a:r>
              <a:rPr b="1" i="0" lang="en-US" sz="2200" u="none" cap="none" strike="noStrike">
                <a:solidFill>
                  <a:srgbClr val="003A70"/>
                </a:solidFill>
                <a:latin typeface="Arial"/>
                <a:ea typeface="Arial"/>
                <a:cs typeface="Arial"/>
                <a:sym typeface="Arial"/>
              </a:rPr>
              <a:t>ercepção dos colaboradores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5" name="Google Shape;635;g3e590c21d2e_224_47"/>
          <p:cNvSpPr/>
          <p:nvPr/>
        </p:nvSpPr>
        <p:spPr>
          <a:xfrm>
            <a:off x="11475720" y="6492240"/>
            <a:ext cx="3657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72BC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0072BC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36" name="Google Shape;636;g3e590c21d2e_224_47" title="Hospital-Sírio-Libanês-logo-removebg-preview (1).png"/>
          <p:cNvPicPr preferRelativeResize="0"/>
          <p:nvPr/>
        </p:nvPicPr>
        <p:blipFill rotWithShape="1">
          <a:blip r:embed="rId3">
            <a:alphaModFix/>
          </a:blip>
          <a:srcRect b="36159" l="21436" r="22330" t="35811"/>
          <a:stretch/>
        </p:blipFill>
        <p:spPr>
          <a:xfrm>
            <a:off x="9784075" y="292602"/>
            <a:ext cx="2057399" cy="61599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37" name="Google Shape;637;g3e590c21d2e_224_47"/>
          <p:cNvGrpSpPr/>
          <p:nvPr/>
        </p:nvGrpSpPr>
        <p:grpSpPr>
          <a:xfrm>
            <a:off x="590550" y="1333500"/>
            <a:ext cx="3429000" cy="4572000"/>
            <a:chOff x="590550" y="1333500"/>
            <a:chExt cx="3429000" cy="4572000"/>
          </a:xfrm>
        </p:grpSpPr>
        <p:sp>
          <p:nvSpPr>
            <p:cNvPr id="638" name="Google Shape;638;g3e590c21d2e_224_47"/>
            <p:cNvSpPr/>
            <p:nvPr/>
          </p:nvSpPr>
          <p:spPr>
            <a:xfrm>
              <a:off x="590550" y="1333500"/>
              <a:ext cx="3429000" cy="4572000"/>
            </a:xfrm>
            <a:prstGeom prst="roundRect">
              <a:avLst>
                <a:gd fmla="val 3333" name="adj"/>
              </a:avLst>
            </a:prstGeom>
            <a:solidFill>
              <a:srgbClr val="FFFFFF"/>
            </a:solidFill>
            <a:ln cap="flat" cmpd="sng" w="9525">
              <a:solidFill>
                <a:srgbClr val="DDEAF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9" name="Google Shape;639;g3e590c21d2e_224_47"/>
            <p:cNvSpPr txBox="1"/>
            <p:nvPr/>
          </p:nvSpPr>
          <p:spPr>
            <a:xfrm>
              <a:off x="590550" y="1333500"/>
              <a:ext cx="3429000" cy="457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38125" lIns="238125" spcFirstLastPara="1" rIns="238125" wrap="square" tIns="238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003A70"/>
                  </a:solidFill>
                  <a:latin typeface="Arial"/>
                  <a:ea typeface="Arial"/>
                  <a:cs typeface="Arial"/>
                  <a:sym typeface="Arial"/>
                </a:rPr>
                <a:t>Analista Pleno</a:t>
              </a:r>
              <a:endParaRPr b="1" sz="1400">
                <a:solidFill>
                  <a:srgbClr val="003A7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53616C"/>
                  </a:solidFill>
                  <a:latin typeface="Arial"/>
                  <a:ea typeface="Arial"/>
                  <a:cs typeface="Arial"/>
                  <a:sym typeface="Arial"/>
                </a:rPr>
                <a:t>Funcionário(a) atual, mais de 3 anos • São Paulo, SP</a:t>
              </a:r>
              <a:endParaRPr sz="1100">
                <a:solidFill>
                  <a:srgbClr val="53616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0072BC"/>
                  </a:solidFill>
                  <a:latin typeface="Arial"/>
                  <a:ea typeface="Arial"/>
                  <a:cs typeface="Arial"/>
                  <a:sym typeface="Arial"/>
                </a:rPr>
                <a:t>3,0 ★★★☆☆</a:t>
              </a:r>
              <a:endParaRPr b="1" sz="2400">
                <a:solidFill>
                  <a:srgbClr val="0072B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22C55E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check_circle</a:t>
              </a:r>
              <a:r>
                <a:rPr b="1" lang="en-US" sz="1200">
                  <a:solidFill>
                    <a:srgbClr val="22C55E"/>
                  </a:solidFill>
                  <a:latin typeface="Arial"/>
                  <a:ea typeface="Arial"/>
                  <a:cs typeface="Arial"/>
                  <a:sym typeface="Arial"/>
                </a:rPr>
                <a:t> Visão de mercado da empresa</a:t>
              </a:r>
              <a:endParaRPr b="1" sz="1200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003A70"/>
                  </a:solidFill>
                  <a:latin typeface="Arial"/>
                  <a:ea typeface="Arial"/>
                  <a:cs typeface="Arial"/>
                  <a:sym typeface="Arial"/>
                </a:rPr>
                <a:t>Prós</a:t>
              </a:r>
              <a:endParaRPr b="1" sz="1100">
                <a:solidFill>
                  <a:srgbClr val="003A7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2100" lvl="0" marL="457200" rtl="0" algn="l">
                <a:spcBef>
                  <a:spcPts val="375"/>
                </a:spcBef>
                <a:spcAft>
                  <a:spcPts val="0"/>
                </a:spcAft>
                <a:buClr>
                  <a:srgbClr val="1F2933"/>
                </a:buClr>
                <a:buSzPts val="1000"/>
                <a:buFont typeface="Arial"/>
                <a:buChar char="●"/>
              </a:pPr>
              <a:r>
                <a:rPr lang="en-US" sz="1000">
                  <a:solidFill>
                    <a:srgbClr val="1F2933"/>
                  </a:solidFill>
                  <a:latin typeface="Arial"/>
                  <a:ea typeface="Arial"/>
                  <a:cs typeface="Arial"/>
                  <a:sym typeface="Arial"/>
                </a:rPr>
                <a:t>Atendimento no hospital</a:t>
              </a:r>
              <a:endParaRPr sz="1000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2100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1F2933"/>
                </a:buClr>
                <a:buSzPts val="1000"/>
                <a:buFont typeface="Arial"/>
                <a:buChar char="●"/>
              </a:pPr>
              <a:r>
                <a:rPr lang="en-US" sz="1000">
                  <a:solidFill>
                    <a:srgbClr val="1F2933"/>
                  </a:solidFill>
                  <a:latin typeface="Arial"/>
                  <a:ea typeface="Arial"/>
                  <a:cs typeface="Arial"/>
                  <a:sym typeface="Arial"/>
                </a:rPr>
                <a:t>Visibilidade no processo</a:t>
              </a:r>
              <a:endParaRPr sz="1000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EF4444"/>
                  </a:solidFill>
                  <a:latin typeface="Arial"/>
                  <a:ea typeface="Arial"/>
                  <a:cs typeface="Arial"/>
                  <a:sym typeface="Arial"/>
                </a:rPr>
                <a:t>Contras</a:t>
              </a:r>
              <a:endParaRPr b="1" sz="1100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2100" lvl="0" marL="457200" rtl="0" algn="l">
                <a:spcBef>
                  <a:spcPts val="375"/>
                </a:spcBef>
                <a:spcAft>
                  <a:spcPts val="0"/>
                </a:spcAft>
                <a:buClr>
                  <a:srgbClr val="1F2933"/>
                </a:buClr>
                <a:buSzPts val="1000"/>
                <a:buFont typeface="Arial"/>
                <a:buChar char="●"/>
              </a:pPr>
              <a:r>
                <a:rPr lang="en-US" sz="1000">
                  <a:solidFill>
                    <a:srgbClr val="1F2933"/>
                  </a:solidFill>
                  <a:latin typeface="Arial"/>
                  <a:ea typeface="Arial"/>
                  <a:cs typeface="Arial"/>
                  <a:sym typeface="Arial"/>
                </a:rPr>
                <a:t>Clima ruim</a:t>
              </a:r>
              <a:endParaRPr sz="1000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2100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1F2933"/>
                </a:buClr>
                <a:buSzPts val="1000"/>
                <a:buFont typeface="Arial"/>
                <a:buChar char="●"/>
              </a:pPr>
              <a:r>
                <a:rPr lang="en-US" sz="1000">
                  <a:solidFill>
                    <a:srgbClr val="1F2933"/>
                  </a:solidFill>
                  <a:latin typeface="Arial"/>
                  <a:ea typeface="Arial"/>
                  <a:cs typeface="Arial"/>
                  <a:sym typeface="Arial"/>
                </a:rPr>
                <a:t>Pressão</a:t>
              </a:r>
              <a:endParaRPr sz="1000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2100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1F2933"/>
                </a:buClr>
                <a:buSzPts val="1000"/>
                <a:buFont typeface="Arial"/>
                <a:buChar char="●"/>
              </a:pPr>
              <a:r>
                <a:rPr lang="en-US" sz="1000">
                  <a:solidFill>
                    <a:srgbClr val="1F2933"/>
                  </a:solidFill>
                  <a:latin typeface="Arial"/>
                  <a:ea typeface="Arial"/>
                  <a:cs typeface="Arial"/>
                  <a:sym typeface="Arial"/>
                </a:rPr>
                <a:t>Salário baixo</a:t>
              </a:r>
              <a:endParaRPr sz="1000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2100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1F2933"/>
                </a:buClr>
                <a:buSzPts val="1000"/>
                <a:buFont typeface="Arial"/>
                <a:buChar char="●"/>
              </a:pPr>
              <a:r>
                <a:rPr lang="en-US" sz="1000">
                  <a:solidFill>
                    <a:srgbClr val="1F2933"/>
                  </a:solidFill>
                  <a:latin typeface="Arial"/>
                  <a:ea typeface="Arial"/>
                  <a:cs typeface="Arial"/>
                  <a:sym typeface="Arial"/>
                </a:rPr>
                <a:t>Pouca autonomia</a:t>
              </a:r>
              <a:endParaRPr sz="1000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2100" lvl="0" marL="457200" rtl="0" algn="l">
                <a:spcBef>
                  <a:spcPts val="300"/>
                </a:spcBef>
                <a:spcAft>
                  <a:spcPts val="1125"/>
                </a:spcAft>
                <a:buClr>
                  <a:srgbClr val="1F2933"/>
                </a:buClr>
                <a:buSzPts val="1000"/>
                <a:buFont typeface="Arial"/>
                <a:buChar char="●"/>
              </a:pPr>
              <a:r>
                <a:rPr lang="en-US" sz="1000">
                  <a:solidFill>
                    <a:srgbClr val="1F2933"/>
                  </a:solidFill>
                  <a:latin typeface="Arial"/>
                  <a:ea typeface="Arial"/>
                  <a:cs typeface="Arial"/>
                  <a:sym typeface="Arial"/>
                </a:rPr>
                <a:t>Benefícios péssimos</a:t>
              </a:r>
              <a:endParaRPr sz="1000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40" name="Google Shape;640;g3e590c21d2e_224_47"/>
          <p:cNvGrpSpPr/>
          <p:nvPr/>
        </p:nvGrpSpPr>
        <p:grpSpPr>
          <a:xfrm>
            <a:off x="4381500" y="1333500"/>
            <a:ext cx="3429000" cy="4572000"/>
            <a:chOff x="4381500" y="1333500"/>
            <a:chExt cx="3429000" cy="4572000"/>
          </a:xfrm>
        </p:grpSpPr>
        <p:sp>
          <p:nvSpPr>
            <p:cNvPr id="641" name="Google Shape;641;g3e590c21d2e_224_47"/>
            <p:cNvSpPr/>
            <p:nvPr/>
          </p:nvSpPr>
          <p:spPr>
            <a:xfrm>
              <a:off x="4381500" y="1333500"/>
              <a:ext cx="3429000" cy="4572000"/>
            </a:xfrm>
            <a:prstGeom prst="roundRect">
              <a:avLst>
                <a:gd fmla="val 3333" name="adj"/>
              </a:avLst>
            </a:prstGeom>
            <a:solidFill>
              <a:srgbClr val="FFFFFF"/>
            </a:solidFill>
            <a:ln cap="flat" cmpd="sng" w="9525">
              <a:solidFill>
                <a:srgbClr val="DDEAF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2" name="Google Shape;642;g3e590c21d2e_224_47"/>
            <p:cNvSpPr txBox="1"/>
            <p:nvPr/>
          </p:nvSpPr>
          <p:spPr>
            <a:xfrm>
              <a:off x="4381500" y="1333500"/>
              <a:ext cx="3429000" cy="457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38125" lIns="238125" spcFirstLastPara="1" rIns="238125" wrap="square" tIns="238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003A70"/>
                  </a:solidFill>
                  <a:latin typeface="Arial"/>
                  <a:ea typeface="Arial"/>
                  <a:cs typeface="Arial"/>
                  <a:sym typeface="Arial"/>
                </a:rPr>
                <a:t>Mensageiro</a:t>
              </a:r>
              <a:endParaRPr b="1" sz="1400">
                <a:solidFill>
                  <a:srgbClr val="003A7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53616C"/>
                  </a:solidFill>
                  <a:latin typeface="Arial"/>
                  <a:ea typeface="Arial"/>
                  <a:cs typeface="Arial"/>
                  <a:sym typeface="Arial"/>
                </a:rPr>
                <a:t>Ex-funcionário(a), menos de um ano • São Paulo, SP</a:t>
              </a:r>
              <a:endParaRPr sz="1100">
                <a:solidFill>
                  <a:srgbClr val="53616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EF444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cancel</a:t>
              </a:r>
              <a:r>
                <a:rPr b="1" lang="en-US" sz="1200">
                  <a:solidFill>
                    <a:srgbClr val="EF4444"/>
                  </a:solidFill>
                  <a:latin typeface="Arial"/>
                  <a:ea typeface="Arial"/>
                  <a:cs typeface="Arial"/>
                  <a:sym typeface="Arial"/>
                </a:rPr>
                <a:t> Visão de mercado da empresa</a:t>
              </a:r>
              <a:endParaRPr b="1" sz="1200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003A70"/>
                  </a:solidFill>
                  <a:latin typeface="Arial"/>
                  <a:ea typeface="Arial"/>
                  <a:cs typeface="Arial"/>
                  <a:sym typeface="Arial"/>
                </a:rPr>
                <a:t>Prós</a:t>
              </a:r>
              <a:endParaRPr b="1" sz="1100">
                <a:solidFill>
                  <a:srgbClr val="003A7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1F2933"/>
                  </a:solidFill>
                  <a:latin typeface="Arial"/>
                  <a:ea typeface="Arial"/>
                  <a:cs typeface="Arial"/>
                  <a:sym typeface="Arial"/>
                </a:rPr>
                <a:t>Experiência, conhecimento, benefícios bons, até vacina tem.</a:t>
              </a:r>
              <a:endParaRPr sz="1000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EF4444"/>
                  </a:solidFill>
                  <a:latin typeface="Arial"/>
                  <a:ea typeface="Arial"/>
                  <a:cs typeface="Arial"/>
                  <a:sym typeface="Arial"/>
                </a:rPr>
                <a:t>Contras</a:t>
              </a:r>
              <a:endParaRPr b="1" sz="1100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1125"/>
                </a:spcAft>
                <a:buNone/>
              </a:pPr>
              <a:r>
                <a:rPr lang="en-US" sz="1000">
                  <a:solidFill>
                    <a:srgbClr val="1F2933"/>
                  </a:solidFill>
                  <a:latin typeface="Arial"/>
                  <a:ea typeface="Arial"/>
                  <a:cs typeface="Arial"/>
                  <a:sym typeface="Arial"/>
                </a:rPr>
                <a:t>Horário inflexível, gestão inflexível, não pagam insalubridade.</a:t>
              </a:r>
              <a:endParaRPr sz="1000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43" name="Google Shape;643;g3e590c21d2e_224_47"/>
          <p:cNvGrpSpPr/>
          <p:nvPr/>
        </p:nvGrpSpPr>
        <p:grpSpPr>
          <a:xfrm>
            <a:off x="8172450" y="1333500"/>
            <a:ext cx="3429000" cy="4572000"/>
            <a:chOff x="8172450" y="1333500"/>
            <a:chExt cx="3429000" cy="4572000"/>
          </a:xfrm>
        </p:grpSpPr>
        <p:sp>
          <p:nvSpPr>
            <p:cNvPr id="644" name="Google Shape;644;g3e590c21d2e_224_47"/>
            <p:cNvSpPr/>
            <p:nvPr/>
          </p:nvSpPr>
          <p:spPr>
            <a:xfrm>
              <a:off x="8172450" y="1333500"/>
              <a:ext cx="3429000" cy="4572000"/>
            </a:xfrm>
            <a:prstGeom prst="roundRect">
              <a:avLst>
                <a:gd fmla="val 3333" name="adj"/>
              </a:avLst>
            </a:prstGeom>
            <a:solidFill>
              <a:srgbClr val="FFFFFF"/>
            </a:solidFill>
            <a:ln cap="flat" cmpd="sng" w="9525">
              <a:solidFill>
                <a:srgbClr val="DDEAF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5" name="Google Shape;645;g3e590c21d2e_224_47"/>
            <p:cNvSpPr txBox="1"/>
            <p:nvPr/>
          </p:nvSpPr>
          <p:spPr>
            <a:xfrm>
              <a:off x="8172450" y="1333500"/>
              <a:ext cx="3429000" cy="457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38125" lIns="238125" spcFirstLastPara="1" rIns="238125" wrap="square" tIns="238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003A70"/>
                  </a:solidFill>
                  <a:latin typeface="Arial"/>
                  <a:ea typeface="Arial"/>
                  <a:cs typeface="Arial"/>
                  <a:sym typeface="Arial"/>
                </a:rPr>
                <a:t>Assistente de Farmácia</a:t>
              </a:r>
              <a:endParaRPr b="1" sz="1400">
                <a:solidFill>
                  <a:srgbClr val="003A7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53616C"/>
                  </a:solidFill>
                  <a:latin typeface="Arial"/>
                  <a:ea typeface="Arial"/>
                  <a:cs typeface="Arial"/>
                  <a:sym typeface="Arial"/>
                </a:rPr>
                <a:t>Funcionário(a) atual, mais de 5 anos • Brasília, DF</a:t>
              </a:r>
              <a:endParaRPr sz="1100">
                <a:solidFill>
                  <a:srgbClr val="53616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22C55E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check_circle</a:t>
              </a:r>
              <a:r>
                <a:rPr b="1" lang="en-US" sz="1200">
                  <a:solidFill>
                    <a:srgbClr val="22C55E"/>
                  </a:solidFill>
                  <a:latin typeface="Arial"/>
                  <a:ea typeface="Arial"/>
                  <a:cs typeface="Arial"/>
                  <a:sym typeface="Arial"/>
                </a:rPr>
                <a:t> Recomenda</a:t>
              </a:r>
              <a:endParaRPr b="1" sz="1200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EF444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cancel</a:t>
              </a:r>
              <a:r>
                <a:rPr b="1" lang="en-US" sz="1200">
                  <a:solidFill>
                    <a:srgbClr val="EF4444"/>
                  </a:solidFill>
                  <a:latin typeface="Arial"/>
                  <a:ea typeface="Arial"/>
                  <a:cs typeface="Arial"/>
                  <a:sym typeface="Arial"/>
                </a:rPr>
                <a:t> Visão de mercado da empresa</a:t>
              </a:r>
              <a:endParaRPr b="1" sz="1200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i="1" lang="en-US" sz="1000">
                  <a:solidFill>
                    <a:srgbClr val="1F2933"/>
                  </a:solidFill>
                  <a:latin typeface="Arial"/>
                  <a:ea typeface="Arial"/>
                  <a:cs typeface="Arial"/>
                  <a:sym typeface="Arial"/>
                </a:rPr>
                <a:t>"É uma empresa que forma bons profissionais, e o mercado olha bem para quem trabalha ou já trabalhou no Sírio..."</a:t>
              </a:r>
              <a:endParaRPr i="1" sz="1000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003A70"/>
                  </a:solidFill>
                  <a:latin typeface="Arial"/>
                  <a:ea typeface="Arial"/>
                  <a:cs typeface="Arial"/>
                  <a:sym typeface="Arial"/>
                </a:rPr>
                <a:t>Prós</a:t>
              </a:r>
              <a:endParaRPr b="1" sz="1100">
                <a:solidFill>
                  <a:srgbClr val="003A7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1F2933"/>
                  </a:solidFill>
                  <a:latin typeface="Arial"/>
                  <a:ea typeface="Arial"/>
                  <a:cs typeface="Arial"/>
                  <a:sym typeface="Arial"/>
                </a:rPr>
                <a:t>Benefícios, visibilidade para desenvolvimento.</a:t>
              </a:r>
              <a:endParaRPr sz="1000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EF4444"/>
                  </a:solidFill>
                  <a:latin typeface="Arial"/>
                  <a:ea typeface="Arial"/>
                  <a:cs typeface="Arial"/>
                  <a:sym typeface="Arial"/>
                </a:rPr>
                <a:t>Contras</a:t>
              </a:r>
              <a:endParaRPr b="1" sz="1100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1125"/>
                </a:spcAft>
                <a:buNone/>
              </a:pPr>
              <a:r>
                <a:rPr lang="en-US" sz="1000">
                  <a:solidFill>
                    <a:srgbClr val="1F2933"/>
                  </a:solidFill>
                  <a:latin typeface="Arial"/>
                  <a:ea typeface="Arial"/>
                  <a:cs typeface="Arial"/>
                  <a:sym typeface="Arial"/>
                </a:rPr>
                <a:t>Reconhecimento político, lideranças centralizadoras.</a:t>
              </a:r>
              <a:endParaRPr sz="1000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AFD"/>
        </a:solidFill>
      </p:bgPr>
    </p:bg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51" name="Google Shape;651;g3e590c21d2e_224_0"/>
          <p:cNvCxnSpPr/>
          <p:nvPr/>
        </p:nvCxnSpPr>
        <p:spPr>
          <a:xfrm>
            <a:off x="320040" y="182880"/>
            <a:ext cx="0" cy="6355200"/>
          </a:xfrm>
          <a:prstGeom prst="straightConnector1">
            <a:avLst/>
          </a:prstGeom>
          <a:noFill/>
          <a:ln cap="flat" cmpd="sng" w="38100">
            <a:solidFill>
              <a:srgbClr val="00A6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52" name="Google Shape;652;g3e590c21d2e_224_0"/>
          <p:cNvSpPr/>
          <p:nvPr/>
        </p:nvSpPr>
        <p:spPr>
          <a:xfrm>
            <a:off x="594360" y="292608"/>
            <a:ext cx="7498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A70"/>
              </a:buClr>
              <a:buSzPts val="2200"/>
              <a:buFont typeface="Arial"/>
              <a:buNone/>
            </a:pPr>
            <a:r>
              <a:rPr b="1" lang="en-US" sz="2200">
                <a:solidFill>
                  <a:srgbClr val="003A70"/>
                </a:solidFill>
              </a:rPr>
              <a:t>Premiações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3" name="Google Shape;653;g3e590c21d2e_224_0"/>
          <p:cNvSpPr/>
          <p:nvPr/>
        </p:nvSpPr>
        <p:spPr>
          <a:xfrm>
            <a:off x="11475720" y="6492240"/>
            <a:ext cx="3657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72BC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0072BC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54" name="Google Shape;654;g3e590c21d2e_224_0" title="Hospital-Sírio-Libanês-logo-removebg-preview (1).png"/>
          <p:cNvPicPr preferRelativeResize="0"/>
          <p:nvPr/>
        </p:nvPicPr>
        <p:blipFill rotWithShape="1">
          <a:blip r:embed="rId3">
            <a:alphaModFix/>
          </a:blip>
          <a:srcRect b="36159" l="21436" r="22330" t="35811"/>
          <a:stretch/>
        </p:blipFill>
        <p:spPr>
          <a:xfrm>
            <a:off x="9784075" y="292602"/>
            <a:ext cx="2057399" cy="615998"/>
          </a:xfrm>
          <a:prstGeom prst="rect">
            <a:avLst/>
          </a:prstGeom>
          <a:noFill/>
          <a:ln>
            <a:noFill/>
          </a:ln>
        </p:spPr>
      </p:pic>
      <p:pic>
        <p:nvPicPr>
          <p:cNvPr id="655" name="Google Shape;655;g3e590c21d2e_224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14550" y="1125638"/>
            <a:ext cx="5989199" cy="4963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656" name="Google Shape;656;g3e590c21d2e_224_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56149" y="1061000"/>
            <a:ext cx="4514850" cy="451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62" name="Google Shape;662;g3e590c21d2e_1_445"/>
          <p:cNvCxnSpPr/>
          <p:nvPr/>
        </p:nvCxnSpPr>
        <p:spPr>
          <a:xfrm>
            <a:off x="320040" y="182880"/>
            <a:ext cx="0" cy="6355200"/>
          </a:xfrm>
          <a:prstGeom prst="straightConnector1">
            <a:avLst/>
          </a:prstGeom>
          <a:solidFill>
            <a:srgbClr val="FFFFFF"/>
          </a:solidFill>
          <a:ln cap="flat" cmpd="sng" w="38100">
            <a:solidFill>
              <a:srgbClr val="00A6D6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663" name="Google Shape;663;g3e590c21d2e_1_445"/>
          <p:cNvPicPr preferRelativeResize="0"/>
          <p:nvPr/>
        </p:nvPicPr>
        <p:blipFill rotWithShape="1">
          <a:blip r:embed="rId4">
            <a:alphaModFix/>
          </a:blip>
          <a:srcRect b="25570" l="0" r="0" t="25566"/>
          <a:stretch/>
        </p:blipFill>
        <p:spPr>
          <a:xfrm>
            <a:off x="9784080" y="292608"/>
            <a:ext cx="2057400" cy="615900"/>
          </a:xfrm>
          <a:prstGeom prst="rect">
            <a:avLst/>
          </a:prstGeom>
          <a:noFill/>
          <a:ln>
            <a:noFill/>
          </a:ln>
        </p:spPr>
      </p:pic>
      <p:sp>
        <p:nvSpPr>
          <p:cNvPr id="664" name="Google Shape;664;g3e590c21d2e_1_445"/>
          <p:cNvSpPr/>
          <p:nvPr/>
        </p:nvSpPr>
        <p:spPr>
          <a:xfrm>
            <a:off x="594360" y="292608"/>
            <a:ext cx="74982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3A70"/>
                </a:solidFill>
                <a:latin typeface="Arial"/>
                <a:ea typeface="Arial"/>
                <a:cs typeface="Arial"/>
                <a:sym typeface="Arial"/>
              </a:rPr>
              <a:t>Comunicação interna</a:t>
            </a:r>
            <a:endParaRPr b="1" sz="2400">
              <a:solidFill>
                <a:srgbClr val="003A7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65" name="Google Shape;665;g3e590c21d2e_1_445"/>
          <p:cNvGrpSpPr/>
          <p:nvPr/>
        </p:nvGrpSpPr>
        <p:grpSpPr>
          <a:xfrm>
            <a:off x="590550" y="1333500"/>
            <a:ext cx="5334000" cy="2190900"/>
            <a:chOff x="590550" y="1333500"/>
            <a:chExt cx="5334000" cy="2190900"/>
          </a:xfrm>
        </p:grpSpPr>
        <p:sp>
          <p:nvSpPr>
            <p:cNvPr id="666" name="Google Shape;666;g3e590c21d2e_1_445"/>
            <p:cNvSpPr/>
            <p:nvPr/>
          </p:nvSpPr>
          <p:spPr>
            <a:xfrm>
              <a:off x="590550" y="1333500"/>
              <a:ext cx="5334000" cy="2190900"/>
            </a:xfrm>
            <a:prstGeom prst="roundRect">
              <a:avLst>
                <a:gd fmla="val 5217" name="adj"/>
              </a:avLst>
            </a:prstGeom>
            <a:solidFill>
              <a:srgbClr val="FFFFFF"/>
            </a:solidFill>
            <a:ln cap="flat" cmpd="sng" w="9525">
              <a:solidFill>
                <a:srgbClr val="DDEAF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00"/>
            </a:p>
          </p:txBody>
        </p:sp>
        <p:sp>
          <p:nvSpPr>
            <p:cNvPr id="667" name="Google Shape;667;g3e590c21d2e_1_445"/>
            <p:cNvSpPr txBox="1"/>
            <p:nvPr/>
          </p:nvSpPr>
          <p:spPr>
            <a:xfrm>
              <a:off x="762000" y="1511427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>
                  <a:solidFill>
                    <a:srgbClr val="00A6D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campaign</a:t>
              </a:r>
              <a:endParaRPr sz="2700">
                <a:solidFill>
                  <a:srgbClr val="00A6D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668" name="Google Shape;668;g3e590c21d2e_1_445"/>
            <p:cNvSpPr txBox="1"/>
            <p:nvPr/>
          </p:nvSpPr>
          <p:spPr>
            <a:xfrm>
              <a:off x="1238250" y="1476375"/>
              <a:ext cx="44958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700">
                  <a:solidFill>
                    <a:srgbClr val="14304A"/>
                  </a:solidFill>
                  <a:latin typeface="Arial"/>
                  <a:ea typeface="Arial"/>
                  <a:cs typeface="Arial"/>
                  <a:sym typeface="Arial"/>
                </a:rPr>
                <a:t>Como normas e comunicados são transmitidos?</a:t>
              </a:r>
              <a:endParaRPr b="1" sz="1700">
                <a:solidFill>
                  <a:srgbClr val="14304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9" name="Google Shape;669;g3e590c21d2e_1_445"/>
            <p:cNvSpPr txBox="1"/>
            <p:nvPr/>
          </p:nvSpPr>
          <p:spPr>
            <a:xfrm>
              <a:off x="762000" y="2000250"/>
              <a:ext cx="4972200" cy="1333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1F2933"/>
                  </a:solidFill>
                  <a:latin typeface="Arial"/>
                  <a:ea typeface="Arial"/>
                  <a:cs typeface="Arial"/>
                  <a:sym typeface="Arial"/>
                </a:rPr>
                <a:t>Por canais formais e institucionais (intranet, comunicados, políticas e Código de Conduta). Tom oficial e estruturado, coerente com a tradição.</a:t>
              </a:r>
              <a:endParaRPr b="0" sz="1600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70" name="Google Shape;670;g3e590c21d2e_1_445"/>
          <p:cNvGrpSpPr/>
          <p:nvPr/>
        </p:nvGrpSpPr>
        <p:grpSpPr>
          <a:xfrm>
            <a:off x="6267450" y="1333500"/>
            <a:ext cx="5334000" cy="2190900"/>
            <a:chOff x="6267450" y="1333500"/>
            <a:chExt cx="5334000" cy="2190900"/>
          </a:xfrm>
        </p:grpSpPr>
        <p:sp>
          <p:nvSpPr>
            <p:cNvPr id="671" name="Google Shape;671;g3e590c21d2e_1_445"/>
            <p:cNvSpPr/>
            <p:nvPr/>
          </p:nvSpPr>
          <p:spPr>
            <a:xfrm>
              <a:off x="6267450" y="1333500"/>
              <a:ext cx="5334000" cy="2190900"/>
            </a:xfrm>
            <a:prstGeom prst="roundRect">
              <a:avLst>
                <a:gd fmla="val 5217" name="adj"/>
              </a:avLst>
            </a:prstGeom>
            <a:solidFill>
              <a:srgbClr val="FFFFFF"/>
            </a:solidFill>
            <a:ln cap="flat" cmpd="sng" w="9525">
              <a:solidFill>
                <a:srgbClr val="DDEAF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00"/>
            </a:p>
          </p:txBody>
        </p:sp>
        <p:sp>
          <p:nvSpPr>
            <p:cNvPr id="672" name="Google Shape;672;g3e590c21d2e_1_445"/>
            <p:cNvSpPr txBox="1"/>
            <p:nvPr/>
          </p:nvSpPr>
          <p:spPr>
            <a:xfrm>
              <a:off x="6438900" y="1511427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>
                  <a:solidFill>
                    <a:srgbClr val="00A6D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groups</a:t>
              </a:r>
              <a:endParaRPr sz="2700">
                <a:solidFill>
                  <a:srgbClr val="00A6D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673" name="Google Shape;673;g3e590c21d2e_1_445"/>
            <p:cNvSpPr txBox="1"/>
            <p:nvPr/>
          </p:nvSpPr>
          <p:spPr>
            <a:xfrm>
              <a:off x="6915150" y="1476375"/>
              <a:ext cx="44958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700">
                  <a:solidFill>
                    <a:srgbClr val="14304A"/>
                  </a:solidFill>
                  <a:latin typeface="Arial"/>
                  <a:ea typeface="Arial"/>
                  <a:cs typeface="Arial"/>
                  <a:sym typeface="Arial"/>
                </a:rPr>
                <a:t>Como os líderes conduzem reuniões?</a:t>
              </a:r>
              <a:endParaRPr b="1" sz="1700">
                <a:solidFill>
                  <a:srgbClr val="14304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4" name="Google Shape;674;g3e590c21d2e_1_445"/>
            <p:cNvSpPr txBox="1"/>
            <p:nvPr/>
          </p:nvSpPr>
          <p:spPr>
            <a:xfrm>
              <a:off x="6438900" y="2000250"/>
              <a:ext cx="4972200" cy="1333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1F2933"/>
                  </a:solidFill>
                  <a:latin typeface="Arial"/>
                  <a:ea typeface="Arial"/>
                  <a:cs typeface="Arial"/>
                  <a:sym typeface="Arial"/>
                </a:rPr>
                <a:t>Variam por área: nos núcleos ágeis há mais participação; em áreas tradicionais, condução mais vertical, com menos abertura ao debate.</a:t>
              </a:r>
              <a:endParaRPr b="0" sz="1600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75" name="Google Shape;675;g3e590c21d2e_1_445"/>
          <p:cNvGrpSpPr/>
          <p:nvPr/>
        </p:nvGrpSpPr>
        <p:grpSpPr>
          <a:xfrm>
            <a:off x="590550" y="3857625"/>
            <a:ext cx="5334000" cy="2190900"/>
            <a:chOff x="590550" y="3857625"/>
            <a:chExt cx="5334000" cy="2190900"/>
          </a:xfrm>
        </p:grpSpPr>
        <p:sp>
          <p:nvSpPr>
            <p:cNvPr id="676" name="Google Shape;676;g3e590c21d2e_1_445"/>
            <p:cNvSpPr/>
            <p:nvPr/>
          </p:nvSpPr>
          <p:spPr>
            <a:xfrm>
              <a:off x="590550" y="3857625"/>
              <a:ext cx="5334000" cy="2190900"/>
            </a:xfrm>
            <a:prstGeom prst="roundRect">
              <a:avLst>
                <a:gd fmla="val 5217" name="adj"/>
              </a:avLst>
            </a:prstGeom>
            <a:solidFill>
              <a:srgbClr val="FFFFFF"/>
            </a:solidFill>
            <a:ln cap="flat" cmpd="sng" w="9525">
              <a:solidFill>
                <a:srgbClr val="DDEAF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00"/>
            </a:p>
          </p:txBody>
        </p:sp>
        <p:sp>
          <p:nvSpPr>
            <p:cNvPr id="677" name="Google Shape;677;g3e590c21d2e_1_445"/>
            <p:cNvSpPr txBox="1"/>
            <p:nvPr/>
          </p:nvSpPr>
          <p:spPr>
            <a:xfrm>
              <a:off x="762000" y="4035552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>
                  <a:solidFill>
                    <a:srgbClr val="00A6D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lightbulb</a:t>
              </a:r>
              <a:endParaRPr sz="2700">
                <a:solidFill>
                  <a:srgbClr val="00A6D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678" name="Google Shape;678;g3e590c21d2e_1_445"/>
            <p:cNvSpPr txBox="1"/>
            <p:nvPr/>
          </p:nvSpPr>
          <p:spPr>
            <a:xfrm>
              <a:off x="1238250" y="4000500"/>
              <a:ext cx="44958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700">
                  <a:solidFill>
                    <a:srgbClr val="14304A"/>
                  </a:solidFill>
                  <a:latin typeface="Arial"/>
                  <a:ea typeface="Arial"/>
                  <a:cs typeface="Arial"/>
                  <a:sym typeface="Arial"/>
                </a:rPr>
                <a:t>A empresa estimula ideias e sugestões?</a:t>
              </a:r>
              <a:endParaRPr b="1" sz="1700">
                <a:solidFill>
                  <a:srgbClr val="14304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9" name="Google Shape;679;g3e590c21d2e_1_445"/>
            <p:cNvSpPr txBox="1"/>
            <p:nvPr/>
          </p:nvSpPr>
          <p:spPr>
            <a:xfrm>
              <a:off x="762000" y="4524375"/>
              <a:ext cx="4972200" cy="1333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1F2933"/>
                  </a:solidFill>
                  <a:latin typeface="Arial"/>
                  <a:ea typeface="Arial"/>
                  <a:cs typeface="Arial"/>
                  <a:sym typeface="Arial"/>
                </a:rPr>
                <a:t>Sim, via canais formais e programas de inovação/melhoria — mas colaboradores apontam que a gestão das sugestões poderia ser mais ágil e transparente.</a:t>
              </a:r>
              <a:endParaRPr b="0" sz="1600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80" name="Google Shape;680;g3e590c21d2e_1_445"/>
          <p:cNvGrpSpPr/>
          <p:nvPr/>
        </p:nvGrpSpPr>
        <p:grpSpPr>
          <a:xfrm>
            <a:off x="6267450" y="3857625"/>
            <a:ext cx="5334000" cy="2190900"/>
            <a:chOff x="6267450" y="3857625"/>
            <a:chExt cx="5334000" cy="2190900"/>
          </a:xfrm>
        </p:grpSpPr>
        <p:sp>
          <p:nvSpPr>
            <p:cNvPr id="681" name="Google Shape;681;g3e590c21d2e_1_445"/>
            <p:cNvSpPr/>
            <p:nvPr/>
          </p:nvSpPr>
          <p:spPr>
            <a:xfrm>
              <a:off x="6267450" y="3857625"/>
              <a:ext cx="5334000" cy="2190900"/>
            </a:xfrm>
            <a:prstGeom prst="roundRect">
              <a:avLst>
                <a:gd fmla="val 5217" name="adj"/>
              </a:avLst>
            </a:prstGeom>
            <a:solidFill>
              <a:srgbClr val="FFFFFF"/>
            </a:solidFill>
            <a:ln cap="flat" cmpd="sng" w="9525">
              <a:solidFill>
                <a:srgbClr val="DDEAF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00"/>
            </a:p>
          </p:txBody>
        </p:sp>
        <p:sp>
          <p:nvSpPr>
            <p:cNvPr id="682" name="Google Shape;682;g3e590c21d2e_1_445"/>
            <p:cNvSpPr txBox="1"/>
            <p:nvPr/>
          </p:nvSpPr>
          <p:spPr>
            <a:xfrm>
              <a:off x="6438900" y="4035552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>
                  <a:solidFill>
                    <a:srgbClr val="00A6D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account_balance</a:t>
              </a:r>
              <a:endParaRPr sz="2700">
                <a:solidFill>
                  <a:srgbClr val="00A6D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683" name="Google Shape;683;g3e590c21d2e_1_445"/>
            <p:cNvSpPr txBox="1"/>
            <p:nvPr/>
          </p:nvSpPr>
          <p:spPr>
            <a:xfrm>
              <a:off x="6915150" y="4000500"/>
              <a:ext cx="44958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700">
                  <a:solidFill>
                    <a:srgbClr val="14304A"/>
                  </a:solidFill>
                  <a:latin typeface="Arial"/>
                  <a:ea typeface="Arial"/>
                  <a:cs typeface="Arial"/>
                  <a:sym typeface="Arial"/>
                </a:rPr>
                <a:t>Mais burocrática ou informal?</a:t>
              </a:r>
              <a:endParaRPr b="1" sz="1700">
                <a:solidFill>
                  <a:srgbClr val="14304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4" name="Google Shape;684;g3e590c21d2e_1_445"/>
            <p:cNvSpPr txBox="1"/>
            <p:nvPr/>
          </p:nvSpPr>
          <p:spPr>
            <a:xfrm>
              <a:off x="6438900" y="4524375"/>
              <a:ext cx="4972200" cy="1333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1F2933"/>
                  </a:solidFill>
                  <a:latin typeface="Arial"/>
                  <a:ea typeface="Arial"/>
                  <a:cs typeface="Arial"/>
                  <a:sym typeface="Arial"/>
                </a:rPr>
                <a:t>Predominantemente formal e burocrática (própria de hospital de excelência), com ilhas de informalidade nos times de produto e dados.</a:t>
              </a:r>
              <a:endParaRPr b="0" sz="1600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85" name="Google Shape;685;g3e590c21d2e_1_445"/>
          <p:cNvSpPr/>
          <p:nvPr/>
        </p:nvSpPr>
        <p:spPr>
          <a:xfrm>
            <a:off x="11338560" y="6477000"/>
            <a:ext cx="457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b="1" sz="9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AFD"/>
        </a:solidFill>
      </p:bgPr>
    </p:bg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91" name="Google Shape;691;g3e590c21d2e_52_430"/>
          <p:cNvCxnSpPr/>
          <p:nvPr/>
        </p:nvCxnSpPr>
        <p:spPr>
          <a:xfrm>
            <a:off x="320040" y="182880"/>
            <a:ext cx="0" cy="6355200"/>
          </a:xfrm>
          <a:prstGeom prst="straightConnector1">
            <a:avLst/>
          </a:prstGeom>
          <a:noFill/>
          <a:ln cap="flat" cmpd="sng" w="38100">
            <a:solidFill>
              <a:srgbClr val="00A6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92" name="Google Shape;692;g3e590c21d2e_52_430"/>
          <p:cNvSpPr/>
          <p:nvPr/>
        </p:nvSpPr>
        <p:spPr>
          <a:xfrm>
            <a:off x="594360" y="6537960"/>
            <a:ext cx="96927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087"/>
              </a:buClr>
              <a:buSzPts val="570"/>
              <a:buFont typeface="Arial"/>
              <a:buNone/>
            </a:pPr>
            <a:r>
              <a:rPr b="0" i="0" lang="en-US" sz="570" u="none" cap="none" strike="noStrike">
                <a:solidFill>
                  <a:srgbClr val="7A8087"/>
                </a:solidFill>
                <a:latin typeface="Arial"/>
                <a:ea typeface="Arial"/>
                <a:cs typeface="Arial"/>
                <a:sym typeface="Arial"/>
              </a:rPr>
              <a:t>Fontes: Relato Integrado 2025, Hospital Sírio-Libanês; Glassdoor; roteiro analítico fornecido.</a:t>
            </a:r>
            <a:endParaRPr b="0" i="0" sz="5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3" name="Google Shape;693;g3e590c21d2e_52_430"/>
          <p:cNvSpPr/>
          <p:nvPr/>
        </p:nvSpPr>
        <p:spPr>
          <a:xfrm>
            <a:off x="11475720" y="6492240"/>
            <a:ext cx="3657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72BC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rgbClr val="0072BC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94" name="Google Shape;694;g3e590c21d2e_52_4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6964" y="1245961"/>
            <a:ext cx="9987650" cy="470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5" name="Google Shape;695;g3e590c21d2e_52_430" title="Hospital-Sírio-Libanês-logo-removebg-preview (1).png"/>
          <p:cNvPicPr preferRelativeResize="0"/>
          <p:nvPr/>
        </p:nvPicPr>
        <p:blipFill rotWithShape="1">
          <a:blip r:embed="rId4">
            <a:alphaModFix/>
          </a:blip>
          <a:srcRect b="36159" l="21436" r="22330" t="35811"/>
          <a:stretch/>
        </p:blipFill>
        <p:spPr>
          <a:xfrm>
            <a:off x="9784075" y="292602"/>
            <a:ext cx="2057399" cy="615998"/>
          </a:xfrm>
          <a:prstGeom prst="rect">
            <a:avLst/>
          </a:prstGeom>
          <a:noFill/>
          <a:ln>
            <a:noFill/>
          </a:ln>
        </p:spPr>
      </p:pic>
      <p:sp>
        <p:nvSpPr>
          <p:cNvPr id="696" name="Google Shape;696;g3e590c21d2e_52_430"/>
          <p:cNvSpPr/>
          <p:nvPr/>
        </p:nvSpPr>
        <p:spPr>
          <a:xfrm>
            <a:off x="594360" y="292608"/>
            <a:ext cx="74982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3A70"/>
                </a:solidFill>
                <a:latin typeface="Arial"/>
                <a:ea typeface="Arial"/>
                <a:cs typeface="Arial"/>
                <a:sym typeface="Arial"/>
              </a:rPr>
              <a:t>Comunicação interna</a:t>
            </a:r>
            <a:endParaRPr b="1" sz="2400">
              <a:solidFill>
                <a:srgbClr val="003A7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02" name="Google Shape;702;g3e590c21d2e_1_471"/>
          <p:cNvCxnSpPr/>
          <p:nvPr/>
        </p:nvCxnSpPr>
        <p:spPr>
          <a:xfrm>
            <a:off x="320040" y="190500"/>
            <a:ext cx="0" cy="6477000"/>
          </a:xfrm>
          <a:prstGeom prst="straightConnector1">
            <a:avLst/>
          </a:prstGeom>
          <a:solidFill>
            <a:srgbClr val="FFFFFF"/>
          </a:solidFill>
          <a:ln cap="flat" cmpd="sng" w="38100">
            <a:solidFill>
              <a:srgbClr val="00A6D6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703" name="Google Shape;703;g3e590c21d2e_1_471"/>
          <p:cNvPicPr preferRelativeResize="0"/>
          <p:nvPr/>
        </p:nvPicPr>
        <p:blipFill rotWithShape="1">
          <a:blip r:embed="rId4">
            <a:alphaModFix/>
          </a:blip>
          <a:srcRect b="25519" l="0" r="0" t="25519"/>
          <a:stretch/>
        </p:blipFill>
        <p:spPr>
          <a:xfrm>
            <a:off x="9906000" y="285750"/>
            <a:ext cx="1714500" cy="514500"/>
          </a:xfrm>
          <a:prstGeom prst="rect">
            <a:avLst/>
          </a:prstGeom>
          <a:noFill/>
          <a:ln>
            <a:noFill/>
          </a:ln>
        </p:spPr>
      </p:pic>
      <p:sp>
        <p:nvSpPr>
          <p:cNvPr id="704" name="Google Shape;704;g3e590c21d2e_1_471"/>
          <p:cNvSpPr/>
          <p:nvPr/>
        </p:nvSpPr>
        <p:spPr>
          <a:xfrm>
            <a:off x="594360" y="384525"/>
            <a:ext cx="6667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03A70"/>
                </a:solidFill>
                <a:latin typeface="Arial"/>
                <a:ea typeface="Arial"/>
                <a:cs typeface="Arial"/>
                <a:sym typeface="Arial"/>
              </a:rPr>
              <a:t>Cultura forte ou fraca?</a:t>
            </a:r>
            <a:endParaRPr b="1" sz="3200">
              <a:solidFill>
                <a:srgbClr val="003A7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05" name="Google Shape;705;g3e590c21d2e_1_471"/>
          <p:cNvGrpSpPr/>
          <p:nvPr/>
        </p:nvGrpSpPr>
        <p:grpSpPr>
          <a:xfrm>
            <a:off x="594360" y="1524000"/>
            <a:ext cx="11003400" cy="952500"/>
            <a:chOff x="594360" y="1524000"/>
            <a:chExt cx="11003400" cy="952500"/>
          </a:xfrm>
        </p:grpSpPr>
        <p:sp>
          <p:nvSpPr>
            <p:cNvPr id="706" name="Google Shape;706;g3e590c21d2e_1_471"/>
            <p:cNvSpPr/>
            <p:nvPr/>
          </p:nvSpPr>
          <p:spPr>
            <a:xfrm>
              <a:off x="594360" y="1524000"/>
              <a:ext cx="11003400" cy="952500"/>
            </a:xfrm>
            <a:prstGeom prst="roundRect">
              <a:avLst>
                <a:gd fmla="val 12000" name="adj"/>
              </a:avLst>
            </a:prstGeom>
            <a:solidFill>
              <a:srgbClr val="1430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7" name="Google Shape;707;g3e590c21d2e_1_471"/>
            <p:cNvSpPr txBox="1"/>
            <p:nvPr/>
          </p:nvSpPr>
          <p:spPr>
            <a:xfrm>
              <a:off x="784860" y="1524000"/>
              <a:ext cx="106224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E7C96B"/>
                  </a:solidFill>
                  <a:latin typeface="Arial"/>
                  <a:ea typeface="Arial"/>
                  <a:cs typeface="Arial"/>
                  <a:sym typeface="Arial"/>
                </a:rPr>
                <a:t>CULTURA FORTE</a:t>
              </a:r>
              <a:endParaRPr b="1" sz="1800">
                <a:solidFill>
                  <a:srgbClr val="E7C96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Valores claros e amplamente compartilhados, com alta identificação dos colaboradores.</a:t>
              </a:r>
              <a:endParaRPr b="0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08" name="Google Shape;708;g3e590c21d2e_1_471"/>
          <p:cNvGrpSpPr/>
          <p:nvPr/>
        </p:nvGrpSpPr>
        <p:grpSpPr>
          <a:xfrm>
            <a:off x="590550" y="2667000"/>
            <a:ext cx="5357700" cy="3429000"/>
            <a:chOff x="590550" y="2667000"/>
            <a:chExt cx="5357700" cy="3429000"/>
          </a:xfrm>
        </p:grpSpPr>
        <p:sp>
          <p:nvSpPr>
            <p:cNvPr id="709" name="Google Shape;709;g3e590c21d2e_1_471"/>
            <p:cNvSpPr/>
            <p:nvPr/>
          </p:nvSpPr>
          <p:spPr>
            <a:xfrm>
              <a:off x="594360" y="2667000"/>
              <a:ext cx="5353200" cy="3429000"/>
            </a:xfrm>
            <a:prstGeom prst="roundRect">
              <a:avLst>
                <a:gd fmla="val 3333" name="adj"/>
              </a:avLst>
            </a:prstGeom>
            <a:solidFill>
              <a:srgbClr val="FFFFFF"/>
            </a:solidFill>
            <a:ln cap="flat" cmpd="sng" w="9525">
              <a:solidFill>
                <a:srgbClr val="DDEAF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0" name="Google Shape;710;g3e590c21d2e_1_471"/>
            <p:cNvSpPr/>
            <p:nvPr/>
          </p:nvSpPr>
          <p:spPr>
            <a:xfrm>
              <a:off x="594360" y="2667000"/>
              <a:ext cx="5353200" cy="571500"/>
            </a:xfrm>
            <a:prstGeom prst="roundRect">
              <a:avLst>
                <a:gd fmla="val 20000" name="adj"/>
              </a:avLst>
            </a:prstGeom>
            <a:solidFill>
              <a:srgbClr val="EAF4E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711" name="Google Shape;711;g3e590c21d2e_1_47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90550" y="2952750"/>
              <a:ext cx="5357700" cy="2859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12" name="Google Shape;712;g3e590c21d2e_1_471"/>
            <p:cNvSpPr txBox="1"/>
            <p:nvPr/>
          </p:nvSpPr>
          <p:spPr>
            <a:xfrm>
              <a:off x="784860" y="2667000"/>
              <a:ext cx="49722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2E7D5B"/>
                  </a:solidFill>
                  <a:latin typeface="Arial"/>
                  <a:ea typeface="Arial"/>
                  <a:cs typeface="Arial"/>
                  <a:sym typeface="Arial"/>
                </a:rPr>
                <a:t>Valores declarados que SÃO praticados</a:t>
              </a:r>
              <a:endParaRPr b="1" sz="1600">
                <a:solidFill>
                  <a:srgbClr val="2E7D5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3" name="Google Shape;713;g3e590c21d2e_1_471"/>
            <p:cNvSpPr txBox="1"/>
            <p:nvPr/>
          </p:nvSpPr>
          <p:spPr>
            <a:xfrm>
              <a:off x="784860" y="3333750"/>
              <a:ext cx="4972200" cy="257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330200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1F2933"/>
                </a:buClr>
                <a:buSzPts val="1600"/>
                <a:buFont typeface="Arial"/>
                <a:buChar char="●"/>
              </a:pPr>
              <a:r>
                <a:rPr lang="en-US" sz="1600">
                  <a:solidFill>
                    <a:srgbClr val="1F2933"/>
                  </a:solidFill>
                  <a:latin typeface="Arial"/>
                  <a:ea typeface="Arial"/>
                  <a:cs typeface="Arial"/>
                  <a:sym typeface="Arial"/>
                </a:rPr>
                <a:t>Calor humano e cuidado centrado na pessoa</a:t>
              </a:r>
              <a:endParaRPr sz="1600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3020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1F2933"/>
                </a:buClr>
                <a:buSzPts val="1600"/>
                <a:buFont typeface="Arial"/>
                <a:buChar char="●"/>
              </a:pPr>
              <a:r>
                <a:rPr lang="en-US" sz="1600">
                  <a:solidFill>
                    <a:srgbClr val="1F2933"/>
                  </a:solidFill>
                  <a:latin typeface="Arial"/>
                  <a:ea typeface="Arial"/>
                  <a:cs typeface="Arial"/>
                  <a:sym typeface="Arial"/>
                </a:rPr>
                <a:t>Excelência clínica e segurança do paciente</a:t>
              </a:r>
              <a:endParaRPr sz="1600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3020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1F2933"/>
                </a:buClr>
                <a:buSzPts val="1600"/>
                <a:buFont typeface="Arial"/>
                <a:buChar char="●"/>
              </a:pPr>
              <a:r>
                <a:rPr lang="en-US" sz="1600">
                  <a:solidFill>
                    <a:srgbClr val="1F2933"/>
                  </a:solidFill>
                  <a:latin typeface="Arial"/>
                  <a:ea typeface="Arial"/>
                  <a:cs typeface="Arial"/>
                  <a:sym typeface="Arial"/>
                </a:rPr>
                <a:t>Responsabilidade social e filantropia (PROADI-SUS)</a:t>
              </a:r>
              <a:endParaRPr sz="1600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3020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1F2933"/>
                </a:buClr>
                <a:buSzPts val="1600"/>
                <a:buFont typeface="Arial"/>
                <a:buChar char="●"/>
              </a:pPr>
              <a:r>
                <a:rPr lang="en-US" sz="1600">
                  <a:solidFill>
                    <a:srgbClr val="1F2933"/>
                  </a:solidFill>
                  <a:latin typeface="Arial"/>
                  <a:ea typeface="Arial"/>
                  <a:cs typeface="Arial"/>
                  <a:sym typeface="Arial"/>
                </a:rPr>
                <a:t>Diversidade e ética / compliance</a:t>
              </a:r>
              <a:endParaRPr sz="1600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14" name="Google Shape;714;g3e590c21d2e_1_471"/>
          <p:cNvGrpSpPr/>
          <p:nvPr/>
        </p:nvGrpSpPr>
        <p:grpSpPr>
          <a:xfrm>
            <a:off x="6243638" y="2667000"/>
            <a:ext cx="5354152" cy="3429000"/>
            <a:chOff x="6243638" y="2667000"/>
            <a:chExt cx="5354152" cy="3429000"/>
          </a:xfrm>
        </p:grpSpPr>
        <p:sp>
          <p:nvSpPr>
            <p:cNvPr id="715" name="Google Shape;715;g3e590c21d2e_1_471"/>
            <p:cNvSpPr/>
            <p:nvPr/>
          </p:nvSpPr>
          <p:spPr>
            <a:xfrm>
              <a:off x="6244590" y="2667000"/>
              <a:ext cx="5353200" cy="3429000"/>
            </a:xfrm>
            <a:prstGeom prst="roundRect">
              <a:avLst>
                <a:gd fmla="val 3333" name="adj"/>
              </a:avLst>
            </a:prstGeom>
            <a:solidFill>
              <a:srgbClr val="FFFFFF"/>
            </a:solidFill>
            <a:ln cap="flat" cmpd="sng" w="9525">
              <a:solidFill>
                <a:srgbClr val="DDEAF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6" name="Google Shape;716;g3e590c21d2e_1_471"/>
            <p:cNvSpPr/>
            <p:nvPr/>
          </p:nvSpPr>
          <p:spPr>
            <a:xfrm>
              <a:off x="6244590" y="2667000"/>
              <a:ext cx="5353200" cy="571500"/>
            </a:xfrm>
            <a:prstGeom prst="roundRect">
              <a:avLst>
                <a:gd fmla="val 20000" name="adj"/>
              </a:avLst>
            </a:prstGeom>
            <a:solidFill>
              <a:srgbClr val="F7ECE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717" name="Google Shape;717;g3e590c21d2e_1_47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6243638" y="2952750"/>
              <a:ext cx="2900400" cy="2859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18" name="Google Shape;718;g3e590c21d2e_1_471"/>
            <p:cNvSpPr txBox="1"/>
            <p:nvPr/>
          </p:nvSpPr>
          <p:spPr>
            <a:xfrm>
              <a:off x="6435090" y="2667000"/>
              <a:ext cx="49722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B5524A"/>
                  </a:solidFill>
                  <a:latin typeface="Arial"/>
                  <a:ea typeface="Arial"/>
                  <a:cs typeface="Arial"/>
                  <a:sym typeface="Arial"/>
                </a:rPr>
                <a:t>V</a:t>
              </a:r>
              <a:r>
                <a:rPr b="1" lang="en-US" sz="1600">
                  <a:solidFill>
                    <a:srgbClr val="B5524A"/>
                  </a:solidFill>
                  <a:latin typeface="Arial"/>
                  <a:ea typeface="Arial"/>
                  <a:cs typeface="Arial"/>
                  <a:sym typeface="Arial"/>
                </a:rPr>
                <a:t>alores com lacuna entre discurso e prática</a:t>
              </a:r>
              <a:endParaRPr b="1" sz="1600">
                <a:solidFill>
                  <a:srgbClr val="B5524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9" name="Google Shape;719;g3e590c21d2e_1_471"/>
            <p:cNvSpPr txBox="1"/>
            <p:nvPr/>
          </p:nvSpPr>
          <p:spPr>
            <a:xfrm>
              <a:off x="6435090" y="3333750"/>
              <a:ext cx="4972200" cy="257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330200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1F2933"/>
                </a:buClr>
                <a:buSzPts val="1600"/>
                <a:buFont typeface="Arial"/>
                <a:buChar char="●"/>
              </a:pPr>
              <a:r>
                <a:rPr b="1" lang="en-US" sz="1600">
                  <a:solidFill>
                    <a:srgbClr val="1F2933"/>
                  </a:solidFill>
                  <a:latin typeface="Arial"/>
                  <a:ea typeface="Arial"/>
                  <a:cs typeface="Arial"/>
                  <a:sym typeface="Arial"/>
                </a:rPr>
                <a:t>"Valorização das pessoas":</a:t>
              </a:r>
              <a:r>
                <a:rPr lang="en-US" sz="1600">
                  <a:solidFill>
                    <a:srgbClr val="1F2933"/>
                  </a:solidFill>
                  <a:latin typeface="Arial"/>
                  <a:ea typeface="Arial"/>
                  <a:cs typeface="Arial"/>
                  <a:sym typeface="Arial"/>
                </a:rPr>
                <a:t> remuneração e piso vistos como aquém em parte dos cargos</a:t>
              </a:r>
              <a:endParaRPr sz="1600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30200" lvl="0" marL="457200" rtl="0" algn="l">
                <a:spcBef>
                  <a:spcPts val="1125"/>
                </a:spcBef>
                <a:spcAft>
                  <a:spcPts val="0"/>
                </a:spcAft>
                <a:buClr>
                  <a:srgbClr val="1F2933"/>
                </a:buClr>
                <a:buSzPts val="1600"/>
                <a:buFont typeface="Arial"/>
                <a:buChar char="●"/>
              </a:pPr>
              <a:r>
                <a:rPr b="1" lang="en-US" sz="1600">
                  <a:solidFill>
                    <a:srgbClr val="1F2933"/>
                  </a:solidFill>
                  <a:latin typeface="Arial"/>
                  <a:ea typeface="Arial"/>
                  <a:cs typeface="Arial"/>
                  <a:sym typeface="Arial"/>
                </a:rPr>
                <a:t>Meritocracia:</a:t>
              </a:r>
              <a:r>
                <a:rPr lang="en-US" sz="1600">
                  <a:solidFill>
                    <a:srgbClr val="1F2933"/>
                  </a:solidFill>
                  <a:latin typeface="Arial"/>
                  <a:ea typeface="Arial"/>
                  <a:cs typeface="Arial"/>
                  <a:sym typeface="Arial"/>
                </a:rPr>
                <a:t> promoção lenta e ligada a tempo de casa/relação com gestor</a:t>
              </a:r>
              <a:endParaRPr sz="1600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30200" lvl="0" marL="457200" rtl="0" algn="l">
                <a:spcBef>
                  <a:spcPts val="1125"/>
                </a:spcBef>
                <a:spcAft>
                  <a:spcPts val="0"/>
                </a:spcAft>
                <a:buClr>
                  <a:srgbClr val="1F2933"/>
                </a:buClr>
                <a:buSzPts val="1600"/>
                <a:buFont typeface="Arial"/>
                <a:buChar char="●"/>
              </a:pPr>
              <a:r>
                <a:rPr b="1" lang="en-US" sz="1600">
                  <a:solidFill>
                    <a:srgbClr val="1F2933"/>
                  </a:solidFill>
                  <a:latin typeface="Arial"/>
                  <a:ea typeface="Arial"/>
                  <a:cs typeface="Arial"/>
                  <a:sym typeface="Arial"/>
                </a:rPr>
                <a:t>Transparência:</a:t>
              </a:r>
              <a:r>
                <a:rPr lang="en-US" sz="1600">
                  <a:solidFill>
                    <a:srgbClr val="1F2933"/>
                  </a:solidFill>
                  <a:latin typeface="Arial"/>
                  <a:ea typeface="Arial"/>
                  <a:cs typeface="Arial"/>
                  <a:sym typeface="Arial"/>
                </a:rPr>
                <a:t> gestão de sugestões e de carreira pouco clara em algumas áreas</a:t>
              </a:r>
              <a:endParaRPr sz="1600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20" name="Google Shape;720;g3e590c21d2e_1_471"/>
          <p:cNvSpPr/>
          <p:nvPr/>
        </p:nvSpPr>
        <p:spPr>
          <a:xfrm>
            <a:off x="594360" y="6191250"/>
            <a:ext cx="11003400" cy="381000"/>
          </a:xfrm>
          <a:prstGeom prst="roundRect">
            <a:avLst>
              <a:gd fmla="val 15000" name="adj"/>
            </a:avLst>
          </a:prstGeom>
          <a:solidFill>
            <a:srgbClr val="EAF5F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1" name="Google Shape;721;g3e590c21d2e_1_471"/>
          <p:cNvSpPr/>
          <p:nvPr/>
        </p:nvSpPr>
        <p:spPr>
          <a:xfrm>
            <a:off x="11338560" y="644652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g3e590c21d2e_1_49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AF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28" name="Google Shape;728;g3e590c21d2e_1_492"/>
          <p:cNvCxnSpPr/>
          <p:nvPr/>
        </p:nvCxnSpPr>
        <p:spPr>
          <a:xfrm>
            <a:off x="320040" y="182880"/>
            <a:ext cx="0" cy="6355200"/>
          </a:xfrm>
          <a:prstGeom prst="straightConnector1">
            <a:avLst/>
          </a:prstGeom>
          <a:solidFill>
            <a:srgbClr val="FFFFFF"/>
          </a:solidFill>
          <a:ln cap="flat" cmpd="sng" w="38100">
            <a:solidFill>
              <a:srgbClr val="00A6D6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729" name="Google Shape;729;g3e590c21d2e_1_492"/>
          <p:cNvPicPr preferRelativeResize="0"/>
          <p:nvPr/>
        </p:nvPicPr>
        <p:blipFill rotWithShape="1">
          <a:blip r:embed="rId4">
            <a:alphaModFix/>
          </a:blip>
          <a:srcRect b="25519" l="0" r="0" t="25519"/>
          <a:stretch/>
        </p:blipFill>
        <p:spPr>
          <a:xfrm>
            <a:off x="9906000" y="285750"/>
            <a:ext cx="1714500" cy="514500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g3e590c21d2e_1_492"/>
          <p:cNvSpPr/>
          <p:nvPr/>
        </p:nvSpPr>
        <p:spPr>
          <a:xfrm>
            <a:off x="590550" y="571500"/>
            <a:ext cx="110586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03A70"/>
                </a:solidFill>
                <a:latin typeface="Arial"/>
                <a:ea typeface="Arial"/>
                <a:cs typeface="Arial"/>
                <a:sym typeface="Arial"/>
              </a:rPr>
              <a:t>Plano de fortalecimento: manter, eliminar, iniciar</a:t>
            </a:r>
            <a:endParaRPr b="1" sz="3200">
              <a:solidFill>
                <a:srgbClr val="003A7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1" name="Google Shape;731;g3e590c21d2e_1_492"/>
          <p:cNvSpPr/>
          <p:nvPr/>
        </p:nvSpPr>
        <p:spPr>
          <a:xfrm>
            <a:off x="590550" y="1714500"/>
            <a:ext cx="3524400" cy="4000500"/>
          </a:xfrm>
          <a:prstGeom prst="roundRect">
            <a:avLst>
              <a:gd fmla="val 3243" name="adj"/>
            </a:avLst>
          </a:prstGeom>
          <a:solidFill>
            <a:srgbClr val="FFFFFF"/>
          </a:solidFill>
          <a:ln cap="flat" cmpd="sng" w="9525">
            <a:solidFill>
              <a:srgbClr val="DDEAF3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2" name="Google Shape;732;g3e590c21d2e_1_492"/>
          <p:cNvSpPr/>
          <p:nvPr/>
        </p:nvSpPr>
        <p:spPr>
          <a:xfrm>
            <a:off x="590550" y="1714500"/>
            <a:ext cx="3524400" cy="571500"/>
          </a:xfrm>
          <a:prstGeom prst="rect">
            <a:avLst/>
          </a:prstGeom>
          <a:solidFill>
            <a:srgbClr val="EAF4E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33" name="Google Shape;733;g3e590c21d2e_1_49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1050" y="1857375"/>
            <a:ext cx="285900" cy="285900"/>
          </a:xfrm>
          <a:prstGeom prst="rect">
            <a:avLst/>
          </a:prstGeom>
          <a:noFill/>
          <a:ln>
            <a:noFill/>
          </a:ln>
        </p:spPr>
      </p:pic>
      <p:sp>
        <p:nvSpPr>
          <p:cNvPr id="734" name="Google Shape;734;g3e590c21d2e_1_492"/>
          <p:cNvSpPr/>
          <p:nvPr/>
        </p:nvSpPr>
        <p:spPr>
          <a:xfrm>
            <a:off x="1162050" y="1714500"/>
            <a:ext cx="23814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2E7D5B"/>
                </a:solidFill>
                <a:latin typeface="Arial"/>
                <a:ea typeface="Arial"/>
                <a:cs typeface="Arial"/>
                <a:sym typeface="Arial"/>
              </a:rPr>
              <a:t>MANTER</a:t>
            </a:r>
            <a:endParaRPr b="1" sz="1600">
              <a:solidFill>
                <a:srgbClr val="2E7D5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5" name="Google Shape;735;g3e590c21d2e_1_492"/>
          <p:cNvSpPr/>
          <p:nvPr/>
        </p:nvSpPr>
        <p:spPr>
          <a:xfrm>
            <a:off x="781050" y="2381250"/>
            <a:ext cx="3143400" cy="3238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400"/>
              <a:buFont typeface="Arial"/>
              <a:buChar char="●"/>
            </a:pPr>
            <a:r>
              <a:rPr b="0" lang="en-US" sz="1400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O propósito filantrópico e o "calor humano" como cola cultural</a:t>
            </a:r>
            <a:endParaRPr b="0" sz="1400">
              <a:solidFill>
                <a:srgbClr val="1F29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1500"/>
              </a:spcBef>
              <a:spcAft>
                <a:spcPts val="0"/>
              </a:spcAft>
              <a:buClr>
                <a:srgbClr val="1F2933"/>
              </a:buClr>
              <a:buSzPts val="1400"/>
              <a:buFont typeface="Arial"/>
              <a:buChar char="●"/>
            </a:pPr>
            <a:r>
              <a:rPr b="0" lang="en-US" sz="1400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Benefícios e programas de bem-estar ("Cuidando de Quem Cuida")</a:t>
            </a:r>
            <a:endParaRPr b="0" sz="1400">
              <a:solidFill>
                <a:srgbClr val="1F29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1500"/>
              </a:spcBef>
              <a:spcAft>
                <a:spcPts val="0"/>
              </a:spcAft>
              <a:buClr>
                <a:srgbClr val="1F2933"/>
              </a:buClr>
              <a:buSzPts val="1400"/>
              <a:buFont typeface="Arial"/>
              <a:buChar char="●"/>
            </a:pPr>
            <a:r>
              <a:rPr b="0" lang="en-US" sz="1400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Excelência clínica, acreditações e segurança do paciente</a:t>
            </a:r>
            <a:endParaRPr b="0" sz="1400">
              <a:solidFill>
                <a:srgbClr val="1F29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1500"/>
              </a:spcBef>
              <a:spcAft>
                <a:spcPts val="0"/>
              </a:spcAft>
              <a:buClr>
                <a:srgbClr val="1F2933"/>
              </a:buClr>
              <a:buSzPts val="1400"/>
              <a:buFont typeface="Arial"/>
              <a:buChar char="●"/>
            </a:pPr>
            <a:r>
              <a:rPr b="0" lang="en-US" sz="1400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Investimento em ensino, pesquisa e diversidade</a:t>
            </a:r>
            <a:endParaRPr b="0" sz="1400">
              <a:solidFill>
                <a:srgbClr val="1F29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6" name="Google Shape;736;g3e590c21d2e_1_492"/>
          <p:cNvSpPr/>
          <p:nvPr/>
        </p:nvSpPr>
        <p:spPr>
          <a:xfrm>
            <a:off x="4333875" y="1714500"/>
            <a:ext cx="3524400" cy="4000500"/>
          </a:xfrm>
          <a:prstGeom prst="roundRect">
            <a:avLst>
              <a:gd fmla="val 3243" name="adj"/>
            </a:avLst>
          </a:prstGeom>
          <a:solidFill>
            <a:srgbClr val="FFFFFF"/>
          </a:solidFill>
          <a:ln cap="flat" cmpd="sng" w="9525">
            <a:solidFill>
              <a:srgbClr val="DDEAF3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7" name="Google Shape;737;g3e590c21d2e_1_492"/>
          <p:cNvSpPr/>
          <p:nvPr/>
        </p:nvSpPr>
        <p:spPr>
          <a:xfrm>
            <a:off x="4333875" y="1714500"/>
            <a:ext cx="3524400" cy="571500"/>
          </a:xfrm>
          <a:prstGeom prst="rect">
            <a:avLst/>
          </a:prstGeom>
          <a:solidFill>
            <a:srgbClr val="F7ECE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38" name="Google Shape;738;g3e590c21d2e_1_49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524375" y="1857375"/>
            <a:ext cx="285900" cy="285900"/>
          </a:xfrm>
          <a:prstGeom prst="rect">
            <a:avLst/>
          </a:prstGeom>
          <a:noFill/>
          <a:ln>
            <a:noFill/>
          </a:ln>
        </p:spPr>
      </p:pic>
      <p:sp>
        <p:nvSpPr>
          <p:cNvPr id="739" name="Google Shape;739;g3e590c21d2e_1_492"/>
          <p:cNvSpPr/>
          <p:nvPr/>
        </p:nvSpPr>
        <p:spPr>
          <a:xfrm>
            <a:off x="4905375" y="1714500"/>
            <a:ext cx="23814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B5524A"/>
                </a:solidFill>
                <a:latin typeface="Arial"/>
                <a:ea typeface="Arial"/>
                <a:cs typeface="Arial"/>
                <a:sym typeface="Arial"/>
              </a:rPr>
              <a:t>ELIMINAR</a:t>
            </a:r>
            <a:endParaRPr b="1" sz="1600">
              <a:solidFill>
                <a:srgbClr val="B5524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0" name="Google Shape;740;g3e590c21d2e_1_492"/>
          <p:cNvSpPr/>
          <p:nvPr/>
        </p:nvSpPr>
        <p:spPr>
          <a:xfrm>
            <a:off x="4524375" y="2381250"/>
            <a:ext cx="3143400" cy="3238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400"/>
              <a:buFont typeface="Arial"/>
              <a:buChar char="●"/>
            </a:pPr>
            <a:r>
              <a:rPr b="0" lang="en-US" sz="1400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Critérios de promoção baseados em tempo de casa ou afinidade</a:t>
            </a:r>
            <a:endParaRPr b="0" sz="1400">
              <a:solidFill>
                <a:srgbClr val="1F29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1500"/>
              </a:spcBef>
              <a:spcAft>
                <a:spcPts val="0"/>
              </a:spcAft>
              <a:buClr>
                <a:srgbClr val="1F2933"/>
              </a:buClr>
              <a:buSzPts val="1400"/>
              <a:buFont typeface="Arial"/>
              <a:buChar char="●"/>
            </a:pPr>
            <a:r>
              <a:rPr b="0" lang="en-US" sz="1400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Microgerenciamento e "apadrinhamento" em algumas lideranças</a:t>
            </a:r>
            <a:endParaRPr b="0" sz="1400">
              <a:solidFill>
                <a:srgbClr val="1F29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1500"/>
              </a:spcBef>
              <a:spcAft>
                <a:spcPts val="0"/>
              </a:spcAft>
              <a:buClr>
                <a:srgbClr val="1F2933"/>
              </a:buClr>
              <a:buSzPts val="1400"/>
              <a:buFont typeface="Arial"/>
              <a:buChar char="●"/>
            </a:pPr>
            <a:r>
              <a:rPr b="0" lang="en-US" sz="1400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Burocracia que engessa áreas administrativas</a:t>
            </a:r>
            <a:endParaRPr b="0" sz="1400">
              <a:solidFill>
                <a:srgbClr val="1F29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1500"/>
              </a:spcBef>
              <a:spcAft>
                <a:spcPts val="0"/>
              </a:spcAft>
              <a:buClr>
                <a:srgbClr val="1F2933"/>
              </a:buClr>
              <a:buSzPts val="1400"/>
              <a:buFont typeface="Arial"/>
              <a:buChar char="●"/>
            </a:pPr>
            <a:r>
              <a:rPr b="0" lang="en-US" sz="1400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Defasagem salarial frente à carga em cargos específicos</a:t>
            </a:r>
            <a:endParaRPr b="0" sz="1400">
              <a:solidFill>
                <a:srgbClr val="1F29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1" name="Google Shape;741;g3e590c21d2e_1_492"/>
          <p:cNvSpPr/>
          <p:nvPr/>
        </p:nvSpPr>
        <p:spPr>
          <a:xfrm>
            <a:off x="8077200" y="1714500"/>
            <a:ext cx="3524400" cy="4000500"/>
          </a:xfrm>
          <a:prstGeom prst="roundRect">
            <a:avLst>
              <a:gd fmla="val 3243" name="adj"/>
            </a:avLst>
          </a:prstGeom>
          <a:solidFill>
            <a:srgbClr val="FFFFFF"/>
          </a:solidFill>
          <a:ln cap="flat" cmpd="sng" w="9525">
            <a:solidFill>
              <a:srgbClr val="DDEAF3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2" name="Google Shape;742;g3e590c21d2e_1_492"/>
          <p:cNvSpPr/>
          <p:nvPr/>
        </p:nvSpPr>
        <p:spPr>
          <a:xfrm>
            <a:off x="8077200" y="1714500"/>
            <a:ext cx="3524400" cy="571500"/>
          </a:xfrm>
          <a:prstGeom prst="rect">
            <a:avLst/>
          </a:prstGeom>
          <a:solidFill>
            <a:srgbClr val="E9F1F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43" name="Google Shape;743;g3e590c21d2e_1_49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267700" y="1857375"/>
            <a:ext cx="285900" cy="285900"/>
          </a:xfrm>
          <a:prstGeom prst="rect">
            <a:avLst/>
          </a:prstGeom>
          <a:noFill/>
          <a:ln>
            <a:noFill/>
          </a:ln>
        </p:spPr>
      </p:pic>
      <p:sp>
        <p:nvSpPr>
          <p:cNvPr id="744" name="Google Shape;744;g3e590c21d2e_1_492"/>
          <p:cNvSpPr/>
          <p:nvPr/>
        </p:nvSpPr>
        <p:spPr>
          <a:xfrm>
            <a:off x="8648700" y="1714500"/>
            <a:ext cx="23814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2E6F8E"/>
                </a:solidFill>
                <a:latin typeface="Arial"/>
                <a:ea typeface="Arial"/>
                <a:cs typeface="Arial"/>
                <a:sym typeface="Arial"/>
              </a:rPr>
              <a:t>INICIAR</a:t>
            </a:r>
            <a:endParaRPr b="1" sz="1600">
              <a:solidFill>
                <a:srgbClr val="2E6F8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5" name="Google Shape;745;g3e590c21d2e_1_492"/>
          <p:cNvSpPr/>
          <p:nvPr/>
        </p:nvSpPr>
        <p:spPr>
          <a:xfrm>
            <a:off x="8267700" y="2381250"/>
            <a:ext cx="3143400" cy="3238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400"/>
              <a:buFont typeface="Arial"/>
              <a:buChar char="●"/>
            </a:pPr>
            <a:r>
              <a:rPr b="0" lang="en-US" sz="1400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Plano de carreira transparente, com metas e mérito claros</a:t>
            </a:r>
            <a:endParaRPr b="0" sz="1400">
              <a:solidFill>
                <a:srgbClr val="1F29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1500"/>
              </a:spcBef>
              <a:spcAft>
                <a:spcPts val="0"/>
              </a:spcAft>
              <a:buClr>
                <a:srgbClr val="1F2933"/>
              </a:buClr>
              <a:buSzPts val="1400"/>
              <a:buFont typeface="Arial"/>
              <a:buChar char="●"/>
            </a:pPr>
            <a:r>
              <a:rPr b="0" lang="en-US" sz="1400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Programa de desenvolvimento de líderes (gestão humanizada)</a:t>
            </a:r>
            <a:endParaRPr b="0" sz="1400">
              <a:solidFill>
                <a:srgbClr val="1F29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1500"/>
              </a:spcBef>
              <a:spcAft>
                <a:spcPts val="0"/>
              </a:spcAft>
              <a:buClr>
                <a:srgbClr val="1F2933"/>
              </a:buClr>
              <a:buSzPts val="1400"/>
              <a:buFont typeface="Arial"/>
              <a:buChar char="●"/>
            </a:pPr>
            <a:r>
              <a:rPr b="0" lang="en-US" sz="1400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Canais ágeis para captar e dar retorno a ideias dos times</a:t>
            </a:r>
            <a:endParaRPr b="0" sz="1400">
              <a:solidFill>
                <a:srgbClr val="1F29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1500"/>
              </a:spcBef>
              <a:spcAft>
                <a:spcPts val="0"/>
              </a:spcAft>
              <a:buClr>
                <a:srgbClr val="1F2933"/>
              </a:buClr>
              <a:buSzPts val="1400"/>
              <a:buFont typeface="Arial"/>
              <a:buChar char="●"/>
            </a:pPr>
            <a:r>
              <a:rPr b="0" lang="en-US" sz="1400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Escuta ativa do clima para reduzir desgaste e turnover</a:t>
            </a:r>
            <a:endParaRPr b="0" sz="1400">
              <a:solidFill>
                <a:srgbClr val="1F29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6" name="Google Shape;746;g3e590c21d2e_1_492"/>
          <p:cNvSpPr/>
          <p:nvPr/>
        </p:nvSpPr>
        <p:spPr>
          <a:xfrm>
            <a:off x="11334750" y="6477000"/>
            <a:ext cx="457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b="1" sz="9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52" name="Google Shape;752;g3e590c21d2e_175_13"/>
          <p:cNvCxnSpPr/>
          <p:nvPr/>
        </p:nvCxnSpPr>
        <p:spPr>
          <a:xfrm>
            <a:off x="320040" y="182880"/>
            <a:ext cx="0" cy="6355200"/>
          </a:xfrm>
          <a:prstGeom prst="straightConnector1">
            <a:avLst/>
          </a:prstGeom>
          <a:solidFill>
            <a:srgbClr val="FFFFFF"/>
          </a:solidFill>
          <a:ln cap="flat" cmpd="sng" w="38100">
            <a:solidFill>
              <a:srgbClr val="00A6D6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753" name="Google Shape;753;g3e590c21d2e_175_13"/>
          <p:cNvPicPr preferRelativeResize="0"/>
          <p:nvPr/>
        </p:nvPicPr>
        <p:blipFill rotWithShape="1">
          <a:blip r:embed="rId4">
            <a:alphaModFix/>
          </a:blip>
          <a:srcRect b="25519" l="0" r="0" t="25519"/>
          <a:stretch/>
        </p:blipFill>
        <p:spPr>
          <a:xfrm>
            <a:off x="3405000" y="504975"/>
            <a:ext cx="5382000" cy="1615200"/>
          </a:xfrm>
          <a:prstGeom prst="rect">
            <a:avLst/>
          </a:prstGeom>
          <a:noFill/>
          <a:ln>
            <a:noFill/>
          </a:ln>
        </p:spPr>
      </p:pic>
      <p:sp>
        <p:nvSpPr>
          <p:cNvPr id="754" name="Google Shape;754;g3e590c21d2e_175_13"/>
          <p:cNvSpPr/>
          <p:nvPr/>
        </p:nvSpPr>
        <p:spPr>
          <a:xfrm>
            <a:off x="320050" y="2763550"/>
            <a:ext cx="11871900" cy="1470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500">
                <a:solidFill>
                  <a:srgbClr val="003A70"/>
                </a:solidFill>
                <a:latin typeface="Arial"/>
                <a:ea typeface="Arial"/>
                <a:cs typeface="Arial"/>
                <a:sym typeface="Arial"/>
              </a:rPr>
              <a:t>Obrigado!</a:t>
            </a:r>
            <a:endParaRPr b="1" sz="5500">
              <a:solidFill>
                <a:srgbClr val="003A7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5" name="Google Shape;755;g3e590c21d2e_175_13"/>
          <p:cNvSpPr/>
          <p:nvPr/>
        </p:nvSpPr>
        <p:spPr>
          <a:xfrm>
            <a:off x="11334750" y="6477000"/>
            <a:ext cx="457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b="1" sz="9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2026-05-16T00:35:50Z</dcterms:created>
  <dc:creator>OpenAI</dc:creator>
</cp:coreProperties>
</file>