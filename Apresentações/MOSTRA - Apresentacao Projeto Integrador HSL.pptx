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9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1Mk1ZnNI8QGU/p2sSk2rPJGSe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8A72F0C-D88C-46C8-96D0-7D1F176F7028}">
  <a:tblStyle styleId="{38A72F0C-D88C-46C8-96D0-7D1F176F702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0F6119E3-4C64-42CC-9857-2A4062712D1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8ad20cbe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3a8ad20cbe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8e4c6bd6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g3e8e4c6bd63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8e4c6bd63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8e4c6bd63_0_1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8e4c6bd63_0_4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e8e4c6bd63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a8ad20cbe9_0_1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a8ad20cbe9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8e4c6bd6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8e4c6bd6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89000" cy="164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6693245"/>
            <a:ext cx="12189000" cy="164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86645" y="677525"/>
            <a:ext cx="27498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PROJETO INTEGRADOR I</a:t>
            </a:r>
            <a:endParaRPr b="0" i="0" sz="1400" u="none" cap="none" strike="noStrike">
              <a:solidFill>
                <a:srgbClr val="1E6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86650" y="1070400"/>
            <a:ext cx="62664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Hospital Sírio-Libanês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86650" y="2134675"/>
            <a:ext cx="34923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Faculdade de Tecnologia de Votorantim</a:t>
            </a:r>
            <a:b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Curso de Ciência de Dados para Negócios</a:t>
            </a:r>
            <a:b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5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1º semestre/2026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86650" y="4269213"/>
            <a:ext cx="2749800" cy="12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Equipe: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Daniel Carvalho 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Danilo Willy Moreira Torres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Douglas Rafael Assis Mendes</a:t>
            </a:r>
            <a:b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Fabiane Raquel Motter </a:t>
            </a:r>
            <a:endParaRPr b="0" i="0" sz="1300" u="none" cap="none" strike="noStrike">
              <a:solidFill>
                <a:srgbClr val="1F293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- Felipe Duran Maciel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" title="hospital-sicc81rio-libanecc82s_1.jp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3042" y="2441400"/>
            <a:ext cx="4975257" cy="37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8ad20cbe9_2_0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g3a8ad20cbe9_2_0" title="ChatGPT Image 25 de mai. de 2026, 15_52_1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835387"/>
            <a:ext cx="11887176" cy="3964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g3a8ad20cbe9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g3a8ad20cbe9_2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a8ad20cbe9_2_0"/>
          <p:cNvSpPr txBox="1"/>
          <p:nvPr/>
        </p:nvSpPr>
        <p:spPr>
          <a:xfrm>
            <a:off x="609650" y="326300"/>
            <a:ext cx="73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Hospital Sírio-Libanês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g3a8ad20cbe9_2_0" title="sirio_libanes-removebg-preview.png"/>
          <p:cNvPicPr preferRelativeResize="0"/>
          <p:nvPr/>
        </p:nvPicPr>
        <p:blipFill rotWithShape="1">
          <a:blip r:embed="rId6">
            <a:alphaModFix/>
          </a:blip>
          <a:srcRect b="37940" l="36984" r="38151" t="24290"/>
          <a:stretch/>
        </p:blipFill>
        <p:spPr>
          <a:xfrm>
            <a:off x="4623825" y="275175"/>
            <a:ext cx="728675" cy="70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a8ad20cbe9_2_0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67085"/>
                </a:solidFill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67085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16638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/>
        </p:nvSpPr>
        <p:spPr>
          <a:xfrm>
            <a:off x="608077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251A5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900" u="none" cap="none" strike="noStrike">
              <a:solidFill>
                <a:srgbClr val="013E8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 txBox="1"/>
          <p:nvPr/>
        </p:nvSpPr>
        <p:spPr>
          <a:xfrm>
            <a:off x="626365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Unidades de saúde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396996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 txBox="1"/>
          <p:nvPr/>
        </p:nvSpPr>
        <p:spPr>
          <a:xfrm>
            <a:off x="3488436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3A4EF"/>
                </a:solidFill>
                <a:latin typeface="Arial"/>
                <a:ea typeface="Arial"/>
                <a:cs typeface="Arial"/>
                <a:sym typeface="Arial"/>
              </a:rPr>
              <a:t>586</a:t>
            </a:r>
            <a:endParaRPr b="0" i="0" sz="4000" u="none" cap="none" strike="noStrike">
              <a:solidFill>
                <a:srgbClr val="03A4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3506723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Leitos próprios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6277354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6368793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13E8E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b="1" i="0" sz="4000" u="none" cap="none" strike="noStrike">
              <a:solidFill>
                <a:srgbClr val="013E8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387082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Salas de cirurgia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9157713" y="1392112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9249152" y="1757936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10.154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 txBox="1"/>
          <p:nvPr/>
        </p:nvSpPr>
        <p:spPr>
          <a:xfrm>
            <a:off x="9267440" y="2689124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Colaboradores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16638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608077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5.300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626525" y="5112625"/>
            <a:ext cx="229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Médicos no corpo clínico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396996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 txBox="1"/>
          <p:nvPr/>
        </p:nvSpPr>
        <p:spPr>
          <a:xfrm>
            <a:off x="3488436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38.684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 txBox="1"/>
          <p:nvPr/>
        </p:nvSpPr>
        <p:spPr>
          <a:xfrm>
            <a:off x="3506798" y="5112620"/>
            <a:ext cx="22950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Internações em 2025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277354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6368793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9688"/>
                </a:solidFill>
                <a:latin typeface="Arial"/>
                <a:ea typeface="Arial"/>
                <a:cs typeface="Arial"/>
                <a:sym typeface="Arial"/>
              </a:rPr>
              <a:t>76 mil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387157" y="5153495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Cirurgias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9157713" y="3969508"/>
            <a:ext cx="2514600" cy="1912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0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 txBox="1"/>
          <p:nvPr/>
        </p:nvSpPr>
        <p:spPr>
          <a:xfrm>
            <a:off x="9249152" y="4335332"/>
            <a:ext cx="23316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E60A0"/>
                </a:solidFill>
                <a:latin typeface="Arial"/>
                <a:ea typeface="Arial"/>
                <a:cs typeface="Arial"/>
                <a:sym typeface="Arial"/>
              </a:rPr>
              <a:t>180.188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9267490" y="5153495"/>
            <a:ext cx="2295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Pacientes-dia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609650" y="326300"/>
            <a:ext cx="7334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Hospital Sírio-Libanês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5" title="sirio_libanes-removebg-preview.png"/>
          <p:cNvPicPr preferRelativeResize="0"/>
          <p:nvPr/>
        </p:nvPicPr>
        <p:blipFill rotWithShape="1">
          <a:blip r:embed="rId3">
            <a:alphaModFix/>
          </a:blip>
          <a:srcRect b="37940" l="36984" r="38151" t="24290"/>
          <a:stretch/>
        </p:blipFill>
        <p:spPr>
          <a:xfrm>
            <a:off x="4623825" y="275175"/>
            <a:ext cx="728675" cy="70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8168650" y="1284375"/>
            <a:ext cx="3429000" cy="350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381488" y="1315425"/>
            <a:ext cx="3429000" cy="350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4381488" y="1612125"/>
            <a:ext cx="73200" cy="28464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594350" y="1346463"/>
            <a:ext cx="3429000" cy="350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594350" y="1643163"/>
            <a:ext cx="73200" cy="28464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/>
        </p:nvSpPr>
        <p:spPr>
          <a:xfrm>
            <a:off x="594360" y="347472"/>
            <a:ext cx="8778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67085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58950" y="1463709"/>
            <a:ext cx="32643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1800">
                <a:solidFill>
                  <a:srgbClr val="03A4EF"/>
                </a:solidFill>
              </a:rPr>
              <a:t>Projeto Integrador: Compreendendo o Negócio</a:t>
            </a:r>
            <a:endParaRPr b="0" i="0" sz="1800" u="none" cap="none" strike="noStrike">
              <a:solidFill>
                <a:srgbClr val="03A4E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4510672" y="1493900"/>
            <a:ext cx="3039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1800">
                <a:solidFill>
                  <a:srgbClr val="1E60A0"/>
                </a:solidFill>
              </a:rPr>
              <a:t>Produção de Textos e Metodologia Científica Tecnológica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8344200" y="1493897"/>
            <a:ext cx="24462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Negócios e Organizações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2C4A"/>
                </a:solidFill>
              </a:rPr>
              <a:t>O Que Aprendemos?</a:t>
            </a: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754392" y="2222150"/>
            <a:ext cx="3108900" cy="12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Git/Github.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Metodologia Scrum.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Notion (Kanban).</a:t>
            </a:r>
            <a:endParaRPr sz="20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Zotero (Referências).</a:t>
            </a:r>
            <a:endParaRPr sz="1800">
              <a:solidFill>
                <a:srgbClr val="1F2937"/>
              </a:solidFill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500192" y="2316527"/>
            <a:ext cx="31089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Desenvolvimento de técnicas de pesquisa acadêmica (ABNT).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Semiótica Aplicada: PI.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8168650" y="1581075"/>
            <a:ext cx="73200" cy="28464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 txBox="1"/>
          <p:nvPr/>
        </p:nvSpPr>
        <p:spPr>
          <a:xfrm>
            <a:off x="8328692" y="2131662"/>
            <a:ext cx="3108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A Empresa.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Micro e Macro Ambiente.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Planejamento Estratégico.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8e4c6bd63_0_132"/>
          <p:cNvSpPr/>
          <p:nvPr/>
        </p:nvSpPr>
        <p:spPr>
          <a:xfrm>
            <a:off x="650025" y="1190000"/>
            <a:ext cx="8882100" cy="438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CE8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e8e4c6bd63_0_132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e8e4c6bd63_0_132"/>
          <p:cNvSpPr txBox="1"/>
          <p:nvPr/>
        </p:nvSpPr>
        <p:spPr>
          <a:xfrm>
            <a:off x="594360" y="347472"/>
            <a:ext cx="8778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8e4c6bd63_0_132"/>
          <p:cNvSpPr txBox="1"/>
          <p:nvPr/>
        </p:nvSpPr>
        <p:spPr>
          <a:xfrm>
            <a:off x="11229915" y="644250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667085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e8e4c6bd63_0_132"/>
          <p:cNvSpPr txBox="1"/>
          <p:nvPr/>
        </p:nvSpPr>
        <p:spPr>
          <a:xfrm>
            <a:off x="1136187" y="1293712"/>
            <a:ext cx="63363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US" sz="2200">
                <a:solidFill>
                  <a:schemeClr val="dk2"/>
                </a:solidFill>
              </a:rPr>
              <a:t>Negócios e Organizações  -</a:t>
            </a:r>
            <a:endParaRPr b="0" i="0" sz="2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e8e4c6bd63_0_132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2C4A"/>
                </a:solidFill>
              </a:rPr>
              <a:t>O Que Aprendemos?</a:t>
            </a: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g3e8e4c6bd63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e8e4c6bd63_0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e8e4c6bd63_0_132"/>
          <p:cNvSpPr/>
          <p:nvPr/>
        </p:nvSpPr>
        <p:spPr>
          <a:xfrm>
            <a:off x="650025" y="1478550"/>
            <a:ext cx="115500" cy="3785400"/>
          </a:xfrm>
          <a:prstGeom prst="rect">
            <a:avLst/>
          </a:prstGeom>
          <a:solidFill>
            <a:srgbClr val="1E60A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8e4c6bd63_0_132"/>
          <p:cNvSpPr txBox="1"/>
          <p:nvPr/>
        </p:nvSpPr>
        <p:spPr>
          <a:xfrm>
            <a:off x="1064574" y="1953397"/>
            <a:ext cx="8052900" cy="30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Missão, Visão e Valores.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Organograma.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800">
                <a:solidFill>
                  <a:srgbClr val="1F2937"/>
                </a:solidFill>
              </a:rPr>
              <a:t>Concorrentes Diretos.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Principais Clientes.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Pontos Fortes e Fracos.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BCG.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SWOT e Estratégias.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Balanced </a:t>
            </a:r>
            <a:r>
              <a:rPr lang="en-US" sz="1800">
                <a:solidFill>
                  <a:srgbClr val="1F2937"/>
                </a:solidFill>
              </a:rPr>
              <a:t>ScoreCard (BSC).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5W2H</a:t>
            </a:r>
            <a:endParaRPr sz="1800">
              <a:solidFill>
                <a:srgbClr val="1F2937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F2937"/>
                </a:solidFill>
              </a:rPr>
              <a:t>• PDCA</a:t>
            </a:r>
            <a:endParaRPr sz="1800">
              <a:solidFill>
                <a:srgbClr val="1F2937"/>
              </a:solidFill>
            </a:endParaRPr>
          </a:p>
        </p:txBody>
      </p:sp>
      <p:sp>
        <p:nvSpPr>
          <p:cNvPr id="172" name="Google Shape;172;g3e8e4c6bd63_0_132"/>
          <p:cNvSpPr/>
          <p:nvPr/>
        </p:nvSpPr>
        <p:spPr>
          <a:xfrm>
            <a:off x="5012415" y="1273750"/>
            <a:ext cx="3565200" cy="4155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2200">
                <a:solidFill>
                  <a:schemeClr val="lt1"/>
                </a:solidFill>
              </a:rPr>
              <a:t>Planejamento Estratégico.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8e4c6bd63_0_154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rgbClr val="00968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e8e4c6bd63_0_154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Critérios competitivos</a:t>
            </a:r>
            <a:endParaRPr/>
          </a:p>
        </p:txBody>
      </p:sp>
      <p:sp>
        <p:nvSpPr>
          <p:cNvPr id="179" name="Google Shape;179;g3e8e4c6bd63_0_154"/>
          <p:cNvSpPr txBox="1"/>
          <p:nvPr/>
        </p:nvSpPr>
        <p:spPr>
          <a:xfrm>
            <a:off x="594342" y="931361"/>
            <a:ext cx="95097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Classificação comparativa dos principais atributos de mercado</a:t>
            </a:r>
            <a:endParaRPr/>
          </a:p>
        </p:txBody>
      </p:sp>
      <p:sp>
        <p:nvSpPr>
          <p:cNvPr id="180" name="Google Shape;180;g3e8e4c6bd63_0_154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>
                <a:solidFill>
                  <a:srgbClr val="667085"/>
                </a:solidFill>
              </a:rPr>
              <a:t>4</a:t>
            </a:r>
            <a:endParaRPr sz="850">
              <a:solidFill>
                <a:srgbClr val="667085"/>
              </a:solidFill>
            </a:endParaRPr>
          </a:p>
        </p:txBody>
      </p:sp>
      <p:sp>
        <p:nvSpPr>
          <p:cNvPr id="181" name="Google Shape;181;g3e8e4c6bd63_0_154"/>
          <p:cNvSpPr/>
          <p:nvPr/>
        </p:nvSpPr>
        <p:spPr>
          <a:xfrm>
            <a:off x="0" y="0"/>
            <a:ext cx="12192000" cy="141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g3e8e4c6bd63_0_154" title="imagem_melhorada_para_apresentaca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6313" y="1304931"/>
            <a:ext cx="9839375" cy="5419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3e8e4c6bd63_0_1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e8e4c6bd63_0_1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8e4c6bd63_0_422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e8e4c6bd63_0_422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g3e8e4c6bd63_0_4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3e8e4c6bd63_0_4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e8e4c6bd63_0_422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g3e8e4c6bd63_0_422"/>
          <p:cNvGraphicFramePr/>
          <p:nvPr/>
        </p:nvGraphicFramePr>
        <p:xfrm>
          <a:off x="916600" y="380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{38A72F0C-D88C-46C8-96D0-7D1F176F7028}</a:tableStyleId>
              </a:tblPr>
              <a:tblGrid>
                <a:gridCol w="2768100"/>
                <a:gridCol w="4135775"/>
                <a:gridCol w="3451925"/>
              </a:tblGrid>
              <a:tr h="57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8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Reprodução Assistida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b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F2937"/>
                          </a:solidFill>
                        </a:rPr>
                        <a:t>Roberto Antunes, presidente da Sociedade Brasileira de Reprodução Assistida (SBRA), explica que o setor no país é quase totalmente voltado ao mercado particular, que conta com cerca de 200 clínicas especializadas.</a:t>
                      </a:r>
                      <a:endParaRPr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F2937"/>
                          </a:solidFill>
                        </a:rPr>
                        <a:t>Reforçar a jornada do paciente em Reprodução Assistida, com acolhimento, transparência de resultados, comunicação digital e integração com outras especialidades.</a:t>
                      </a:r>
                      <a:endParaRPr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95" name="Google Shape;195;g3e8e4c6bd63_0_422"/>
          <p:cNvGrpSpPr/>
          <p:nvPr/>
        </p:nvGrpSpPr>
        <p:grpSpPr>
          <a:xfrm>
            <a:off x="4634783" y="3914475"/>
            <a:ext cx="2138027" cy="358634"/>
            <a:chOff x="5435759" y="2256220"/>
            <a:chExt cx="1600200" cy="307761"/>
          </a:xfrm>
        </p:grpSpPr>
        <p:sp>
          <p:nvSpPr>
            <p:cNvPr id="196" name="Google Shape;196;g3e8e4c6bd63_0_422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e8e4c6bd63_0_422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Ameaças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g3e8e4c6bd63_0_422"/>
          <p:cNvGrpSpPr/>
          <p:nvPr/>
        </p:nvGrpSpPr>
        <p:grpSpPr>
          <a:xfrm>
            <a:off x="8402160" y="3914463"/>
            <a:ext cx="2138027" cy="358634"/>
            <a:chOff x="5435759" y="2256220"/>
            <a:chExt cx="1600200" cy="307761"/>
          </a:xfrm>
        </p:grpSpPr>
        <p:sp>
          <p:nvSpPr>
            <p:cNvPr id="199" name="Google Shape;199;g3e8e4c6bd63_0_422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g3e8e4c6bd63_0_422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Enfrentamento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1" name="Google Shape;201;g3e8e4c6bd63_0_422"/>
          <p:cNvGrpSpPr/>
          <p:nvPr/>
        </p:nvGrpSpPr>
        <p:grpSpPr>
          <a:xfrm>
            <a:off x="1276256" y="3914486"/>
            <a:ext cx="2138027" cy="358634"/>
            <a:chOff x="5435759" y="2256220"/>
            <a:chExt cx="1600200" cy="307761"/>
          </a:xfrm>
        </p:grpSpPr>
        <p:sp>
          <p:nvSpPr>
            <p:cNvPr id="202" name="Google Shape;202;g3e8e4c6bd63_0_422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e8e4c6bd63_0_422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Força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204" name="Google Shape;204;g3e8e4c6bd63_0_422"/>
          <p:cNvGraphicFramePr/>
          <p:nvPr/>
        </p:nvGraphicFramePr>
        <p:xfrm>
          <a:off x="918088" y="1134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{0F6119E3-4C64-42CC-9857-2A4062712D16}</a:tableStyleId>
              </a:tblPr>
              <a:tblGrid>
                <a:gridCol w="2749700"/>
                <a:gridCol w="4152675"/>
                <a:gridCol w="3453425"/>
              </a:tblGrid>
              <a:tr h="538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88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Reprodução Assistida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2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99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>
                          <a:solidFill>
                            <a:srgbClr val="1F2937"/>
                          </a:solidFill>
                        </a:rPr>
                        <a:t>Dados publicados pela Veja Saúde, em janeiro de 2026, indicam que a infertilidade afeta cerca de 15% dos casais brasileiros em idade reprodutiva, ampliando a procura por tratamentos especializados.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1F2937"/>
                          </a:solidFill>
                        </a:rPr>
                        <a:t>Investir em tecnologias, infraestrutura e profissionais especializados, estruturando uma linha integrada de medicina reprodutiva de alta complexidade, com ginecologia, urologia, genética, endocrinologia, psicologia, nutrição, medicina fetal e suporte emocional.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05" name="Google Shape;205;g3e8e4c6bd63_0_422"/>
          <p:cNvGrpSpPr/>
          <p:nvPr/>
        </p:nvGrpSpPr>
        <p:grpSpPr>
          <a:xfrm>
            <a:off x="4739484" y="1224075"/>
            <a:ext cx="2138027" cy="358634"/>
            <a:chOff x="5435759" y="2256220"/>
            <a:chExt cx="1600200" cy="307761"/>
          </a:xfrm>
        </p:grpSpPr>
        <p:sp>
          <p:nvSpPr>
            <p:cNvPr id="206" name="Google Shape;206;g3e8e4c6bd63_0_422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g3e8e4c6bd63_0_422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</a:rPr>
                <a:t>Oportunidade</a:t>
              </a:r>
              <a:endParaRPr b="1" sz="1800">
                <a:solidFill>
                  <a:srgbClr val="FFFFFF"/>
                </a:solidFill>
              </a:endParaRPr>
            </a:p>
          </p:txBody>
        </p:sp>
      </p:grpSp>
      <p:grpSp>
        <p:nvGrpSpPr>
          <p:cNvPr id="208" name="Google Shape;208;g3e8e4c6bd63_0_422"/>
          <p:cNvGrpSpPr/>
          <p:nvPr/>
        </p:nvGrpSpPr>
        <p:grpSpPr>
          <a:xfrm>
            <a:off x="1266288" y="1234561"/>
            <a:ext cx="2138027" cy="340850"/>
            <a:chOff x="5435759" y="2256220"/>
            <a:chExt cx="1600200" cy="292500"/>
          </a:xfrm>
        </p:grpSpPr>
        <p:sp>
          <p:nvSpPr>
            <p:cNvPr id="209" name="Google Shape;209;g3e8e4c6bd63_0_422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g3e8e4c6bd63_0_422"/>
            <p:cNvSpPr txBox="1"/>
            <p:nvPr/>
          </p:nvSpPr>
          <p:spPr>
            <a:xfrm>
              <a:off x="5508962" y="2275198"/>
              <a:ext cx="14538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</a:rPr>
                <a:t>Força</a:t>
              </a:r>
              <a:endParaRPr b="1" sz="1800">
                <a:solidFill>
                  <a:srgbClr val="FFFFFF"/>
                </a:solidFill>
              </a:endParaRPr>
            </a:p>
          </p:txBody>
        </p:sp>
      </p:grpSp>
      <p:grpSp>
        <p:nvGrpSpPr>
          <p:cNvPr id="211" name="Google Shape;211;g3e8e4c6bd63_0_422"/>
          <p:cNvGrpSpPr/>
          <p:nvPr/>
        </p:nvGrpSpPr>
        <p:grpSpPr>
          <a:xfrm>
            <a:off x="8402147" y="1225051"/>
            <a:ext cx="2138027" cy="358634"/>
            <a:chOff x="5435759" y="2256220"/>
            <a:chExt cx="1600200" cy="307761"/>
          </a:xfrm>
        </p:grpSpPr>
        <p:sp>
          <p:nvSpPr>
            <p:cNvPr id="212" name="Google Shape;212;g3e8e4c6bd63_0_422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rgbClr val="1E60A0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g3e8e4c6bd63_0_422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</a:rPr>
                <a:t>Crescimento</a:t>
              </a:r>
              <a:endParaRPr b="1" sz="18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8" name="Google Shape;218;g3a8ad20cbe9_0_135"/>
          <p:cNvGraphicFramePr/>
          <p:nvPr/>
        </p:nvGraphicFramePr>
        <p:xfrm>
          <a:off x="863350" y="39004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{38A72F0C-D88C-46C8-96D0-7D1F176F7028}</a:tableStyleId>
              </a:tblPr>
              <a:tblGrid>
                <a:gridCol w="2749700"/>
                <a:gridCol w="4108300"/>
                <a:gridCol w="3429000"/>
              </a:tblGrid>
              <a:tr h="42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3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Inovação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2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F2937"/>
                          </a:solidFill>
                        </a:rPr>
                        <a:t>Em 2026 o Hospital Israelita Albert Einstein, iniciou a implantação de uma ferramenta de IA capaz de transcrever consultas em tempo real nas unidades de pronto atendimento, processando e estruturando os dados da interação entre médico e paciente (SAÚDE DIGITAL NEWS, 2026)</a:t>
                      </a:r>
                      <a:endParaRPr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F2937"/>
                          </a:solidFill>
                        </a:rPr>
                        <a:t>Fortalecer a agenda de inovação aplicada, conectando investimentos em infraestrutura, novas unidades, automação, IA e jornada digital do paciente. A estratégia deve priorizar soluções que simplifiquem a experiência, como agendamento digital, chat remoto com IA, automação de autorizações.</a:t>
                      </a:r>
                      <a:endParaRPr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9" name="Google Shape;219;g3a8ad20cbe9_0_135"/>
          <p:cNvGrpSpPr/>
          <p:nvPr/>
        </p:nvGrpSpPr>
        <p:grpSpPr>
          <a:xfrm>
            <a:off x="4776493" y="3938665"/>
            <a:ext cx="2138027" cy="358634"/>
            <a:chOff x="5435759" y="2256220"/>
            <a:chExt cx="1600200" cy="307761"/>
          </a:xfrm>
        </p:grpSpPr>
        <p:sp>
          <p:nvSpPr>
            <p:cNvPr id="220" name="Google Shape;220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g3a8ad20cbe9_0_135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Ameaças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" name="Google Shape;222;g3a8ad20cbe9_0_135"/>
          <p:cNvGrpSpPr/>
          <p:nvPr/>
        </p:nvGrpSpPr>
        <p:grpSpPr>
          <a:xfrm>
            <a:off x="8347410" y="3939646"/>
            <a:ext cx="2138027" cy="358634"/>
            <a:chOff x="5435759" y="2256220"/>
            <a:chExt cx="1600200" cy="307761"/>
          </a:xfrm>
        </p:grpSpPr>
        <p:sp>
          <p:nvSpPr>
            <p:cNvPr id="223" name="Google Shape;223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1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g3a8ad20cbe9_0_135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Defesa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g3a8ad20cbe9_0_135"/>
          <p:cNvGrpSpPr/>
          <p:nvPr/>
        </p:nvGrpSpPr>
        <p:grpSpPr>
          <a:xfrm>
            <a:off x="1245956" y="3926215"/>
            <a:ext cx="2138027" cy="358634"/>
            <a:chOff x="5435759" y="2256220"/>
            <a:chExt cx="1600200" cy="307761"/>
          </a:xfrm>
        </p:grpSpPr>
        <p:sp>
          <p:nvSpPr>
            <p:cNvPr id="226" name="Google Shape;226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1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g3a8ad20cbe9_0_135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Fraqueza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g3a8ad20cbe9_0_135"/>
          <p:cNvSpPr txBox="1"/>
          <p:nvPr/>
        </p:nvSpPr>
        <p:spPr>
          <a:xfrm>
            <a:off x="594360" y="347472"/>
            <a:ext cx="87783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42C4A"/>
                </a:solidFill>
                <a:latin typeface="Arial"/>
                <a:ea typeface="Arial"/>
                <a:cs typeface="Arial"/>
                <a:sym typeface="Arial"/>
              </a:rPr>
              <a:t>Estratégias derivadas da SWOT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a8ad20cbe9_0_135"/>
          <p:cNvSpPr txBox="1"/>
          <p:nvPr/>
        </p:nvSpPr>
        <p:spPr>
          <a:xfrm>
            <a:off x="11292840" y="6473952"/>
            <a:ext cx="274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g3a8ad20cbe9_0_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g3a8ad20cbe9_0_1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a8ad20cbe9_0_135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g3a8ad20cbe9_0_135"/>
          <p:cNvGraphicFramePr/>
          <p:nvPr/>
        </p:nvGraphicFramePr>
        <p:xfrm>
          <a:off x="882183" y="12168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{38A72F0C-D88C-46C8-96D0-7D1F176F7028}</a:tableStyleId>
              </a:tblPr>
              <a:tblGrid>
                <a:gridCol w="2749700"/>
                <a:gridCol w="4108300"/>
                <a:gridCol w="3429000"/>
              </a:tblGrid>
              <a:tr h="406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48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Inovação</a:t>
                      </a:r>
                      <a:endParaRPr sz="1800" u="none" cap="none" strike="noStrike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F2937"/>
                          </a:solidFill>
                        </a:rPr>
                        <a:t>A Resolução CFM nº 2.454/2026 estabelece diretrizes para o uso de inteligência artificial na medicina, incluindo requisitos de governança, segurança, transparência, supervisão médica e proteção de dados sensíveis (CONSELHO FEDERAL DE MEDICINA, 2026).</a:t>
                      </a:r>
                      <a:endParaRPr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u="none" cap="none" strike="noStrike">
                          <a:solidFill>
                            <a:srgbClr val="1F2937"/>
                          </a:solidFill>
                        </a:rPr>
                        <a:t>Estabelecer diretrizes institucionais de governança digital para integração da inteligência artificial e da telemedicina, assegurando critérios éticos, segurança da informação, proteção de dados e rastreabilidade nas etapas da assistência presencial e remota.</a:t>
                      </a:r>
                      <a:endParaRPr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34" name="Google Shape;234;g3a8ad20cbe9_0_135"/>
          <p:cNvGrpSpPr/>
          <p:nvPr/>
        </p:nvGrpSpPr>
        <p:grpSpPr>
          <a:xfrm>
            <a:off x="4680643" y="1243626"/>
            <a:ext cx="2138027" cy="358634"/>
            <a:chOff x="5435759" y="2256220"/>
            <a:chExt cx="1600200" cy="307761"/>
          </a:xfrm>
        </p:grpSpPr>
        <p:sp>
          <p:nvSpPr>
            <p:cNvPr id="235" name="Google Shape;235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a8ad20cbe9_0_135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Oportunidade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g3a8ad20cbe9_0_135"/>
          <p:cNvGrpSpPr/>
          <p:nvPr/>
        </p:nvGrpSpPr>
        <p:grpSpPr>
          <a:xfrm>
            <a:off x="1241852" y="1242643"/>
            <a:ext cx="2138027" cy="358634"/>
            <a:chOff x="5435759" y="2256220"/>
            <a:chExt cx="1600200" cy="307761"/>
          </a:xfrm>
        </p:grpSpPr>
        <p:sp>
          <p:nvSpPr>
            <p:cNvPr id="238" name="Google Shape;238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g3a8ad20cbe9_0_135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Fraqueza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" name="Google Shape;240;g3a8ad20cbe9_0_135"/>
          <p:cNvGrpSpPr/>
          <p:nvPr/>
        </p:nvGrpSpPr>
        <p:grpSpPr>
          <a:xfrm>
            <a:off x="8297443" y="1240836"/>
            <a:ext cx="2138027" cy="358634"/>
            <a:chOff x="5435759" y="2256220"/>
            <a:chExt cx="1600200" cy="307761"/>
          </a:xfrm>
        </p:grpSpPr>
        <p:sp>
          <p:nvSpPr>
            <p:cNvPr id="241" name="Google Shape;241;g3a8ad20cbe9_0_135"/>
            <p:cNvSpPr/>
            <p:nvPr/>
          </p:nvSpPr>
          <p:spPr>
            <a:xfrm>
              <a:off x="5435759" y="2256220"/>
              <a:ext cx="1600200" cy="292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  <a:effectLst>
              <a:outerShdw blurRad="39663" rotWithShape="0" dir="5400000" dist="22806">
                <a:srgbClr val="000000">
                  <a:alpha val="34900"/>
                </a:srgbClr>
              </a:outerShdw>
            </a:effectLst>
          </p:spPr>
          <p:txBody>
            <a:bodyPr anchorCtr="0" anchor="ctr" bIns="45325" lIns="90650" spcFirstLastPara="1" rIns="90650" wrap="square" tIns="453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5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3a8ad20cbe9_0_135"/>
            <p:cNvSpPr txBox="1"/>
            <p:nvPr/>
          </p:nvSpPr>
          <p:spPr>
            <a:xfrm>
              <a:off x="5508962" y="2294881"/>
              <a:ext cx="1453800" cy="26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18125" lIns="18125" spcFirstLastPara="1" rIns="18125" wrap="square" tIns="181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8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Melhoria</a:t>
              </a:r>
              <a:endParaRPr b="1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8e4c6bd63_1_0"/>
          <p:cNvSpPr/>
          <p:nvPr/>
        </p:nvSpPr>
        <p:spPr>
          <a:xfrm>
            <a:off x="0" y="0"/>
            <a:ext cx="12189000" cy="1098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g3e8e4c6bd63_1_0"/>
          <p:cNvSpPr txBox="1"/>
          <p:nvPr/>
        </p:nvSpPr>
        <p:spPr>
          <a:xfrm>
            <a:off x="1922688" y="2418900"/>
            <a:ext cx="8346600" cy="20202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rgbClr val="F0FD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Agradecemos </a:t>
            </a:r>
            <a:endParaRPr sz="4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a</a:t>
            </a:r>
            <a:endParaRPr sz="4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>
                <a:solidFill>
                  <a:schemeClr val="lt1"/>
                </a:solidFill>
              </a:rPr>
              <a:t>atenção!</a:t>
            </a:r>
            <a:endParaRPr sz="4100">
              <a:solidFill>
                <a:schemeClr val="lt1"/>
              </a:solidFill>
            </a:endParaRPr>
          </a:p>
        </p:txBody>
      </p:sp>
      <p:pic>
        <p:nvPicPr>
          <p:cNvPr id="249" name="Google Shape;249;g3e8e4c6bd63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8139" y="179198"/>
            <a:ext cx="882200" cy="496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g3e8e4c6bd63_1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2493" y="220849"/>
            <a:ext cx="641389" cy="41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